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58" r:id="rId2"/>
    <p:sldId id="256" r:id="rId3"/>
    <p:sldId id="259" r:id="rId4"/>
    <p:sldId id="260" r:id="rId5"/>
    <p:sldId id="264" r:id="rId6"/>
    <p:sldId id="261" r:id="rId7"/>
    <p:sldId id="262" r:id="rId8"/>
    <p:sldId id="263"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65" autoAdjust="0"/>
    <p:restoredTop sz="95033" autoAdjust="0"/>
  </p:normalViewPr>
  <p:slideViewPr>
    <p:cSldViewPr snapToGrid="0">
      <p:cViewPr varScale="1">
        <p:scale>
          <a:sx n="82" d="100"/>
          <a:sy n="82" d="100"/>
        </p:scale>
        <p:origin x="69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422D38-099D-4CB3-96FB-8395CF8B76A9}" type="datetimeFigureOut">
              <a:rPr lang="en-GB" smtClean="0"/>
              <a:t>14/05/2026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AD07CF-CCD2-4BBE-9D05-93A1889B57FC}" type="slidenum">
              <a:rPr lang="en-GB" smtClean="0"/>
              <a:t>‹#›</a:t>
            </a:fld>
            <a:endParaRPr lang="en-GB"/>
          </a:p>
        </p:txBody>
      </p:sp>
    </p:spTree>
    <p:extLst>
      <p:ext uri="{BB962C8B-B14F-4D97-AF65-F5344CB8AC3E}">
        <p14:creationId xmlns:p14="http://schemas.microsoft.com/office/powerpoint/2010/main" val="235732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0" kern="1200" dirty="0">
                <a:solidFill>
                  <a:schemeClr val="tx1"/>
                </a:solidFill>
                <a:effectLst/>
                <a:latin typeface="+mn-lt"/>
                <a:ea typeface="+mn-ea"/>
                <a:cs typeface="+mn-cs"/>
              </a:rPr>
              <a:t>Phishing is a type of cyberattack where attackers trick people into revealing sensitive information or installing malware by pretending to be a trusted source.</a:t>
            </a:r>
            <a:endParaRPr lang="en-GB" dirty="0"/>
          </a:p>
        </p:txBody>
      </p:sp>
      <p:sp>
        <p:nvSpPr>
          <p:cNvPr id="4" name="Slide Number Placeholder 3"/>
          <p:cNvSpPr>
            <a:spLocks noGrp="1"/>
          </p:cNvSpPr>
          <p:nvPr>
            <p:ph type="sldNum" sz="quarter" idx="5"/>
          </p:nvPr>
        </p:nvSpPr>
        <p:spPr/>
        <p:txBody>
          <a:bodyPr/>
          <a:lstStyle/>
          <a:p>
            <a:fld id="{10AD07CF-CCD2-4BBE-9D05-93A1889B57FC}" type="slidenum">
              <a:rPr lang="en-GB" smtClean="0"/>
              <a:t>1</a:t>
            </a:fld>
            <a:endParaRPr lang="en-GB"/>
          </a:p>
        </p:txBody>
      </p:sp>
    </p:spTree>
    <p:extLst>
      <p:ext uri="{BB962C8B-B14F-4D97-AF65-F5344CB8AC3E}">
        <p14:creationId xmlns:p14="http://schemas.microsoft.com/office/powerpoint/2010/main" val="1749433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SPF (Sender Policy Framework): </a:t>
            </a:r>
            <a:r>
              <a:rPr lang="en-GB" dirty="0"/>
              <a:t>“Is this sender IP allowed to send emails for this domain?”</a:t>
            </a:r>
          </a:p>
          <a:p>
            <a:r>
              <a:rPr lang="en-GB" b="1" dirty="0"/>
              <a:t>DKIM (DomainKeys Identified Mail): </a:t>
            </a:r>
            <a:r>
              <a:rPr lang="en-GB" dirty="0"/>
              <a:t>“Was the email content modified?”</a:t>
            </a:r>
          </a:p>
        </p:txBody>
      </p:sp>
      <p:sp>
        <p:nvSpPr>
          <p:cNvPr id="4" name="Slide Number Placeholder 3"/>
          <p:cNvSpPr>
            <a:spLocks noGrp="1"/>
          </p:cNvSpPr>
          <p:nvPr>
            <p:ph type="sldNum" sz="quarter" idx="5"/>
          </p:nvPr>
        </p:nvSpPr>
        <p:spPr/>
        <p:txBody>
          <a:bodyPr/>
          <a:lstStyle/>
          <a:p>
            <a:fld id="{10AD07CF-CCD2-4BBE-9D05-93A1889B57FC}" type="slidenum">
              <a:rPr lang="en-GB" smtClean="0"/>
              <a:t>8</a:t>
            </a:fld>
            <a:endParaRPr lang="en-GB"/>
          </a:p>
        </p:txBody>
      </p:sp>
    </p:spTree>
    <p:extLst>
      <p:ext uri="{BB962C8B-B14F-4D97-AF65-F5344CB8AC3E}">
        <p14:creationId xmlns:p14="http://schemas.microsoft.com/office/powerpoint/2010/main" val="37842686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B04D14A0-AE39-4FDC-BCBA-1D6173085475}" type="datetimeFigureOut">
              <a:rPr lang="en-GB" smtClean="0"/>
              <a:t>14/05/2026</a:t>
            </a:fld>
            <a:endParaRPr lang="en-GB"/>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GB"/>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B3B73876-B736-48A4-8BC2-4B3688AD695D}" type="slidenum">
              <a:rPr lang="en-GB" smtClean="0"/>
              <a:t>‹#›</a:t>
            </a:fld>
            <a:endParaRPr lang="en-GB"/>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0389931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4D14A0-AE39-4FDC-BCBA-1D6173085475}" type="datetimeFigureOut">
              <a:rPr lang="en-GB" smtClean="0"/>
              <a:t>14/05/2026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3B73876-B736-48A4-8BC2-4B3688AD695D}" type="slidenum">
              <a:rPr lang="en-GB" smtClean="0"/>
              <a:t>‹#›</a:t>
            </a:fld>
            <a:endParaRPr lang="en-GB"/>
          </a:p>
        </p:txBody>
      </p:sp>
    </p:spTree>
    <p:extLst>
      <p:ext uri="{BB962C8B-B14F-4D97-AF65-F5344CB8AC3E}">
        <p14:creationId xmlns:p14="http://schemas.microsoft.com/office/powerpoint/2010/main" val="3964757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4D14A0-AE39-4FDC-BCBA-1D6173085475}" type="datetimeFigureOut">
              <a:rPr lang="en-GB" smtClean="0"/>
              <a:t>14/05/2026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3B73876-B736-48A4-8BC2-4B3688AD695D}" type="slidenum">
              <a:rPr lang="en-GB" smtClean="0"/>
              <a:t>‹#›</a:t>
            </a:fld>
            <a:endParaRPr lang="en-GB"/>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78295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4D14A0-AE39-4FDC-BCBA-1D6173085475}" type="datetimeFigureOut">
              <a:rPr lang="en-GB" smtClean="0"/>
              <a:t>14/05/2026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3B73876-B736-48A4-8BC2-4B3688AD695D}" type="slidenum">
              <a:rPr lang="en-GB" smtClean="0"/>
              <a:t>‹#›</a:t>
            </a:fld>
            <a:endParaRPr lang="en-GB"/>
          </a:p>
        </p:txBody>
      </p:sp>
    </p:spTree>
    <p:extLst>
      <p:ext uri="{BB962C8B-B14F-4D97-AF65-F5344CB8AC3E}">
        <p14:creationId xmlns:p14="http://schemas.microsoft.com/office/powerpoint/2010/main" val="1415779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04D14A0-AE39-4FDC-BCBA-1D6173085475}" type="datetimeFigureOut">
              <a:rPr lang="en-GB" smtClean="0"/>
              <a:t>14/05/2026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B3B73876-B736-48A4-8BC2-4B3688AD695D}" type="slidenum">
              <a:rPr lang="en-GB" smtClean="0"/>
              <a:t>‹#›</a:t>
            </a:fld>
            <a:endParaRPr lang="en-GB"/>
          </a:p>
        </p:txBody>
      </p:sp>
    </p:spTree>
    <p:extLst>
      <p:ext uri="{BB962C8B-B14F-4D97-AF65-F5344CB8AC3E}">
        <p14:creationId xmlns:p14="http://schemas.microsoft.com/office/powerpoint/2010/main" val="3709902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04D14A0-AE39-4FDC-BCBA-1D6173085475}" type="datetimeFigureOut">
              <a:rPr lang="en-GB" smtClean="0"/>
              <a:t>14/05/2026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B3B73876-B736-48A4-8BC2-4B3688AD695D}" type="slidenum">
              <a:rPr lang="en-GB" smtClean="0"/>
              <a:t>‹#›</a:t>
            </a:fld>
            <a:endParaRPr lang="en-GB"/>
          </a:p>
        </p:txBody>
      </p:sp>
    </p:spTree>
    <p:extLst>
      <p:ext uri="{BB962C8B-B14F-4D97-AF65-F5344CB8AC3E}">
        <p14:creationId xmlns:p14="http://schemas.microsoft.com/office/powerpoint/2010/main" val="1616804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4D14A0-AE39-4FDC-BCBA-1D6173085475}" type="datetimeFigureOut">
              <a:rPr lang="en-GB" smtClean="0"/>
              <a:t>14/05/2026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B3B73876-B736-48A4-8BC2-4B3688AD695D}" type="slidenum">
              <a:rPr lang="en-GB" smtClean="0"/>
              <a:t>‹#›</a:t>
            </a:fld>
            <a:endParaRPr lang="en-GB"/>
          </a:p>
        </p:txBody>
      </p:sp>
    </p:spTree>
    <p:extLst>
      <p:ext uri="{BB962C8B-B14F-4D97-AF65-F5344CB8AC3E}">
        <p14:creationId xmlns:p14="http://schemas.microsoft.com/office/powerpoint/2010/main" val="2061772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4D14A0-AE39-4FDC-BCBA-1D6173085475}" type="datetimeFigureOut">
              <a:rPr lang="en-GB" smtClean="0"/>
              <a:t>14/05/2026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3B73876-B736-48A4-8BC2-4B3688AD695D}" type="slidenum">
              <a:rPr lang="en-GB" smtClean="0"/>
              <a:t>‹#›</a:t>
            </a:fld>
            <a:endParaRPr lang="en-GB"/>
          </a:p>
        </p:txBody>
      </p:sp>
    </p:spTree>
    <p:extLst>
      <p:ext uri="{BB962C8B-B14F-4D97-AF65-F5344CB8AC3E}">
        <p14:creationId xmlns:p14="http://schemas.microsoft.com/office/powerpoint/2010/main" val="2142259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4D14A0-AE39-4FDC-BCBA-1D6173085475}" type="datetimeFigureOut">
              <a:rPr lang="en-GB" smtClean="0"/>
              <a:t>14/05/2026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3B73876-B736-48A4-8BC2-4B3688AD695D}" type="slidenum">
              <a:rPr lang="en-GB" smtClean="0"/>
              <a:t>‹#›</a:t>
            </a:fld>
            <a:endParaRPr lang="en-GB"/>
          </a:p>
        </p:txBody>
      </p:sp>
    </p:spTree>
    <p:extLst>
      <p:ext uri="{BB962C8B-B14F-4D97-AF65-F5344CB8AC3E}">
        <p14:creationId xmlns:p14="http://schemas.microsoft.com/office/powerpoint/2010/main" val="36278434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4D14A0-AE39-4FDC-BCBA-1D6173085475}" type="datetimeFigureOut">
              <a:rPr lang="en-GB" smtClean="0"/>
              <a:t>14/05/2026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3B73876-B736-48A4-8BC2-4B3688AD695D}" type="slidenum">
              <a:rPr lang="en-GB" smtClean="0"/>
              <a:t>‹#›</a:t>
            </a:fld>
            <a:endParaRPr lang="en-GB"/>
          </a:p>
        </p:txBody>
      </p:sp>
    </p:spTree>
    <p:extLst>
      <p:ext uri="{BB962C8B-B14F-4D97-AF65-F5344CB8AC3E}">
        <p14:creationId xmlns:p14="http://schemas.microsoft.com/office/powerpoint/2010/main" val="204279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4D14A0-AE39-4FDC-BCBA-1D6173085475}" type="datetimeFigureOut">
              <a:rPr lang="en-GB" smtClean="0"/>
              <a:t>14/05/2026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3B73876-B736-48A4-8BC2-4B3688AD695D}" type="slidenum">
              <a:rPr lang="en-GB" smtClean="0"/>
              <a:t>‹#›</a:t>
            </a:fld>
            <a:endParaRPr lang="en-GB"/>
          </a:p>
        </p:txBody>
      </p:sp>
    </p:spTree>
    <p:extLst>
      <p:ext uri="{BB962C8B-B14F-4D97-AF65-F5344CB8AC3E}">
        <p14:creationId xmlns:p14="http://schemas.microsoft.com/office/powerpoint/2010/main" val="919692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B04D14A0-AE39-4FDC-BCBA-1D6173085475}" type="datetimeFigureOut">
              <a:rPr lang="en-GB" smtClean="0"/>
              <a:t>14/05/2026</a:t>
            </a:fld>
            <a:endParaRPr lang="en-GB"/>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GB"/>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B3B73876-B736-48A4-8BC2-4B3688AD695D}" type="slidenum">
              <a:rPr lang="en-GB" smtClean="0"/>
              <a:t>‹#›</a:t>
            </a:fld>
            <a:endParaRPr lang="en-GB"/>
          </a:p>
        </p:txBody>
      </p:sp>
    </p:spTree>
    <p:extLst>
      <p:ext uri="{BB962C8B-B14F-4D97-AF65-F5344CB8AC3E}">
        <p14:creationId xmlns:p14="http://schemas.microsoft.com/office/powerpoint/2010/main" val="26882320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36881-D929-2ABD-E048-58DD14EDC5AD}"/>
              </a:ext>
            </a:extLst>
          </p:cNvPr>
          <p:cNvSpPr>
            <a:spLocks noGrp="1"/>
          </p:cNvSpPr>
          <p:nvPr>
            <p:ph type="ctrTitle"/>
          </p:nvPr>
        </p:nvSpPr>
        <p:spPr>
          <a:xfrm>
            <a:off x="1261872" y="758952"/>
            <a:ext cx="9418320" cy="3380429"/>
          </a:xfrm>
        </p:spPr>
        <p:txBody>
          <a:bodyPr>
            <a:normAutofit/>
          </a:bodyPr>
          <a:lstStyle/>
          <a:p>
            <a:pPr algn="r"/>
            <a:r>
              <a:rPr lang="en-IN" sz="5400" b="1" dirty="0" err="1"/>
              <a:t>PhishGuard</a:t>
            </a:r>
            <a:br>
              <a:rPr lang="en-IN" sz="5400" dirty="0"/>
            </a:br>
            <a:br>
              <a:rPr lang="en-IN" sz="5400" dirty="0"/>
            </a:br>
            <a:r>
              <a:rPr lang="en-IN" sz="4400" dirty="0"/>
              <a:t>Rule Based Email Security</a:t>
            </a:r>
            <a:br>
              <a:rPr lang="en-IN" sz="5400" dirty="0"/>
            </a:br>
            <a:r>
              <a:rPr lang="en-US" sz="2800" dirty="0">
                <a:solidFill>
                  <a:srgbClr val="D0E4F5"/>
                </a:solidFill>
                <a:latin typeface="Calibri" pitchFamily="34" charset="0"/>
                <a:ea typeface="Calibri" pitchFamily="34" charset="-122"/>
                <a:cs typeface="Calibri" pitchFamily="34" charset="-120"/>
              </a:rPr>
              <a:t>Phishing Detection &amp; Data Loss Prevention</a:t>
            </a:r>
            <a:br>
              <a:rPr lang="en-US" sz="2800" dirty="0">
                <a:solidFill>
                  <a:srgbClr val="D0E4F5"/>
                </a:solidFill>
                <a:latin typeface="Calibri" pitchFamily="34" charset="0"/>
                <a:ea typeface="Calibri" pitchFamily="34" charset="-122"/>
                <a:cs typeface="Calibri" pitchFamily="34" charset="-120"/>
              </a:rPr>
            </a:br>
            <a:r>
              <a:rPr lang="en-GB" sz="1800" dirty="0"/>
              <a:t>“Detect. Defend. Prevent.”</a:t>
            </a:r>
            <a:endParaRPr lang="en-GB" sz="5400" dirty="0"/>
          </a:p>
        </p:txBody>
      </p:sp>
      <p:sp>
        <p:nvSpPr>
          <p:cNvPr id="3" name="Subtitle 2">
            <a:extLst>
              <a:ext uri="{FF2B5EF4-FFF2-40B4-BE49-F238E27FC236}">
                <a16:creationId xmlns:a16="http://schemas.microsoft.com/office/drawing/2014/main" id="{B09294AC-A1B6-DA53-8998-A669F9FA1E3D}"/>
              </a:ext>
            </a:extLst>
          </p:cNvPr>
          <p:cNvSpPr>
            <a:spLocks noGrp="1"/>
          </p:cNvSpPr>
          <p:nvPr>
            <p:ph type="subTitle" idx="1"/>
          </p:nvPr>
        </p:nvSpPr>
        <p:spPr>
          <a:xfrm>
            <a:off x="1261872" y="4444181"/>
            <a:ext cx="9418320" cy="2048059"/>
          </a:xfrm>
        </p:spPr>
        <p:txBody>
          <a:bodyPr>
            <a:normAutofit/>
          </a:bodyPr>
          <a:lstStyle/>
          <a:p>
            <a:pPr algn="r"/>
            <a:r>
              <a:rPr lang="en-IN" sz="1800" dirty="0">
                <a:solidFill>
                  <a:schemeClr val="tx1"/>
                </a:solidFill>
              </a:rPr>
              <a:t>- Presented By</a:t>
            </a:r>
          </a:p>
          <a:p>
            <a:pPr algn="r"/>
            <a:r>
              <a:rPr lang="en-IN" sz="1800" dirty="0">
                <a:solidFill>
                  <a:schemeClr val="tx1"/>
                </a:solidFill>
              </a:rPr>
              <a:t>Amin Preet Avanish</a:t>
            </a:r>
            <a:endParaRPr lang="en-GB" sz="1800" dirty="0">
              <a:solidFill>
                <a:schemeClr val="tx1"/>
              </a:solidFill>
            </a:endParaRPr>
          </a:p>
          <a:p>
            <a:pPr algn="r"/>
            <a:endParaRPr lang="en-GB" sz="1800" dirty="0">
              <a:solidFill>
                <a:schemeClr val="tx1"/>
              </a:solidFill>
            </a:endParaRPr>
          </a:p>
          <a:p>
            <a:pPr algn="r"/>
            <a:endParaRPr lang="en-GB" sz="1800" dirty="0">
              <a:solidFill>
                <a:schemeClr val="tx1"/>
              </a:solidFill>
            </a:endParaRPr>
          </a:p>
        </p:txBody>
      </p:sp>
      <p:pic>
        <p:nvPicPr>
          <p:cNvPr id="4" name="Image 0" descr="preencoded.png">
            <a:extLst>
              <a:ext uri="{FF2B5EF4-FFF2-40B4-BE49-F238E27FC236}">
                <a16:creationId xmlns:a16="http://schemas.microsoft.com/office/drawing/2014/main" id="{A42BC2FA-82AA-551C-D66F-1DB154881419}"/>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511807" y="846163"/>
            <a:ext cx="2725895" cy="2725895"/>
          </a:xfrm>
          <a:prstGeom prst="rect">
            <a:avLst/>
          </a:prstGeom>
        </p:spPr>
      </p:pic>
    </p:spTree>
    <p:extLst>
      <p:ext uri="{BB962C8B-B14F-4D97-AF65-F5344CB8AC3E}">
        <p14:creationId xmlns:p14="http://schemas.microsoft.com/office/powerpoint/2010/main" val="27947328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9FCEF951-8BAE-EB85-94D7-E7B2E728A332}"/>
              </a:ext>
            </a:extLst>
          </p:cNvPr>
          <p:cNvSpPr txBox="1"/>
          <p:nvPr/>
        </p:nvSpPr>
        <p:spPr>
          <a:xfrm>
            <a:off x="349044" y="287283"/>
            <a:ext cx="6451805" cy="584775"/>
          </a:xfrm>
          <a:prstGeom prst="rect">
            <a:avLst/>
          </a:prstGeom>
          <a:noFill/>
        </p:spPr>
        <p:txBody>
          <a:bodyPr wrap="square">
            <a:spAutoFit/>
          </a:bodyPr>
          <a:lstStyle/>
          <a:p>
            <a:pPr marL="0" indent="0" algn="l">
              <a:buNone/>
            </a:pPr>
            <a:r>
              <a:rPr lang="en-US" sz="3200" b="1" dirty="0">
                <a:latin typeface="Times New Roman" panose="02020603050405020304" pitchFamily="18" charset="0"/>
                <a:ea typeface="Calibri" pitchFamily="34" charset="-122"/>
                <a:cs typeface="Times New Roman" panose="02020603050405020304" pitchFamily="18" charset="0"/>
              </a:rPr>
              <a:t>THE EMAIL ATTACK SURFACE</a:t>
            </a:r>
            <a:endParaRPr lang="en-US" sz="3200" dirty="0">
              <a:latin typeface="Times New Roman" panose="02020603050405020304" pitchFamily="18" charset="0"/>
              <a:cs typeface="Times New Roman" panose="02020603050405020304" pitchFamily="18" charset="0"/>
            </a:endParaRPr>
          </a:p>
        </p:txBody>
      </p:sp>
      <p:sp>
        <p:nvSpPr>
          <p:cNvPr id="26" name="Shape 6">
            <a:extLst>
              <a:ext uri="{FF2B5EF4-FFF2-40B4-BE49-F238E27FC236}">
                <a16:creationId xmlns:a16="http://schemas.microsoft.com/office/drawing/2014/main" id="{2C28FD6E-4AD4-0A8D-7757-BFE9A762050C}"/>
              </a:ext>
            </a:extLst>
          </p:cNvPr>
          <p:cNvSpPr/>
          <p:nvPr/>
        </p:nvSpPr>
        <p:spPr>
          <a:xfrm>
            <a:off x="365760" y="1261871"/>
            <a:ext cx="2692072" cy="1012699"/>
          </a:xfrm>
          <a:prstGeom prst="rect">
            <a:avLst/>
          </a:prstGeom>
          <a:solidFill>
            <a:schemeClr val="bg1"/>
          </a:solidFill>
          <a:ln w="12700">
            <a:solidFill>
              <a:srgbClr val="E63946"/>
            </a:solidFill>
            <a:prstDash val="solid"/>
          </a:ln>
          <a:effectLst/>
        </p:spPr>
      </p:sp>
      <p:sp>
        <p:nvSpPr>
          <p:cNvPr id="27" name="Shape 7">
            <a:extLst>
              <a:ext uri="{FF2B5EF4-FFF2-40B4-BE49-F238E27FC236}">
                <a16:creationId xmlns:a16="http://schemas.microsoft.com/office/drawing/2014/main" id="{316FA104-435F-CB85-21FF-9ABC5743C9C0}"/>
              </a:ext>
            </a:extLst>
          </p:cNvPr>
          <p:cNvSpPr/>
          <p:nvPr/>
        </p:nvSpPr>
        <p:spPr>
          <a:xfrm>
            <a:off x="365760" y="1261872"/>
            <a:ext cx="2692072" cy="54864"/>
          </a:xfrm>
          <a:prstGeom prst="rect">
            <a:avLst/>
          </a:prstGeom>
          <a:solidFill>
            <a:srgbClr val="E63946"/>
          </a:solidFill>
          <a:ln w="12700">
            <a:solidFill>
              <a:srgbClr val="E63946"/>
            </a:solidFill>
            <a:prstDash val="solid"/>
          </a:ln>
        </p:spPr>
      </p:sp>
      <p:sp>
        <p:nvSpPr>
          <p:cNvPr id="28" name="Text 8">
            <a:extLst>
              <a:ext uri="{FF2B5EF4-FFF2-40B4-BE49-F238E27FC236}">
                <a16:creationId xmlns:a16="http://schemas.microsoft.com/office/drawing/2014/main" id="{AECC6FE5-1CB5-AB77-614B-9D69FCA4F25A}"/>
              </a:ext>
            </a:extLst>
          </p:cNvPr>
          <p:cNvSpPr/>
          <p:nvPr/>
        </p:nvSpPr>
        <p:spPr>
          <a:xfrm>
            <a:off x="365760" y="1353312"/>
            <a:ext cx="2692072" cy="505968"/>
          </a:xfrm>
          <a:prstGeom prst="rect">
            <a:avLst/>
          </a:prstGeom>
          <a:noFill/>
          <a:ln/>
        </p:spPr>
        <p:txBody>
          <a:bodyPr wrap="square" lIns="0" tIns="0" rIns="0" bIns="0" rtlCol="0" anchor="ctr"/>
          <a:lstStyle/>
          <a:p>
            <a:pPr marL="0" indent="0" algn="ctr">
              <a:buNone/>
            </a:pPr>
            <a:r>
              <a:rPr lang="en-US" sz="3400" b="1" dirty="0">
                <a:solidFill>
                  <a:srgbClr val="E63946"/>
                </a:solidFill>
                <a:latin typeface="Times New Roman" panose="02020603050405020304" pitchFamily="18" charset="0"/>
                <a:ea typeface="Calibri" pitchFamily="34" charset="-122"/>
                <a:cs typeface="Times New Roman" panose="02020603050405020304" pitchFamily="18" charset="0"/>
              </a:rPr>
              <a:t>3.4B</a:t>
            </a:r>
            <a:endParaRPr lang="en-US" sz="3400" dirty="0">
              <a:latin typeface="Times New Roman" panose="02020603050405020304" pitchFamily="18" charset="0"/>
              <a:cs typeface="Times New Roman" panose="02020603050405020304" pitchFamily="18" charset="0"/>
            </a:endParaRPr>
          </a:p>
        </p:txBody>
      </p:sp>
      <p:sp>
        <p:nvSpPr>
          <p:cNvPr id="29" name="Text 9">
            <a:extLst>
              <a:ext uri="{FF2B5EF4-FFF2-40B4-BE49-F238E27FC236}">
                <a16:creationId xmlns:a16="http://schemas.microsoft.com/office/drawing/2014/main" id="{40432FE2-9DAD-EAB2-D0D4-C2AAE5167EB4}"/>
              </a:ext>
            </a:extLst>
          </p:cNvPr>
          <p:cNvSpPr/>
          <p:nvPr/>
        </p:nvSpPr>
        <p:spPr>
          <a:xfrm>
            <a:off x="365760" y="1901952"/>
            <a:ext cx="2692072" cy="284988"/>
          </a:xfrm>
          <a:prstGeom prst="rect">
            <a:avLst/>
          </a:prstGeom>
          <a:noFill/>
          <a:ln/>
        </p:spPr>
        <p:txBody>
          <a:bodyPr wrap="square" lIns="0" tIns="0" rIns="0" bIns="0" rtlCol="0" anchor="ctr"/>
          <a:lstStyle/>
          <a:p>
            <a:pPr marL="0" indent="0" algn="ctr">
              <a:buNone/>
            </a:pPr>
            <a:r>
              <a:rPr lang="en-US" sz="1200" dirty="0">
                <a:latin typeface="Times New Roman" panose="02020603050405020304" pitchFamily="18" charset="0"/>
                <a:ea typeface="Calibri" pitchFamily="34" charset="-122"/>
                <a:cs typeface="Times New Roman" panose="02020603050405020304" pitchFamily="18" charset="0"/>
              </a:rPr>
              <a:t>Phishing emails/day</a:t>
            </a:r>
            <a:endParaRPr lang="en-US" sz="1200" dirty="0">
              <a:latin typeface="Times New Roman" panose="02020603050405020304" pitchFamily="18" charset="0"/>
              <a:cs typeface="Times New Roman" panose="02020603050405020304" pitchFamily="18" charset="0"/>
            </a:endParaRPr>
          </a:p>
        </p:txBody>
      </p:sp>
      <p:sp>
        <p:nvSpPr>
          <p:cNvPr id="30" name="Shape 6">
            <a:extLst>
              <a:ext uri="{FF2B5EF4-FFF2-40B4-BE49-F238E27FC236}">
                <a16:creationId xmlns:a16="http://schemas.microsoft.com/office/drawing/2014/main" id="{AB85B4DB-589F-B24B-35DB-074A5D92A05C}"/>
              </a:ext>
            </a:extLst>
          </p:cNvPr>
          <p:cNvSpPr/>
          <p:nvPr/>
        </p:nvSpPr>
        <p:spPr>
          <a:xfrm>
            <a:off x="3328035" y="1261871"/>
            <a:ext cx="2692072" cy="1012699"/>
          </a:xfrm>
          <a:prstGeom prst="rect">
            <a:avLst/>
          </a:prstGeom>
          <a:solidFill>
            <a:schemeClr val="bg1"/>
          </a:solidFill>
          <a:ln w="12700">
            <a:solidFill>
              <a:srgbClr val="FFC000"/>
            </a:solidFill>
            <a:prstDash val="solid"/>
          </a:ln>
          <a:effectLst/>
        </p:spPr>
      </p:sp>
      <p:sp>
        <p:nvSpPr>
          <p:cNvPr id="31" name="Shape 7">
            <a:extLst>
              <a:ext uri="{FF2B5EF4-FFF2-40B4-BE49-F238E27FC236}">
                <a16:creationId xmlns:a16="http://schemas.microsoft.com/office/drawing/2014/main" id="{2A75C1FC-E895-663B-EB46-AB525D8000B3}"/>
              </a:ext>
            </a:extLst>
          </p:cNvPr>
          <p:cNvSpPr/>
          <p:nvPr/>
        </p:nvSpPr>
        <p:spPr>
          <a:xfrm>
            <a:off x="3328035" y="1261872"/>
            <a:ext cx="2692072" cy="54864"/>
          </a:xfrm>
          <a:prstGeom prst="rect">
            <a:avLst/>
          </a:prstGeom>
          <a:solidFill>
            <a:srgbClr val="FFC000"/>
          </a:solidFill>
          <a:ln w="12700">
            <a:solidFill>
              <a:srgbClr val="FFC000"/>
            </a:solidFill>
            <a:prstDash val="solid"/>
          </a:ln>
        </p:spPr>
      </p:sp>
      <p:sp>
        <p:nvSpPr>
          <p:cNvPr id="32" name="Text 8">
            <a:extLst>
              <a:ext uri="{FF2B5EF4-FFF2-40B4-BE49-F238E27FC236}">
                <a16:creationId xmlns:a16="http://schemas.microsoft.com/office/drawing/2014/main" id="{2829AFAB-955F-E178-24D5-935462CC47AF}"/>
              </a:ext>
            </a:extLst>
          </p:cNvPr>
          <p:cNvSpPr/>
          <p:nvPr/>
        </p:nvSpPr>
        <p:spPr>
          <a:xfrm>
            <a:off x="3328035" y="1353312"/>
            <a:ext cx="2692072" cy="505968"/>
          </a:xfrm>
          <a:prstGeom prst="rect">
            <a:avLst/>
          </a:prstGeom>
          <a:noFill/>
          <a:ln/>
        </p:spPr>
        <p:txBody>
          <a:bodyPr wrap="square" lIns="0" tIns="0" rIns="0" bIns="0" rtlCol="0" anchor="ctr"/>
          <a:lstStyle/>
          <a:p>
            <a:pPr algn="ctr"/>
            <a:r>
              <a:rPr lang="en-US" sz="3400" b="1" dirty="0">
                <a:solidFill>
                  <a:srgbClr val="F4A261"/>
                </a:solidFill>
                <a:latin typeface="Times New Roman" panose="02020603050405020304" pitchFamily="18" charset="0"/>
                <a:ea typeface="Calibri" pitchFamily="34" charset="-122"/>
                <a:cs typeface="Times New Roman" panose="02020603050405020304" pitchFamily="18" charset="0"/>
              </a:rPr>
              <a:t>91%</a:t>
            </a:r>
            <a:endParaRPr lang="en-US" sz="3400" dirty="0">
              <a:latin typeface="Times New Roman" panose="02020603050405020304" pitchFamily="18" charset="0"/>
              <a:cs typeface="Times New Roman" panose="02020603050405020304" pitchFamily="18" charset="0"/>
            </a:endParaRPr>
          </a:p>
        </p:txBody>
      </p:sp>
      <p:sp>
        <p:nvSpPr>
          <p:cNvPr id="33" name="Text 9">
            <a:extLst>
              <a:ext uri="{FF2B5EF4-FFF2-40B4-BE49-F238E27FC236}">
                <a16:creationId xmlns:a16="http://schemas.microsoft.com/office/drawing/2014/main" id="{DA7CD766-03F9-35A7-A64E-2017F62118F3}"/>
              </a:ext>
            </a:extLst>
          </p:cNvPr>
          <p:cNvSpPr/>
          <p:nvPr/>
        </p:nvSpPr>
        <p:spPr>
          <a:xfrm>
            <a:off x="3328035" y="1901952"/>
            <a:ext cx="2692072" cy="284988"/>
          </a:xfrm>
          <a:prstGeom prst="rect">
            <a:avLst/>
          </a:prstGeom>
          <a:noFill/>
          <a:ln/>
        </p:spPr>
        <p:txBody>
          <a:bodyPr wrap="square" lIns="0" tIns="0" rIns="0" bIns="0" rtlCol="0" anchor="ctr"/>
          <a:lstStyle/>
          <a:p>
            <a:pPr marL="0" indent="0" algn="ctr">
              <a:buNone/>
            </a:pPr>
            <a:r>
              <a:rPr lang="en-US" sz="1200" dirty="0">
                <a:latin typeface="Times New Roman" panose="02020603050405020304" pitchFamily="18" charset="0"/>
                <a:ea typeface="Calibri" pitchFamily="34" charset="-122"/>
                <a:cs typeface="Times New Roman" panose="02020603050405020304" pitchFamily="18" charset="0"/>
              </a:rPr>
              <a:t>Attack Start Via Email</a:t>
            </a:r>
            <a:endParaRPr lang="en-US" sz="1200" dirty="0">
              <a:latin typeface="Times New Roman" panose="02020603050405020304" pitchFamily="18" charset="0"/>
              <a:cs typeface="Times New Roman" panose="02020603050405020304" pitchFamily="18" charset="0"/>
            </a:endParaRPr>
          </a:p>
        </p:txBody>
      </p:sp>
      <p:sp>
        <p:nvSpPr>
          <p:cNvPr id="34" name="Shape 6">
            <a:extLst>
              <a:ext uri="{FF2B5EF4-FFF2-40B4-BE49-F238E27FC236}">
                <a16:creationId xmlns:a16="http://schemas.microsoft.com/office/drawing/2014/main" id="{30B6CC0B-07F5-1D09-4CB2-6372641D35ED}"/>
              </a:ext>
            </a:extLst>
          </p:cNvPr>
          <p:cNvSpPr/>
          <p:nvPr/>
        </p:nvSpPr>
        <p:spPr>
          <a:xfrm>
            <a:off x="6290310" y="1261871"/>
            <a:ext cx="2692072" cy="1012699"/>
          </a:xfrm>
          <a:prstGeom prst="rect">
            <a:avLst/>
          </a:prstGeom>
          <a:solidFill>
            <a:schemeClr val="bg1"/>
          </a:solidFill>
          <a:ln w="12700">
            <a:solidFill>
              <a:srgbClr val="00B0F0"/>
            </a:solidFill>
            <a:prstDash val="solid"/>
          </a:ln>
          <a:effectLst/>
        </p:spPr>
      </p:sp>
      <p:sp>
        <p:nvSpPr>
          <p:cNvPr id="35" name="Shape 7">
            <a:extLst>
              <a:ext uri="{FF2B5EF4-FFF2-40B4-BE49-F238E27FC236}">
                <a16:creationId xmlns:a16="http://schemas.microsoft.com/office/drawing/2014/main" id="{DDA71290-39C8-D115-13F1-A1AD779080FF}"/>
              </a:ext>
            </a:extLst>
          </p:cNvPr>
          <p:cNvSpPr/>
          <p:nvPr/>
        </p:nvSpPr>
        <p:spPr>
          <a:xfrm>
            <a:off x="6290310" y="1261872"/>
            <a:ext cx="2692072" cy="54864"/>
          </a:xfrm>
          <a:prstGeom prst="rect">
            <a:avLst/>
          </a:prstGeom>
          <a:solidFill>
            <a:srgbClr val="00B0F0"/>
          </a:solidFill>
          <a:ln w="12700">
            <a:solidFill>
              <a:srgbClr val="E63946"/>
            </a:solidFill>
            <a:prstDash val="solid"/>
          </a:ln>
        </p:spPr>
      </p:sp>
      <p:sp>
        <p:nvSpPr>
          <p:cNvPr id="36" name="Text 8">
            <a:extLst>
              <a:ext uri="{FF2B5EF4-FFF2-40B4-BE49-F238E27FC236}">
                <a16:creationId xmlns:a16="http://schemas.microsoft.com/office/drawing/2014/main" id="{19DDB668-B206-7353-716E-76E0E6883CC6}"/>
              </a:ext>
            </a:extLst>
          </p:cNvPr>
          <p:cNvSpPr/>
          <p:nvPr/>
        </p:nvSpPr>
        <p:spPr>
          <a:xfrm>
            <a:off x="6290310" y="1353312"/>
            <a:ext cx="2692072" cy="505968"/>
          </a:xfrm>
          <a:prstGeom prst="rect">
            <a:avLst/>
          </a:prstGeom>
          <a:noFill/>
          <a:ln/>
        </p:spPr>
        <p:txBody>
          <a:bodyPr wrap="square" lIns="0" tIns="0" rIns="0" bIns="0" rtlCol="0" anchor="ctr"/>
          <a:lstStyle/>
          <a:p>
            <a:pPr algn="ctr"/>
            <a:r>
              <a:rPr lang="en-US" sz="3400" b="1" dirty="0">
                <a:solidFill>
                  <a:srgbClr val="00B4D8"/>
                </a:solidFill>
                <a:latin typeface="Times New Roman" panose="02020603050405020304" pitchFamily="18" charset="0"/>
                <a:ea typeface="Calibri" pitchFamily="34" charset="-122"/>
                <a:cs typeface="Times New Roman" panose="02020603050405020304" pitchFamily="18" charset="0"/>
              </a:rPr>
              <a:t>₹8.2L</a:t>
            </a:r>
            <a:endParaRPr lang="en-US" sz="3400" dirty="0">
              <a:latin typeface="Times New Roman" panose="02020603050405020304" pitchFamily="18" charset="0"/>
              <a:cs typeface="Times New Roman" panose="02020603050405020304" pitchFamily="18" charset="0"/>
            </a:endParaRPr>
          </a:p>
        </p:txBody>
      </p:sp>
      <p:sp>
        <p:nvSpPr>
          <p:cNvPr id="37" name="Text 9">
            <a:extLst>
              <a:ext uri="{FF2B5EF4-FFF2-40B4-BE49-F238E27FC236}">
                <a16:creationId xmlns:a16="http://schemas.microsoft.com/office/drawing/2014/main" id="{D2FE9D0E-0209-D5DA-0AB9-3C6B160FED53}"/>
              </a:ext>
            </a:extLst>
          </p:cNvPr>
          <p:cNvSpPr/>
          <p:nvPr/>
        </p:nvSpPr>
        <p:spPr>
          <a:xfrm>
            <a:off x="6290310" y="1901952"/>
            <a:ext cx="2692072" cy="284988"/>
          </a:xfrm>
          <a:prstGeom prst="rect">
            <a:avLst/>
          </a:prstGeom>
          <a:noFill/>
          <a:ln/>
        </p:spPr>
        <p:txBody>
          <a:bodyPr wrap="square" lIns="0" tIns="0" rIns="0" bIns="0" rtlCol="0" anchor="ctr"/>
          <a:lstStyle/>
          <a:p>
            <a:pPr marL="0" indent="0" algn="ctr">
              <a:buNone/>
            </a:pPr>
            <a:r>
              <a:rPr lang="en-US" sz="1200" dirty="0">
                <a:latin typeface="Times New Roman" panose="02020603050405020304" pitchFamily="18" charset="0"/>
                <a:ea typeface="Calibri" pitchFamily="34" charset="-122"/>
                <a:cs typeface="Times New Roman" panose="02020603050405020304" pitchFamily="18" charset="0"/>
              </a:rPr>
              <a:t>Avg Breach Cost in India</a:t>
            </a:r>
            <a:endParaRPr lang="en-US" sz="1200" dirty="0">
              <a:latin typeface="Times New Roman" panose="02020603050405020304" pitchFamily="18" charset="0"/>
              <a:cs typeface="Times New Roman" panose="02020603050405020304" pitchFamily="18" charset="0"/>
            </a:endParaRPr>
          </a:p>
        </p:txBody>
      </p:sp>
      <p:sp>
        <p:nvSpPr>
          <p:cNvPr id="38" name="Shape 6">
            <a:extLst>
              <a:ext uri="{FF2B5EF4-FFF2-40B4-BE49-F238E27FC236}">
                <a16:creationId xmlns:a16="http://schemas.microsoft.com/office/drawing/2014/main" id="{616195FF-DD82-E9F2-9FA3-201BCC12EFEA}"/>
              </a:ext>
            </a:extLst>
          </p:cNvPr>
          <p:cNvSpPr/>
          <p:nvPr/>
        </p:nvSpPr>
        <p:spPr>
          <a:xfrm>
            <a:off x="9252585" y="1261871"/>
            <a:ext cx="2692072" cy="1012699"/>
          </a:xfrm>
          <a:prstGeom prst="rect">
            <a:avLst/>
          </a:prstGeom>
          <a:solidFill>
            <a:schemeClr val="bg1"/>
          </a:solidFill>
          <a:ln w="12700">
            <a:solidFill>
              <a:srgbClr val="7030A0"/>
            </a:solidFill>
            <a:prstDash val="solid"/>
          </a:ln>
          <a:effectLst/>
        </p:spPr>
      </p:sp>
      <p:sp>
        <p:nvSpPr>
          <p:cNvPr id="39" name="Shape 7">
            <a:extLst>
              <a:ext uri="{FF2B5EF4-FFF2-40B4-BE49-F238E27FC236}">
                <a16:creationId xmlns:a16="http://schemas.microsoft.com/office/drawing/2014/main" id="{B6F842AC-F347-E0F6-689E-AD5F9F36BE51}"/>
              </a:ext>
            </a:extLst>
          </p:cNvPr>
          <p:cNvSpPr/>
          <p:nvPr/>
        </p:nvSpPr>
        <p:spPr>
          <a:xfrm>
            <a:off x="9252585" y="1261872"/>
            <a:ext cx="2692072" cy="54864"/>
          </a:xfrm>
          <a:prstGeom prst="rect">
            <a:avLst/>
          </a:prstGeom>
          <a:solidFill>
            <a:srgbClr val="7030A0"/>
          </a:solidFill>
          <a:ln w="12700">
            <a:solidFill>
              <a:srgbClr val="E63946"/>
            </a:solidFill>
            <a:prstDash val="solid"/>
          </a:ln>
        </p:spPr>
      </p:sp>
      <p:sp>
        <p:nvSpPr>
          <p:cNvPr id="40" name="Text 8">
            <a:extLst>
              <a:ext uri="{FF2B5EF4-FFF2-40B4-BE49-F238E27FC236}">
                <a16:creationId xmlns:a16="http://schemas.microsoft.com/office/drawing/2014/main" id="{53F5EFD9-BAD3-653F-DB63-75AC13667654}"/>
              </a:ext>
            </a:extLst>
          </p:cNvPr>
          <p:cNvSpPr/>
          <p:nvPr/>
        </p:nvSpPr>
        <p:spPr>
          <a:xfrm>
            <a:off x="9252585" y="1353312"/>
            <a:ext cx="2692072" cy="505968"/>
          </a:xfrm>
          <a:prstGeom prst="rect">
            <a:avLst/>
          </a:prstGeom>
          <a:noFill/>
          <a:ln/>
        </p:spPr>
        <p:txBody>
          <a:bodyPr wrap="square" lIns="0" tIns="0" rIns="0" bIns="0" rtlCol="0" anchor="ctr"/>
          <a:lstStyle/>
          <a:p>
            <a:pPr algn="ctr"/>
            <a:r>
              <a:rPr lang="en-US" sz="3400" b="1" dirty="0">
                <a:solidFill>
                  <a:srgbClr val="7B2FBE"/>
                </a:solidFill>
                <a:latin typeface="Times New Roman" panose="02020603050405020304" pitchFamily="18" charset="0"/>
                <a:ea typeface="Calibri" pitchFamily="34" charset="-122"/>
                <a:cs typeface="Times New Roman" panose="02020603050405020304" pitchFamily="18" charset="0"/>
              </a:rPr>
              <a:t>17 min</a:t>
            </a:r>
            <a:endParaRPr lang="en-US" sz="3400" dirty="0">
              <a:latin typeface="Times New Roman" panose="02020603050405020304" pitchFamily="18" charset="0"/>
              <a:cs typeface="Times New Roman" panose="02020603050405020304" pitchFamily="18" charset="0"/>
            </a:endParaRPr>
          </a:p>
        </p:txBody>
      </p:sp>
      <p:sp>
        <p:nvSpPr>
          <p:cNvPr id="41" name="Text 9">
            <a:extLst>
              <a:ext uri="{FF2B5EF4-FFF2-40B4-BE49-F238E27FC236}">
                <a16:creationId xmlns:a16="http://schemas.microsoft.com/office/drawing/2014/main" id="{1B25637D-2DA9-D473-1D52-925ECB8FE2E0}"/>
              </a:ext>
            </a:extLst>
          </p:cNvPr>
          <p:cNvSpPr/>
          <p:nvPr/>
        </p:nvSpPr>
        <p:spPr>
          <a:xfrm>
            <a:off x="9252585" y="1901952"/>
            <a:ext cx="2692072" cy="284988"/>
          </a:xfrm>
          <a:prstGeom prst="rect">
            <a:avLst/>
          </a:prstGeom>
          <a:noFill/>
          <a:ln/>
        </p:spPr>
        <p:txBody>
          <a:bodyPr wrap="square" lIns="0" tIns="0" rIns="0" bIns="0" rtlCol="0" anchor="ctr"/>
          <a:lstStyle/>
          <a:p>
            <a:pPr marL="0" indent="0" algn="ctr">
              <a:buNone/>
            </a:pPr>
            <a:r>
              <a:rPr lang="en-US" sz="1200" dirty="0">
                <a:latin typeface="Times New Roman" panose="02020603050405020304" pitchFamily="18" charset="0"/>
                <a:ea typeface="Calibri" pitchFamily="34" charset="-122"/>
                <a:cs typeface="Times New Roman" panose="02020603050405020304" pitchFamily="18" charset="0"/>
              </a:rPr>
              <a:t>Median time to first click</a:t>
            </a:r>
            <a:endParaRPr lang="en-US" sz="1200" dirty="0">
              <a:latin typeface="Times New Roman" panose="02020603050405020304" pitchFamily="18" charset="0"/>
              <a:cs typeface="Times New Roman" panose="02020603050405020304" pitchFamily="18" charset="0"/>
            </a:endParaRPr>
          </a:p>
        </p:txBody>
      </p:sp>
      <p:grpSp>
        <p:nvGrpSpPr>
          <p:cNvPr id="61" name="Group 60">
            <a:extLst>
              <a:ext uri="{FF2B5EF4-FFF2-40B4-BE49-F238E27FC236}">
                <a16:creationId xmlns:a16="http://schemas.microsoft.com/office/drawing/2014/main" id="{D0CD866D-6FB3-B627-E7E4-DF7676D2E7F2}"/>
              </a:ext>
            </a:extLst>
          </p:cNvPr>
          <p:cNvGrpSpPr/>
          <p:nvPr/>
        </p:nvGrpSpPr>
        <p:grpSpPr>
          <a:xfrm>
            <a:off x="5719224" y="3354504"/>
            <a:ext cx="5326166" cy="3356720"/>
            <a:chOff x="5689344" y="3853842"/>
            <a:chExt cx="5326166" cy="2765718"/>
          </a:xfrm>
        </p:grpSpPr>
        <p:sp>
          <p:nvSpPr>
            <p:cNvPr id="45" name="Shape 46">
              <a:extLst>
                <a:ext uri="{FF2B5EF4-FFF2-40B4-BE49-F238E27FC236}">
                  <a16:creationId xmlns:a16="http://schemas.microsoft.com/office/drawing/2014/main" id="{70C3D3C2-72EB-CADB-27BE-38443248D389}"/>
                </a:ext>
              </a:extLst>
            </p:cNvPr>
            <p:cNvSpPr/>
            <p:nvPr/>
          </p:nvSpPr>
          <p:spPr>
            <a:xfrm>
              <a:off x="5689344" y="3853842"/>
              <a:ext cx="5326166" cy="385914"/>
            </a:xfrm>
            <a:prstGeom prst="rect">
              <a:avLst/>
            </a:prstGeom>
            <a:solidFill>
              <a:srgbClr val="C62828"/>
            </a:solidFill>
            <a:ln w="12700">
              <a:solidFill>
                <a:srgbClr val="C62828"/>
              </a:solidFill>
              <a:prstDash val="solid"/>
            </a:ln>
          </p:spPr>
        </p:sp>
        <p:sp>
          <p:nvSpPr>
            <p:cNvPr id="46" name="Text 47">
              <a:extLst>
                <a:ext uri="{FF2B5EF4-FFF2-40B4-BE49-F238E27FC236}">
                  <a16:creationId xmlns:a16="http://schemas.microsoft.com/office/drawing/2014/main" id="{386FB734-594A-FC53-B250-B91437D6B16A}"/>
                </a:ext>
              </a:extLst>
            </p:cNvPr>
            <p:cNvSpPr/>
            <p:nvPr/>
          </p:nvSpPr>
          <p:spPr>
            <a:xfrm>
              <a:off x="5779183" y="3853842"/>
              <a:ext cx="5133654" cy="38591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1.  Reconnaissance</a:t>
              </a:r>
              <a:endParaRPr lang="en-US" sz="1600" dirty="0"/>
            </a:p>
          </p:txBody>
        </p:sp>
        <p:sp>
          <p:nvSpPr>
            <p:cNvPr id="47" name="Shape 48">
              <a:extLst>
                <a:ext uri="{FF2B5EF4-FFF2-40B4-BE49-F238E27FC236}">
                  <a16:creationId xmlns:a16="http://schemas.microsoft.com/office/drawing/2014/main" id="{0D2717CC-26E7-880B-F050-0A3ED0BDED45}"/>
                </a:ext>
              </a:extLst>
            </p:cNvPr>
            <p:cNvSpPr/>
            <p:nvPr/>
          </p:nvSpPr>
          <p:spPr>
            <a:xfrm>
              <a:off x="5689344" y="4329803"/>
              <a:ext cx="5326166" cy="385914"/>
            </a:xfrm>
            <a:prstGeom prst="rect">
              <a:avLst/>
            </a:prstGeom>
            <a:solidFill>
              <a:srgbClr val="D32F2F"/>
            </a:solidFill>
            <a:ln w="12700">
              <a:solidFill>
                <a:srgbClr val="D32F2F"/>
              </a:solidFill>
              <a:prstDash val="solid"/>
            </a:ln>
          </p:spPr>
        </p:sp>
        <p:sp>
          <p:nvSpPr>
            <p:cNvPr id="48" name="Text 49">
              <a:extLst>
                <a:ext uri="{FF2B5EF4-FFF2-40B4-BE49-F238E27FC236}">
                  <a16:creationId xmlns:a16="http://schemas.microsoft.com/office/drawing/2014/main" id="{12F06998-BA87-993D-30DC-29E8868B09F0}"/>
                </a:ext>
              </a:extLst>
            </p:cNvPr>
            <p:cNvSpPr/>
            <p:nvPr/>
          </p:nvSpPr>
          <p:spPr>
            <a:xfrm>
              <a:off x="5779183" y="4329803"/>
              <a:ext cx="5133654" cy="38591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2.  Weaponised Email</a:t>
              </a:r>
              <a:endParaRPr lang="en-US" sz="1600" dirty="0"/>
            </a:p>
          </p:txBody>
        </p:sp>
        <p:sp>
          <p:nvSpPr>
            <p:cNvPr id="49" name="Shape 50">
              <a:extLst>
                <a:ext uri="{FF2B5EF4-FFF2-40B4-BE49-F238E27FC236}">
                  <a16:creationId xmlns:a16="http://schemas.microsoft.com/office/drawing/2014/main" id="{C9D06785-31BC-777B-24D4-5ACDDE863FDB}"/>
                </a:ext>
              </a:extLst>
            </p:cNvPr>
            <p:cNvSpPr/>
            <p:nvPr/>
          </p:nvSpPr>
          <p:spPr>
            <a:xfrm>
              <a:off x="5689344" y="4805763"/>
              <a:ext cx="5326166" cy="385914"/>
            </a:xfrm>
            <a:prstGeom prst="rect">
              <a:avLst/>
            </a:prstGeom>
            <a:solidFill>
              <a:srgbClr val="E53935"/>
            </a:solidFill>
            <a:ln w="12700">
              <a:solidFill>
                <a:srgbClr val="E53935"/>
              </a:solidFill>
              <a:prstDash val="solid"/>
            </a:ln>
          </p:spPr>
        </p:sp>
        <p:sp>
          <p:nvSpPr>
            <p:cNvPr id="50" name="Text 51">
              <a:extLst>
                <a:ext uri="{FF2B5EF4-FFF2-40B4-BE49-F238E27FC236}">
                  <a16:creationId xmlns:a16="http://schemas.microsoft.com/office/drawing/2014/main" id="{A2DB4175-DB3E-97D9-FE74-D7391D19B628}"/>
                </a:ext>
              </a:extLst>
            </p:cNvPr>
            <p:cNvSpPr/>
            <p:nvPr/>
          </p:nvSpPr>
          <p:spPr>
            <a:xfrm>
              <a:off x="5779183" y="4805763"/>
              <a:ext cx="5133654" cy="385914"/>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3.  Delivery Trap</a:t>
              </a:r>
              <a:endParaRPr lang="en-US" sz="1600" dirty="0"/>
            </a:p>
          </p:txBody>
        </p:sp>
        <p:sp>
          <p:nvSpPr>
            <p:cNvPr id="51" name="Shape 52">
              <a:extLst>
                <a:ext uri="{FF2B5EF4-FFF2-40B4-BE49-F238E27FC236}">
                  <a16:creationId xmlns:a16="http://schemas.microsoft.com/office/drawing/2014/main" id="{376A1C23-4DC7-0CC5-E1C4-5C33EB4CFF91}"/>
                </a:ext>
              </a:extLst>
            </p:cNvPr>
            <p:cNvSpPr/>
            <p:nvPr/>
          </p:nvSpPr>
          <p:spPr>
            <a:xfrm>
              <a:off x="5689344" y="5281724"/>
              <a:ext cx="5326166" cy="385914"/>
            </a:xfrm>
            <a:prstGeom prst="rect">
              <a:avLst/>
            </a:prstGeom>
            <a:solidFill>
              <a:srgbClr val="E57373"/>
            </a:solidFill>
            <a:ln w="12700">
              <a:solidFill>
                <a:srgbClr val="E57373"/>
              </a:solidFill>
              <a:prstDash val="solid"/>
            </a:ln>
          </p:spPr>
        </p:sp>
        <p:sp>
          <p:nvSpPr>
            <p:cNvPr id="52" name="Text 53">
              <a:extLst>
                <a:ext uri="{FF2B5EF4-FFF2-40B4-BE49-F238E27FC236}">
                  <a16:creationId xmlns:a16="http://schemas.microsoft.com/office/drawing/2014/main" id="{B9C44464-B598-9C72-CF65-724B9AB1489E}"/>
                </a:ext>
              </a:extLst>
            </p:cNvPr>
            <p:cNvSpPr/>
            <p:nvPr/>
          </p:nvSpPr>
          <p:spPr>
            <a:xfrm>
              <a:off x="5779183" y="5281724"/>
              <a:ext cx="5133654" cy="385914"/>
            </a:xfrm>
            <a:prstGeom prst="rect">
              <a:avLst/>
            </a:prstGeom>
            <a:noFill/>
            <a:ln/>
          </p:spPr>
          <p:txBody>
            <a:bodyPr wrap="square" lIns="0" tIns="0" rIns="0" bIns="0" rtlCol="0" anchor="ctr"/>
            <a:lstStyle/>
            <a:p>
              <a:pPr marL="0" indent="0">
                <a:buNone/>
              </a:pPr>
              <a:r>
                <a:rPr lang="en-US" sz="1600" dirty="0">
                  <a:solidFill>
                    <a:srgbClr val="060F1E"/>
                  </a:solidFill>
                  <a:latin typeface="Calibri" pitchFamily="34" charset="0"/>
                  <a:ea typeface="Calibri" pitchFamily="34" charset="-122"/>
                  <a:cs typeface="Calibri" pitchFamily="34" charset="-120"/>
                </a:rPr>
                <a:t>4.  Victim Clicks</a:t>
              </a:r>
              <a:endParaRPr lang="en-US" sz="1600" dirty="0"/>
            </a:p>
          </p:txBody>
        </p:sp>
        <p:sp>
          <p:nvSpPr>
            <p:cNvPr id="53" name="Shape 54">
              <a:extLst>
                <a:ext uri="{FF2B5EF4-FFF2-40B4-BE49-F238E27FC236}">
                  <a16:creationId xmlns:a16="http://schemas.microsoft.com/office/drawing/2014/main" id="{7154C133-F58F-DC22-1574-8D79BC8DEC9D}"/>
                </a:ext>
              </a:extLst>
            </p:cNvPr>
            <p:cNvSpPr/>
            <p:nvPr/>
          </p:nvSpPr>
          <p:spPr>
            <a:xfrm>
              <a:off x="5689344" y="5757685"/>
              <a:ext cx="5326166" cy="385914"/>
            </a:xfrm>
            <a:prstGeom prst="rect">
              <a:avLst/>
            </a:prstGeom>
            <a:solidFill>
              <a:srgbClr val="EF9A9A"/>
            </a:solidFill>
            <a:ln w="12700">
              <a:solidFill>
                <a:srgbClr val="EF9A9A"/>
              </a:solidFill>
              <a:prstDash val="solid"/>
            </a:ln>
          </p:spPr>
        </p:sp>
        <p:sp>
          <p:nvSpPr>
            <p:cNvPr id="54" name="Text 55">
              <a:extLst>
                <a:ext uri="{FF2B5EF4-FFF2-40B4-BE49-F238E27FC236}">
                  <a16:creationId xmlns:a16="http://schemas.microsoft.com/office/drawing/2014/main" id="{AFC398EA-050C-98CC-81DB-3B7B973415FF}"/>
                </a:ext>
              </a:extLst>
            </p:cNvPr>
            <p:cNvSpPr/>
            <p:nvPr/>
          </p:nvSpPr>
          <p:spPr>
            <a:xfrm>
              <a:off x="5779183" y="5757685"/>
              <a:ext cx="5133654" cy="385914"/>
            </a:xfrm>
            <a:prstGeom prst="rect">
              <a:avLst/>
            </a:prstGeom>
            <a:noFill/>
            <a:ln/>
          </p:spPr>
          <p:txBody>
            <a:bodyPr wrap="square" lIns="0" tIns="0" rIns="0" bIns="0" rtlCol="0" anchor="ctr"/>
            <a:lstStyle/>
            <a:p>
              <a:pPr marL="0" indent="0">
                <a:buNone/>
              </a:pPr>
              <a:r>
                <a:rPr lang="en-US" sz="1600" dirty="0">
                  <a:solidFill>
                    <a:srgbClr val="060F1E"/>
                  </a:solidFill>
                  <a:latin typeface="Calibri" pitchFamily="34" charset="0"/>
                  <a:ea typeface="Calibri" pitchFamily="34" charset="-122"/>
                  <a:cs typeface="Calibri" pitchFamily="34" charset="-120"/>
                </a:rPr>
                <a:t>5.  Credential/Data Theft</a:t>
              </a:r>
              <a:endParaRPr lang="en-US" sz="1600" dirty="0"/>
            </a:p>
          </p:txBody>
        </p:sp>
        <p:sp>
          <p:nvSpPr>
            <p:cNvPr id="55" name="Shape 56">
              <a:extLst>
                <a:ext uri="{FF2B5EF4-FFF2-40B4-BE49-F238E27FC236}">
                  <a16:creationId xmlns:a16="http://schemas.microsoft.com/office/drawing/2014/main" id="{7709B8D6-FAB8-6DD8-67CA-9273E58EFB68}"/>
                </a:ext>
              </a:extLst>
            </p:cNvPr>
            <p:cNvSpPr/>
            <p:nvPr/>
          </p:nvSpPr>
          <p:spPr>
            <a:xfrm>
              <a:off x="5689344" y="6233646"/>
              <a:ext cx="5326166" cy="385914"/>
            </a:xfrm>
            <a:prstGeom prst="rect">
              <a:avLst/>
            </a:prstGeom>
            <a:solidFill>
              <a:srgbClr val="FFCDD2"/>
            </a:solidFill>
            <a:ln w="12700">
              <a:solidFill>
                <a:srgbClr val="FFCDD2"/>
              </a:solidFill>
              <a:prstDash val="solid"/>
            </a:ln>
          </p:spPr>
        </p:sp>
        <p:sp>
          <p:nvSpPr>
            <p:cNvPr id="56" name="Text 57">
              <a:extLst>
                <a:ext uri="{FF2B5EF4-FFF2-40B4-BE49-F238E27FC236}">
                  <a16:creationId xmlns:a16="http://schemas.microsoft.com/office/drawing/2014/main" id="{4CEB7E3B-2CCF-F05F-7C86-679731FDCE13}"/>
                </a:ext>
              </a:extLst>
            </p:cNvPr>
            <p:cNvSpPr/>
            <p:nvPr/>
          </p:nvSpPr>
          <p:spPr>
            <a:xfrm>
              <a:off x="5779183" y="6233646"/>
              <a:ext cx="5133654" cy="385914"/>
            </a:xfrm>
            <a:prstGeom prst="rect">
              <a:avLst/>
            </a:prstGeom>
            <a:noFill/>
            <a:ln/>
          </p:spPr>
          <p:txBody>
            <a:bodyPr wrap="square" lIns="0" tIns="0" rIns="0" bIns="0" rtlCol="0" anchor="ctr"/>
            <a:lstStyle/>
            <a:p>
              <a:pPr marL="0" indent="0">
                <a:buNone/>
              </a:pPr>
              <a:r>
                <a:rPr lang="en-US" sz="1600" dirty="0">
                  <a:solidFill>
                    <a:srgbClr val="060F1E"/>
                  </a:solidFill>
                  <a:latin typeface="Calibri" pitchFamily="34" charset="0"/>
                  <a:ea typeface="Calibri" pitchFamily="34" charset="-122"/>
                  <a:cs typeface="Calibri" pitchFamily="34" charset="-120"/>
                </a:rPr>
                <a:t>6.  Lateral Movement</a:t>
              </a:r>
              <a:endParaRPr lang="en-US" sz="1600" dirty="0"/>
            </a:p>
          </p:txBody>
        </p:sp>
      </p:grpSp>
      <p:sp>
        <p:nvSpPr>
          <p:cNvPr id="58" name="TextBox 57">
            <a:extLst>
              <a:ext uri="{FF2B5EF4-FFF2-40B4-BE49-F238E27FC236}">
                <a16:creationId xmlns:a16="http://schemas.microsoft.com/office/drawing/2014/main" id="{E4FA89E0-55A3-FB6A-F8F4-30CBC8CCD083}"/>
              </a:ext>
            </a:extLst>
          </p:cNvPr>
          <p:cNvSpPr txBox="1"/>
          <p:nvPr/>
        </p:nvSpPr>
        <p:spPr>
          <a:xfrm>
            <a:off x="5623560" y="2762542"/>
            <a:ext cx="3629025" cy="400110"/>
          </a:xfrm>
          <a:prstGeom prst="rect">
            <a:avLst/>
          </a:prstGeom>
          <a:noFill/>
        </p:spPr>
        <p:txBody>
          <a:bodyPr wrap="square" rtlCol="0">
            <a:spAutoFit/>
          </a:bodyPr>
          <a:lstStyle/>
          <a:p>
            <a:r>
              <a:rPr lang="en-US" sz="2000" b="1" kern="0" spc="300" dirty="0">
                <a:solidFill>
                  <a:srgbClr val="0070C0"/>
                </a:solidFill>
                <a:latin typeface="Times New Roman" panose="02020603050405020304" pitchFamily="18" charset="0"/>
                <a:ea typeface="Calibri" pitchFamily="34" charset="-122"/>
                <a:cs typeface="Times New Roman" panose="02020603050405020304" pitchFamily="18" charset="0"/>
              </a:rPr>
              <a:t>EMAIL LIFECYCLE</a:t>
            </a:r>
            <a:endParaRPr lang="en-US" sz="2000" dirty="0">
              <a:solidFill>
                <a:srgbClr val="0070C0"/>
              </a:solidFill>
              <a:latin typeface="Times New Roman" panose="02020603050405020304" pitchFamily="18" charset="0"/>
              <a:cs typeface="Times New Roman" panose="02020603050405020304" pitchFamily="18" charset="0"/>
            </a:endParaRPr>
          </a:p>
        </p:txBody>
      </p:sp>
      <p:grpSp>
        <p:nvGrpSpPr>
          <p:cNvPr id="77" name="Group 76">
            <a:extLst>
              <a:ext uri="{FF2B5EF4-FFF2-40B4-BE49-F238E27FC236}">
                <a16:creationId xmlns:a16="http://schemas.microsoft.com/office/drawing/2014/main" id="{61D84725-1F89-919C-9DE3-7ECB2C6D633F}"/>
              </a:ext>
            </a:extLst>
          </p:cNvPr>
          <p:cNvGrpSpPr/>
          <p:nvPr/>
        </p:nvGrpSpPr>
        <p:grpSpPr>
          <a:xfrm>
            <a:off x="294053" y="3252785"/>
            <a:ext cx="5133653" cy="3458439"/>
            <a:chOff x="457200" y="4424731"/>
            <a:chExt cx="3877056" cy="1865381"/>
          </a:xfrm>
        </p:grpSpPr>
        <p:sp>
          <p:nvSpPr>
            <p:cNvPr id="62" name="Shape 25">
              <a:extLst>
                <a:ext uri="{FF2B5EF4-FFF2-40B4-BE49-F238E27FC236}">
                  <a16:creationId xmlns:a16="http://schemas.microsoft.com/office/drawing/2014/main" id="{D970DFBD-F570-32EF-6AB3-48EAAD465DB4}"/>
                </a:ext>
              </a:extLst>
            </p:cNvPr>
            <p:cNvSpPr/>
            <p:nvPr/>
          </p:nvSpPr>
          <p:spPr>
            <a:xfrm>
              <a:off x="457200" y="4424731"/>
              <a:ext cx="45720" cy="329182"/>
            </a:xfrm>
            <a:prstGeom prst="rect">
              <a:avLst/>
            </a:prstGeom>
            <a:solidFill>
              <a:srgbClr val="E63946"/>
            </a:solidFill>
            <a:ln w="12700">
              <a:solidFill>
                <a:srgbClr val="E63946"/>
              </a:solidFill>
              <a:prstDash val="solid"/>
            </a:ln>
          </p:spPr>
        </p:sp>
        <p:sp>
          <p:nvSpPr>
            <p:cNvPr id="63" name="Text 26">
              <a:extLst>
                <a:ext uri="{FF2B5EF4-FFF2-40B4-BE49-F238E27FC236}">
                  <a16:creationId xmlns:a16="http://schemas.microsoft.com/office/drawing/2014/main" id="{AF0402E6-7A60-4838-4982-9A726ADEB9DF}"/>
                </a:ext>
              </a:extLst>
            </p:cNvPr>
            <p:cNvSpPr/>
            <p:nvPr/>
          </p:nvSpPr>
          <p:spPr>
            <a:xfrm>
              <a:off x="594360" y="4479595"/>
              <a:ext cx="1325880" cy="219455"/>
            </a:xfrm>
            <a:prstGeom prst="rect">
              <a:avLst/>
            </a:prstGeom>
            <a:noFill/>
            <a:ln/>
          </p:spPr>
          <p:txBody>
            <a:bodyPr wrap="square" lIns="0" tIns="0" rIns="0" bIns="0" rtlCol="0" anchor="ctr"/>
            <a:lstStyle/>
            <a:p>
              <a:r>
                <a:rPr lang="en-GB" sz="1600" b="1" dirty="0">
                  <a:latin typeface="Calibri" pitchFamily="34" charset="0"/>
                  <a:ea typeface="Calibri" pitchFamily="34" charset="-122"/>
                  <a:cs typeface="Calibri" pitchFamily="34" charset="-120"/>
                </a:rPr>
                <a:t>Targeted</a:t>
              </a:r>
              <a:r>
                <a:rPr lang="en-GB" sz="1600" dirty="0"/>
                <a:t> </a:t>
              </a:r>
              <a:r>
                <a:rPr lang="en-GB" sz="1600" b="1" dirty="0">
                  <a:latin typeface="Calibri" pitchFamily="34" charset="0"/>
                  <a:ea typeface="Calibri" pitchFamily="34" charset="-122"/>
                  <a:cs typeface="Calibri" pitchFamily="34" charset="-120"/>
                </a:rPr>
                <a:t>Attack</a:t>
              </a:r>
              <a:endParaRPr lang="en-US" sz="1600" b="1" dirty="0">
                <a:latin typeface="Calibri" pitchFamily="34" charset="0"/>
                <a:ea typeface="Calibri" pitchFamily="34" charset="-122"/>
                <a:cs typeface="Calibri" pitchFamily="34" charset="-120"/>
              </a:endParaRPr>
            </a:p>
          </p:txBody>
        </p:sp>
        <p:sp>
          <p:nvSpPr>
            <p:cNvPr id="64" name="Text 27">
              <a:extLst>
                <a:ext uri="{FF2B5EF4-FFF2-40B4-BE49-F238E27FC236}">
                  <a16:creationId xmlns:a16="http://schemas.microsoft.com/office/drawing/2014/main" id="{DC5D79AA-7C26-C266-02F2-BCE6615108D5}"/>
                </a:ext>
              </a:extLst>
            </p:cNvPr>
            <p:cNvSpPr/>
            <p:nvPr/>
          </p:nvSpPr>
          <p:spPr>
            <a:xfrm>
              <a:off x="1956816" y="4479596"/>
              <a:ext cx="2377440" cy="219455"/>
            </a:xfrm>
            <a:prstGeom prst="rect">
              <a:avLst/>
            </a:prstGeom>
            <a:noFill/>
            <a:ln/>
          </p:spPr>
          <p:txBody>
            <a:bodyPr wrap="square" lIns="0" tIns="0" rIns="0" bIns="0" rtlCol="0" anchor="ctr"/>
            <a:lstStyle/>
            <a:p>
              <a:r>
                <a:rPr lang="en-GB" sz="1600" dirty="0">
                  <a:latin typeface="Calibri" pitchFamily="34" charset="0"/>
                  <a:ea typeface="Calibri" pitchFamily="34" charset="-122"/>
                  <a:cs typeface="Calibri" pitchFamily="34" charset="-120"/>
                </a:rPr>
                <a:t>Highly targeted phishing aimed at a specific person or organization</a:t>
              </a:r>
              <a:endParaRPr lang="en-US" sz="1600" dirty="0">
                <a:latin typeface="Calibri" pitchFamily="34" charset="0"/>
                <a:ea typeface="Calibri" pitchFamily="34" charset="-122"/>
                <a:cs typeface="Calibri" pitchFamily="34" charset="-120"/>
              </a:endParaRPr>
            </a:p>
          </p:txBody>
        </p:sp>
        <p:sp>
          <p:nvSpPr>
            <p:cNvPr id="65" name="Shape 29">
              <a:extLst>
                <a:ext uri="{FF2B5EF4-FFF2-40B4-BE49-F238E27FC236}">
                  <a16:creationId xmlns:a16="http://schemas.microsoft.com/office/drawing/2014/main" id="{0543E96C-B40D-AFE1-ED82-4D917B80DCEE}"/>
                </a:ext>
              </a:extLst>
            </p:cNvPr>
            <p:cNvSpPr/>
            <p:nvPr/>
          </p:nvSpPr>
          <p:spPr>
            <a:xfrm>
              <a:off x="457200" y="4808779"/>
              <a:ext cx="45720" cy="329183"/>
            </a:xfrm>
            <a:prstGeom prst="rect">
              <a:avLst/>
            </a:prstGeom>
            <a:solidFill>
              <a:srgbClr val="E63946"/>
            </a:solidFill>
            <a:ln w="12700">
              <a:solidFill>
                <a:srgbClr val="E63946"/>
              </a:solidFill>
              <a:prstDash val="solid"/>
            </a:ln>
          </p:spPr>
        </p:sp>
        <p:sp>
          <p:nvSpPr>
            <p:cNvPr id="66" name="Text 30">
              <a:extLst>
                <a:ext uri="{FF2B5EF4-FFF2-40B4-BE49-F238E27FC236}">
                  <a16:creationId xmlns:a16="http://schemas.microsoft.com/office/drawing/2014/main" id="{AACABBD7-F53D-DC25-8799-D8CC2C60D9BB}"/>
                </a:ext>
              </a:extLst>
            </p:cNvPr>
            <p:cNvSpPr/>
            <p:nvPr/>
          </p:nvSpPr>
          <p:spPr>
            <a:xfrm>
              <a:off x="594360" y="4863643"/>
              <a:ext cx="1325880" cy="219455"/>
            </a:xfrm>
            <a:prstGeom prst="rect">
              <a:avLst/>
            </a:prstGeom>
            <a:noFill/>
            <a:ln/>
          </p:spPr>
          <p:txBody>
            <a:bodyPr wrap="square" lIns="0" tIns="0" rIns="0" bIns="0" rtlCol="0" anchor="ctr"/>
            <a:lstStyle/>
            <a:p>
              <a:pPr marL="0" indent="0">
                <a:buNone/>
              </a:pPr>
              <a:r>
                <a:rPr lang="en-US" sz="1600" b="1" dirty="0">
                  <a:latin typeface="Calibri" pitchFamily="34" charset="0"/>
                  <a:ea typeface="Calibri" pitchFamily="34" charset="-122"/>
                  <a:cs typeface="Calibri" pitchFamily="34" charset="-120"/>
                </a:rPr>
                <a:t>Brand Impersonation</a:t>
              </a:r>
              <a:endParaRPr lang="en-US" sz="1600" dirty="0"/>
            </a:p>
          </p:txBody>
        </p:sp>
        <p:sp>
          <p:nvSpPr>
            <p:cNvPr id="67" name="Text 31">
              <a:extLst>
                <a:ext uri="{FF2B5EF4-FFF2-40B4-BE49-F238E27FC236}">
                  <a16:creationId xmlns:a16="http://schemas.microsoft.com/office/drawing/2014/main" id="{F58CAAB3-7D89-C488-D1A6-1F9C7979E352}"/>
                </a:ext>
              </a:extLst>
            </p:cNvPr>
            <p:cNvSpPr/>
            <p:nvPr/>
          </p:nvSpPr>
          <p:spPr>
            <a:xfrm>
              <a:off x="1956816" y="4863643"/>
              <a:ext cx="2377440" cy="219455"/>
            </a:xfrm>
            <a:prstGeom prst="rect">
              <a:avLst/>
            </a:prstGeom>
            <a:noFill/>
            <a:ln/>
          </p:spPr>
          <p:txBody>
            <a:bodyPr wrap="square" lIns="0" tIns="0" rIns="0" bIns="0" rtlCol="0" anchor="ctr"/>
            <a:lstStyle/>
            <a:p>
              <a:pPr marL="0" indent="0">
                <a:buNone/>
              </a:pPr>
              <a:r>
                <a:rPr lang="en-US" sz="1600" dirty="0">
                  <a:latin typeface="Calibri" pitchFamily="34" charset="0"/>
                  <a:ea typeface="Calibri" pitchFamily="34" charset="-122"/>
                  <a:cs typeface="Calibri" pitchFamily="34" charset="-120"/>
                </a:rPr>
                <a:t>Fake PayPal, Amazon, Google sender identity</a:t>
              </a:r>
              <a:endParaRPr lang="en-US" sz="1600" dirty="0"/>
            </a:p>
          </p:txBody>
        </p:sp>
        <p:sp>
          <p:nvSpPr>
            <p:cNvPr id="68" name="Shape 33">
              <a:extLst>
                <a:ext uri="{FF2B5EF4-FFF2-40B4-BE49-F238E27FC236}">
                  <a16:creationId xmlns:a16="http://schemas.microsoft.com/office/drawing/2014/main" id="{52869D86-5DB2-B773-674C-F42855FFD6C2}"/>
                </a:ext>
              </a:extLst>
            </p:cNvPr>
            <p:cNvSpPr/>
            <p:nvPr/>
          </p:nvSpPr>
          <p:spPr>
            <a:xfrm>
              <a:off x="457200" y="5192825"/>
              <a:ext cx="45720" cy="329182"/>
            </a:xfrm>
            <a:prstGeom prst="rect">
              <a:avLst/>
            </a:prstGeom>
            <a:solidFill>
              <a:srgbClr val="E63946"/>
            </a:solidFill>
            <a:ln w="12700">
              <a:solidFill>
                <a:srgbClr val="E63946"/>
              </a:solidFill>
              <a:prstDash val="solid"/>
            </a:ln>
          </p:spPr>
        </p:sp>
        <p:sp>
          <p:nvSpPr>
            <p:cNvPr id="69" name="Text 34">
              <a:extLst>
                <a:ext uri="{FF2B5EF4-FFF2-40B4-BE49-F238E27FC236}">
                  <a16:creationId xmlns:a16="http://schemas.microsoft.com/office/drawing/2014/main" id="{05334B71-604E-17E3-9C20-04E5A980009D}"/>
                </a:ext>
              </a:extLst>
            </p:cNvPr>
            <p:cNvSpPr/>
            <p:nvPr/>
          </p:nvSpPr>
          <p:spPr>
            <a:xfrm>
              <a:off x="594360" y="5247690"/>
              <a:ext cx="1325880" cy="219455"/>
            </a:xfrm>
            <a:prstGeom prst="rect">
              <a:avLst/>
            </a:prstGeom>
            <a:noFill/>
            <a:ln/>
          </p:spPr>
          <p:txBody>
            <a:bodyPr wrap="square" lIns="0" tIns="0" rIns="0" bIns="0" rtlCol="0" anchor="ctr"/>
            <a:lstStyle/>
            <a:p>
              <a:pPr marL="0" indent="0">
                <a:buNone/>
              </a:pPr>
              <a:r>
                <a:rPr lang="en-US" sz="1600" b="1" dirty="0">
                  <a:latin typeface="Calibri" pitchFamily="34" charset="0"/>
                  <a:ea typeface="Calibri" pitchFamily="34" charset="-122"/>
                  <a:cs typeface="Calibri" pitchFamily="34" charset="-120"/>
                </a:rPr>
                <a:t>Advance-Fee (419)</a:t>
              </a:r>
              <a:endParaRPr lang="en-US" sz="1600" dirty="0"/>
            </a:p>
          </p:txBody>
        </p:sp>
        <p:sp>
          <p:nvSpPr>
            <p:cNvPr id="70" name="Text 35">
              <a:extLst>
                <a:ext uri="{FF2B5EF4-FFF2-40B4-BE49-F238E27FC236}">
                  <a16:creationId xmlns:a16="http://schemas.microsoft.com/office/drawing/2014/main" id="{036F1A76-29E9-2D5F-BEAB-5D8FC3F21D3E}"/>
                </a:ext>
              </a:extLst>
            </p:cNvPr>
            <p:cNvSpPr/>
            <p:nvPr/>
          </p:nvSpPr>
          <p:spPr>
            <a:xfrm>
              <a:off x="1956816" y="5247691"/>
              <a:ext cx="2377440" cy="219456"/>
            </a:xfrm>
            <a:prstGeom prst="rect">
              <a:avLst/>
            </a:prstGeom>
            <a:noFill/>
            <a:ln/>
          </p:spPr>
          <p:txBody>
            <a:bodyPr wrap="square" lIns="0" tIns="0" rIns="0" bIns="0" rtlCol="0" anchor="ctr"/>
            <a:lstStyle/>
            <a:p>
              <a:r>
                <a:rPr lang="en-GB" sz="1600" dirty="0">
                  <a:latin typeface="Calibri" pitchFamily="34" charset="0"/>
                  <a:ea typeface="Calibri" pitchFamily="34" charset="-122"/>
                  <a:cs typeface="Calibri" pitchFamily="34" charset="-120"/>
                </a:rPr>
                <a:t>Asking for a small payment upfront to receive a large reward later</a:t>
              </a:r>
              <a:endParaRPr lang="en-US" sz="1600" dirty="0">
                <a:latin typeface="Calibri" pitchFamily="34" charset="0"/>
                <a:ea typeface="Calibri" pitchFamily="34" charset="-122"/>
                <a:cs typeface="Calibri" pitchFamily="34" charset="-120"/>
              </a:endParaRPr>
            </a:p>
          </p:txBody>
        </p:sp>
        <p:sp>
          <p:nvSpPr>
            <p:cNvPr id="71" name="Shape 37">
              <a:extLst>
                <a:ext uri="{FF2B5EF4-FFF2-40B4-BE49-F238E27FC236}">
                  <a16:creationId xmlns:a16="http://schemas.microsoft.com/office/drawing/2014/main" id="{AEDCFA8A-93E6-8216-EC99-853E5891AB9F}"/>
                </a:ext>
              </a:extLst>
            </p:cNvPr>
            <p:cNvSpPr/>
            <p:nvPr/>
          </p:nvSpPr>
          <p:spPr>
            <a:xfrm>
              <a:off x="457200" y="5576876"/>
              <a:ext cx="45720" cy="329183"/>
            </a:xfrm>
            <a:prstGeom prst="rect">
              <a:avLst/>
            </a:prstGeom>
            <a:solidFill>
              <a:srgbClr val="E63946"/>
            </a:solidFill>
            <a:ln w="12700">
              <a:solidFill>
                <a:srgbClr val="E63946"/>
              </a:solidFill>
              <a:prstDash val="solid"/>
            </a:ln>
          </p:spPr>
        </p:sp>
        <p:sp>
          <p:nvSpPr>
            <p:cNvPr id="72" name="Text 38">
              <a:extLst>
                <a:ext uri="{FF2B5EF4-FFF2-40B4-BE49-F238E27FC236}">
                  <a16:creationId xmlns:a16="http://schemas.microsoft.com/office/drawing/2014/main" id="{1AABA4FA-4F46-26C5-4D3C-2BC5ED530C5A}"/>
                </a:ext>
              </a:extLst>
            </p:cNvPr>
            <p:cNvSpPr/>
            <p:nvPr/>
          </p:nvSpPr>
          <p:spPr>
            <a:xfrm>
              <a:off x="594360" y="5631742"/>
              <a:ext cx="1325880" cy="219456"/>
            </a:xfrm>
            <a:prstGeom prst="rect">
              <a:avLst/>
            </a:prstGeom>
            <a:noFill/>
            <a:ln/>
          </p:spPr>
          <p:txBody>
            <a:bodyPr wrap="square" lIns="0" tIns="0" rIns="0" bIns="0" rtlCol="0" anchor="ctr"/>
            <a:lstStyle/>
            <a:p>
              <a:r>
                <a:rPr lang="en-GB" sz="1600" b="1" dirty="0">
                  <a:latin typeface="Calibri" pitchFamily="34" charset="0"/>
                  <a:ea typeface="Calibri" pitchFamily="34" charset="-122"/>
                  <a:cs typeface="Calibri" pitchFamily="34" charset="-120"/>
                </a:rPr>
                <a:t>Cryptocurrency</a:t>
              </a:r>
              <a:r>
                <a:rPr lang="en-GB" sz="1600" dirty="0"/>
                <a:t> </a:t>
              </a:r>
              <a:r>
                <a:rPr lang="en-GB" sz="1600" b="1" dirty="0">
                  <a:latin typeface="Calibri" pitchFamily="34" charset="0"/>
                  <a:ea typeface="Calibri" pitchFamily="34" charset="-122"/>
                  <a:cs typeface="Calibri" pitchFamily="34" charset="-120"/>
                </a:rPr>
                <a:t>Scam</a:t>
              </a:r>
              <a:endParaRPr lang="en-US" sz="1600" b="1" dirty="0">
                <a:latin typeface="Calibri" pitchFamily="34" charset="0"/>
                <a:ea typeface="Calibri" pitchFamily="34" charset="-122"/>
                <a:cs typeface="Calibri" pitchFamily="34" charset="-120"/>
              </a:endParaRPr>
            </a:p>
          </p:txBody>
        </p:sp>
        <p:sp>
          <p:nvSpPr>
            <p:cNvPr id="73" name="Text 39">
              <a:extLst>
                <a:ext uri="{FF2B5EF4-FFF2-40B4-BE49-F238E27FC236}">
                  <a16:creationId xmlns:a16="http://schemas.microsoft.com/office/drawing/2014/main" id="{D2D28017-0227-9FF0-10FB-4EC53BA5F312}"/>
                </a:ext>
              </a:extLst>
            </p:cNvPr>
            <p:cNvSpPr/>
            <p:nvPr/>
          </p:nvSpPr>
          <p:spPr>
            <a:xfrm>
              <a:off x="1956816" y="5631745"/>
              <a:ext cx="2377440" cy="219456"/>
            </a:xfrm>
            <a:prstGeom prst="rect">
              <a:avLst/>
            </a:prstGeom>
            <a:noFill/>
            <a:ln/>
          </p:spPr>
          <p:txBody>
            <a:bodyPr wrap="square" lIns="0" tIns="0" rIns="0" bIns="0" rtlCol="0" anchor="ctr"/>
            <a:lstStyle/>
            <a:p>
              <a:pPr marL="0" indent="0">
                <a:buNone/>
              </a:pPr>
              <a:r>
                <a:rPr lang="en-US" sz="1600" dirty="0">
                  <a:latin typeface="Calibri" pitchFamily="34" charset="0"/>
                  <a:ea typeface="Calibri" pitchFamily="34" charset="-122"/>
                  <a:cs typeface="Calibri" pitchFamily="34" charset="-120"/>
                </a:rPr>
                <a:t>Fake airdrop / giveaway via free-email domains</a:t>
              </a:r>
              <a:endParaRPr lang="en-US" sz="1600" dirty="0"/>
            </a:p>
          </p:txBody>
        </p:sp>
        <p:sp>
          <p:nvSpPr>
            <p:cNvPr id="74" name="Shape 41">
              <a:extLst>
                <a:ext uri="{FF2B5EF4-FFF2-40B4-BE49-F238E27FC236}">
                  <a16:creationId xmlns:a16="http://schemas.microsoft.com/office/drawing/2014/main" id="{983AFBD4-9579-4120-B050-D631584263D6}"/>
                </a:ext>
              </a:extLst>
            </p:cNvPr>
            <p:cNvSpPr/>
            <p:nvPr/>
          </p:nvSpPr>
          <p:spPr>
            <a:xfrm>
              <a:off x="457200" y="5960929"/>
              <a:ext cx="45720" cy="329183"/>
            </a:xfrm>
            <a:prstGeom prst="rect">
              <a:avLst/>
            </a:prstGeom>
            <a:solidFill>
              <a:srgbClr val="E63946"/>
            </a:solidFill>
            <a:ln w="12700">
              <a:solidFill>
                <a:srgbClr val="E63946"/>
              </a:solidFill>
              <a:prstDash val="solid"/>
            </a:ln>
          </p:spPr>
        </p:sp>
        <p:sp>
          <p:nvSpPr>
            <p:cNvPr id="75" name="Text 42">
              <a:extLst>
                <a:ext uri="{FF2B5EF4-FFF2-40B4-BE49-F238E27FC236}">
                  <a16:creationId xmlns:a16="http://schemas.microsoft.com/office/drawing/2014/main" id="{343489C3-184F-5C39-A4FD-05A287FF0ED0}"/>
                </a:ext>
              </a:extLst>
            </p:cNvPr>
            <p:cNvSpPr/>
            <p:nvPr/>
          </p:nvSpPr>
          <p:spPr>
            <a:xfrm>
              <a:off x="594360" y="6015798"/>
              <a:ext cx="1325880" cy="219456"/>
            </a:xfrm>
            <a:prstGeom prst="rect">
              <a:avLst/>
            </a:prstGeom>
            <a:noFill/>
            <a:ln/>
          </p:spPr>
          <p:txBody>
            <a:bodyPr wrap="square" lIns="0" tIns="0" rIns="0" bIns="0" rtlCol="0" anchor="ctr"/>
            <a:lstStyle/>
            <a:p>
              <a:pPr marL="0" indent="0">
                <a:buNone/>
              </a:pPr>
              <a:r>
                <a:rPr lang="en-US" sz="1600" b="1" dirty="0">
                  <a:latin typeface="Calibri" pitchFamily="34" charset="0"/>
                  <a:ea typeface="Calibri" pitchFamily="34" charset="-122"/>
                  <a:cs typeface="Calibri" pitchFamily="34" charset="-120"/>
                </a:rPr>
                <a:t>Credential Harvest</a:t>
              </a:r>
              <a:endParaRPr lang="en-US" sz="1600" dirty="0"/>
            </a:p>
          </p:txBody>
        </p:sp>
        <p:sp>
          <p:nvSpPr>
            <p:cNvPr id="76" name="Text 43">
              <a:extLst>
                <a:ext uri="{FF2B5EF4-FFF2-40B4-BE49-F238E27FC236}">
                  <a16:creationId xmlns:a16="http://schemas.microsoft.com/office/drawing/2014/main" id="{FD6339C3-B278-1DAF-D9D9-AC7C0DEEF3A0}"/>
                </a:ext>
              </a:extLst>
            </p:cNvPr>
            <p:cNvSpPr/>
            <p:nvPr/>
          </p:nvSpPr>
          <p:spPr>
            <a:xfrm>
              <a:off x="1956816" y="6015807"/>
              <a:ext cx="2377440" cy="219456"/>
            </a:xfrm>
            <a:prstGeom prst="rect">
              <a:avLst/>
            </a:prstGeom>
            <a:noFill/>
            <a:ln/>
          </p:spPr>
          <p:txBody>
            <a:bodyPr wrap="square" lIns="0" tIns="0" rIns="0" bIns="0" rtlCol="0" anchor="ctr"/>
            <a:lstStyle/>
            <a:p>
              <a:pPr marL="0" indent="0">
                <a:buNone/>
              </a:pPr>
              <a:r>
                <a:rPr lang="en-US" sz="1600" dirty="0">
                  <a:latin typeface="Calibri" pitchFamily="34" charset="0"/>
                  <a:ea typeface="Calibri" pitchFamily="34" charset="-122"/>
                  <a:cs typeface="Calibri" pitchFamily="34" charset="-120"/>
                </a:rPr>
                <a:t>Embedded HTML forms collect passwords in-email</a:t>
              </a:r>
              <a:endParaRPr lang="en-US" sz="1600" dirty="0"/>
            </a:p>
          </p:txBody>
        </p:sp>
      </p:grpSp>
      <p:sp>
        <p:nvSpPr>
          <p:cNvPr id="79" name="TextBox 78">
            <a:extLst>
              <a:ext uri="{FF2B5EF4-FFF2-40B4-BE49-F238E27FC236}">
                <a16:creationId xmlns:a16="http://schemas.microsoft.com/office/drawing/2014/main" id="{EE670F9A-957D-70F7-FBD2-BF4263712C64}"/>
              </a:ext>
            </a:extLst>
          </p:cNvPr>
          <p:cNvSpPr txBox="1"/>
          <p:nvPr/>
        </p:nvSpPr>
        <p:spPr>
          <a:xfrm>
            <a:off x="294054" y="2762542"/>
            <a:ext cx="4573510" cy="400110"/>
          </a:xfrm>
          <a:prstGeom prst="rect">
            <a:avLst/>
          </a:prstGeom>
          <a:noFill/>
        </p:spPr>
        <p:txBody>
          <a:bodyPr wrap="square">
            <a:spAutoFit/>
          </a:bodyPr>
          <a:lstStyle/>
          <a:p>
            <a:pPr indent="0">
              <a:buNone/>
            </a:pPr>
            <a:r>
              <a:rPr lang="en-US" sz="2000" b="1" kern="0" spc="300" dirty="0">
                <a:solidFill>
                  <a:srgbClr val="0070C0"/>
                </a:solidFill>
                <a:latin typeface="Times New Roman" panose="02020603050405020304" pitchFamily="18" charset="0"/>
                <a:ea typeface="Calibri" pitchFamily="34" charset="-122"/>
                <a:cs typeface="Times New Roman" panose="02020603050405020304" pitchFamily="18" charset="0"/>
              </a:rPr>
              <a:t>ATTACK </a:t>
            </a:r>
            <a:r>
              <a:rPr lang="en-GB" sz="2000" b="1" kern="0" spc="300" dirty="0">
                <a:solidFill>
                  <a:srgbClr val="0070C0"/>
                </a:solidFill>
                <a:latin typeface="Times New Roman" panose="02020603050405020304" pitchFamily="18" charset="0"/>
                <a:ea typeface="Calibri" pitchFamily="34" charset="-122"/>
                <a:cs typeface="Times New Roman" panose="02020603050405020304" pitchFamily="18" charset="0"/>
              </a:rPr>
              <a:t>CLASSIFICATION</a:t>
            </a:r>
            <a:r>
              <a:rPr lang="en-GB" sz="2000" dirty="0"/>
              <a:t> </a:t>
            </a:r>
            <a:endParaRPr lang="en-US" sz="2000" b="1" kern="0" spc="300" dirty="0">
              <a:solidFill>
                <a:srgbClr val="0070C0"/>
              </a:solidFill>
              <a:latin typeface="Times New Roman" panose="02020603050405020304" pitchFamily="18" charset="0"/>
              <a:ea typeface="Calibri" pitchFamily="34" charset="-122"/>
              <a:cs typeface="Times New Roman" panose="02020603050405020304" pitchFamily="18" charset="0"/>
            </a:endParaRPr>
          </a:p>
        </p:txBody>
      </p:sp>
    </p:spTree>
    <p:extLst>
      <p:ext uri="{BB962C8B-B14F-4D97-AF65-F5344CB8AC3E}">
        <p14:creationId xmlns:p14="http://schemas.microsoft.com/office/powerpoint/2010/main" val="4249595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347D1-0B2F-C8C5-85A9-2B7704378318}"/>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05E9FB2-32EE-80F8-CA61-CA370BB5B448}"/>
              </a:ext>
            </a:extLst>
          </p:cNvPr>
          <p:cNvSpPr txBox="1"/>
          <p:nvPr/>
        </p:nvSpPr>
        <p:spPr>
          <a:xfrm>
            <a:off x="349044" y="287283"/>
            <a:ext cx="6947105" cy="584775"/>
          </a:xfrm>
          <a:prstGeom prst="rect">
            <a:avLst/>
          </a:prstGeom>
          <a:noFill/>
        </p:spPr>
        <p:txBody>
          <a:bodyPr wrap="square">
            <a:spAutoFit/>
          </a:bodyPr>
          <a:lstStyle/>
          <a:p>
            <a:r>
              <a:rPr lang="en-GB" sz="3200" b="1" dirty="0">
                <a:latin typeface="Times New Roman" panose="02020603050405020304" pitchFamily="18" charset="0"/>
                <a:ea typeface="Calibri" pitchFamily="34" charset="-122"/>
                <a:cs typeface="Times New Roman" panose="02020603050405020304" pitchFamily="18" charset="0"/>
              </a:rPr>
              <a:t>DATA LOSS PREVENTION (DLP)</a:t>
            </a:r>
            <a:endParaRPr lang="en-US" sz="3200" b="1" dirty="0">
              <a:latin typeface="Times New Roman" panose="02020603050405020304" pitchFamily="18" charset="0"/>
              <a:ea typeface="Calibri" pitchFamily="34" charset="-122"/>
              <a:cs typeface="Times New Roman" panose="02020603050405020304" pitchFamily="18" charset="0"/>
            </a:endParaRPr>
          </a:p>
        </p:txBody>
      </p:sp>
      <p:sp>
        <p:nvSpPr>
          <p:cNvPr id="2" name="TextBox 1">
            <a:extLst>
              <a:ext uri="{FF2B5EF4-FFF2-40B4-BE49-F238E27FC236}">
                <a16:creationId xmlns:a16="http://schemas.microsoft.com/office/drawing/2014/main" id="{9F97415A-CC0B-CB8F-7B09-232044F6A5E4}"/>
              </a:ext>
            </a:extLst>
          </p:cNvPr>
          <p:cNvSpPr txBox="1"/>
          <p:nvPr/>
        </p:nvSpPr>
        <p:spPr>
          <a:xfrm>
            <a:off x="349044" y="825005"/>
            <a:ext cx="6276828" cy="307777"/>
          </a:xfrm>
          <a:prstGeom prst="rect">
            <a:avLst/>
          </a:prstGeom>
          <a:noFill/>
        </p:spPr>
        <p:txBody>
          <a:bodyPr wrap="square">
            <a:spAutoFit/>
          </a:bodyPr>
          <a:lstStyle/>
          <a:p>
            <a:r>
              <a:rPr lang="en-GB" sz="1400" dirty="0">
                <a:latin typeface="Times New Roman" panose="02020603050405020304" pitchFamily="18" charset="0"/>
                <a:cs typeface="Times New Roman" panose="02020603050405020304" pitchFamily="18" charset="0"/>
              </a:rPr>
              <a:t>If phishing threatens your inbox, DLP protects your outbox.</a:t>
            </a:r>
          </a:p>
        </p:txBody>
      </p:sp>
      <p:sp>
        <p:nvSpPr>
          <p:cNvPr id="4" name="TextBox 3">
            <a:extLst>
              <a:ext uri="{FF2B5EF4-FFF2-40B4-BE49-F238E27FC236}">
                <a16:creationId xmlns:a16="http://schemas.microsoft.com/office/drawing/2014/main" id="{9ECEB8C2-D4A7-0D47-97D1-10DAA6E0F34A}"/>
              </a:ext>
            </a:extLst>
          </p:cNvPr>
          <p:cNvSpPr txBox="1"/>
          <p:nvPr/>
        </p:nvSpPr>
        <p:spPr>
          <a:xfrm>
            <a:off x="349044" y="1485838"/>
            <a:ext cx="10795206" cy="2031325"/>
          </a:xfrm>
          <a:prstGeom prst="rect">
            <a:avLst/>
          </a:prstGeom>
          <a:noFill/>
        </p:spPr>
        <p:txBody>
          <a:bodyPr wrap="square">
            <a:spAutoFit/>
          </a:bodyPr>
          <a:lstStyle/>
          <a:p>
            <a:r>
              <a:rPr lang="en-GB" dirty="0">
                <a:latin typeface="Times New Roman" panose="02020603050405020304" pitchFamily="18" charset="0"/>
                <a:cs typeface="Times New Roman" panose="02020603050405020304" pitchFamily="18" charset="0"/>
              </a:rPr>
              <a:t>Why DLP is Critical in Email Security?</a:t>
            </a:r>
          </a:p>
          <a:p>
            <a:endParaRPr lang="en-GB" dirty="0">
              <a:latin typeface="Times New Roman" panose="02020603050405020304" pitchFamily="18" charset="0"/>
              <a:cs typeface="Times New Roman" panose="02020603050405020304" pitchFamily="18" charset="0"/>
            </a:endParaRPr>
          </a:p>
          <a:p>
            <a:r>
              <a:rPr lang="en-GB" dirty="0">
                <a:latin typeface="Times New Roman" panose="02020603050405020304" pitchFamily="18" charset="0"/>
                <a:cs typeface="Times New Roman" panose="02020603050405020304" pitchFamily="18" charset="0"/>
              </a:rPr>
              <a:t>While phishing targets incoming emails, sensitive data breaches often occur through outgoing emails. Data Loss Prevention (DLP) protects organizations by detecting and blocking the accidental or intentional transmission of confidential information.</a:t>
            </a:r>
          </a:p>
          <a:p>
            <a:endParaRPr lang="en-GB" dirty="0"/>
          </a:p>
          <a:p>
            <a:endParaRPr lang="en-GB" dirty="0"/>
          </a:p>
        </p:txBody>
      </p:sp>
      <p:graphicFrame>
        <p:nvGraphicFramePr>
          <p:cNvPr id="5" name="Table 4">
            <a:extLst>
              <a:ext uri="{FF2B5EF4-FFF2-40B4-BE49-F238E27FC236}">
                <a16:creationId xmlns:a16="http://schemas.microsoft.com/office/drawing/2014/main" id="{74DB93F1-6EA3-B628-9CBD-98E452431016}"/>
              </a:ext>
            </a:extLst>
          </p:cNvPr>
          <p:cNvGraphicFramePr>
            <a:graphicFrameLocks noGrp="1"/>
          </p:cNvGraphicFramePr>
          <p:nvPr>
            <p:extLst>
              <p:ext uri="{D42A27DB-BD31-4B8C-83A1-F6EECF244321}">
                <p14:modId xmlns:p14="http://schemas.microsoft.com/office/powerpoint/2010/main" val="321951559"/>
              </p:ext>
            </p:extLst>
          </p:nvPr>
        </p:nvGraphicFramePr>
        <p:xfrm>
          <a:off x="1200150" y="3090347"/>
          <a:ext cx="8555708" cy="3676406"/>
        </p:xfrm>
        <a:graphic>
          <a:graphicData uri="http://schemas.openxmlformats.org/drawingml/2006/table">
            <a:tbl>
              <a:tblPr firstRow="1" firstCol="1" lastRow="1" lastCol="1" bandRow="1" bandCol="1">
                <a:tableStyleId>{7E9639D4-E3E2-4D34-9284-5A2195B3D0D7}</a:tableStyleId>
              </a:tblPr>
              <a:tblGrid>
                <a:gridCol w="4277854">
                  <a:extLst>
                    <a:ext uri="{9D8B030D-6E8A-4147-A177-3AD203B41FA5}">
                      <a16:colId xmlns:a16="http://schemas.microsoft.com/office/drawing/2014/main" val="3711821873"/>
                    </a:ext>
                  </a:extLst>
                </a:gridCol>
                <a:gridCol w="4277854">
                  <a:extLst>
                    <a:ext uri="{9D8B030D-6E8A-4147-A177-3AD203B41FA5}">
                      <a16:colId xmlns:a16="http://schemas.microsoft.com/office/drawing/2014/main" val="1597999458"/>
                    </a:ext>
                  </a:extLst>
                </a:gridCol>
              </a:tblGrid>
              <a:tr h="336310">
                <a:tc>
                  <a:txBody>
                    <a:bodyPr/>
                    <a:lstStyle/>
                    <a:p>
                      <a:pPr algn="ctr">
                        <a:buNone/>
                      </a:pPr>
                      <a:r>
                        <a:rPr lang="en-GB" sz="1600" dirty="0">
                          <a:solidFill>
                            <a:schemeClr val="bg1"/>
                          </a:solidFill>
                          <a:latin typeface="Times New Roman" panose="02020603050405020304" pitchFamily="18" charset="0"/>
                          <a:cs typeface="Times New Roman" panose="02020603050405020304" pitchFamily="18" charset="0"/>
                        </a:rPr>
                        <a:t>Risk</a:t>
                      </a:r>
                    </a:p>
                  </a:txBody>
                  <a:tcPr marL="77674" marR="77674" marT="38837" marB="38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GB" sz="1600" dirty="0">
                          <a:solidFill>
                            <a:schemeClr val="bg1"/>
                          </a:solidFill>
                          <a:latin typeface="Times New Roman" panose="02020603050405020304" pitchFamily="18" charset="0"/>
                          <a:cs typeface="Times New Roman" panose="02020603050405020304" pitchFamily="18" charset="0"/>
                        </a:rPr>
                        <a:t>Description</a:t>
                      </a:r>
                    </a:p>
                  </a:txBody>
                  <a:tcPr marL="77674" marR="77674" marT="38837" marB="38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38692505"/>
                  </a:ext>
                </a:extLst>
              </a:tr>
              <a:tr h="860504">
                <a:tc>
                  <a:txBody>
                    <a:bodyPr/>
                    <a:lstStyle/>
                    <a:p>
                      <a:pPr algn="ctr">
                        <a:buNone/>
                      </a:pPr>
                      <a:r>
                        <a:rPr lang="en-GB" sz="1600" b="0" dirty="0">
                          <a:solidFill>
                            <a:schemeClr val="tx1"/>
                          </a:solidFill>
                          <a:latin typeface="Times New Roman" panose="02020603050405020304" pitchFamily="18" charset="0"/>
                          <a:cs typeface="Times New Roman" panose="02020603050405020304" pitchFamily="18" charset="0"/>
                        </a:rPr>
                        <a:t>Human Error</a:t>
                      </a:r>
                    </a:p>
                  </a:txBody>
                  <a:tcPr marL="77674" marR="77674" marT="38837" marB="38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GB" sz="1600" b="0">
                          <a:solidFill>
                            <a:schemeClr val="tx1"/>
                          </a:solidFill>
                          <a:latin typeface="Times New Roman" panose="02020603050405020304" pitchFamily="18" charset="0"/>
                          <a:cs typeface="Times New Roman" panose="02020603050405020304" pitchFamily="18" charset="0"/>
                        </a:rPr>
                        <a:t>Employees may unintentionally send sensitive information to unauthorized recipients.</a:t>
                      </a:r>
                    </a:p>
                  </a:txBody>
                  <a:tcPr marL="77674" marR="77674" marT="38837" marB="38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1722774"/>
                  </a:ext>
                </a:extLst>
              </a:tr>
              <a:tr h="641389">
                <a:tc>
                  <a:txBody>
                    <a:bodyPr/>
                    <a:lstStyle/>
                    <a:p>
                      <a:pPr algn="ctr">
                        <a:buNone/>
                      </a:pPr>
                      <a:r>
                        <a:rPr lang="en-GB" sz="1600" b="0" dirty="0">
                          <a:solidFill>
                            <a:schemeClr val="tx1"/>
                          </a:solidFill>
                          <a:latin typeface="Times New Roman" panose="02020603050405020304" pitchFamily="18" charset="0"/>
                          <a:cs typeface="Times New Roman" panose="02020603050405020304" pitchFamily="18" charset="0"/>
                        </a:rPr>
                        <a:t>Insider Threats</a:t>
                      </a:r>
                    </a:p>
                  </a:txBody>
                  <a:tcPr marL="77674" marR="77674" marT="38837" marB="38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GB" sz="1600" b="0" dirty="0">
                          <a:solidFill>
                            <a:schemeClr val="tx1"/>
                          </a:solidFill>
                          <a:latin typeface="Times New Roman" panose="02020603050405020304" pitchFamily="18" charset="0"/>
                          <a:cs typeface="Times New Roman" panose="02020603050405020304" pitchFamily="18" charset="0"/>
                        </a:rPr>
                        <a:t>Malicious insiders may intentionally exfiltrate confidential data.</a:t>
                      </a:r>
                    </a:p>
                  </a:txBody>
                  <a:tcPr marL="77674" marR="77674" marT="38837" marB="38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34185926"/>
                  </a:ext>
                </a:extLst>
              </a:tr>
              <a:tr h="598407">
                <a:tc>
                  <a:txBody>
                    <a:bodyPr/>
                    <a:lstStyle/>
                    <a:p>
                      <a:pPr algn="ctr">
                        <a:buNone/>
                      </a:pPr>
                      <a:r>
                        <a:rPr lang="en-GB" sz="1600" b="0" dirty="0">
                          <a:solidFill>
                            <a:schemeClr val="tx1"/>
                          </a:solidFill>
                          <a:latin typeface="Times New Roman" panose="02020603050405020304" pitchFamily="18" charset="0"/>
                          <a:cs typeface="Times New Roman" panose="02020603050405020304" pitchFamily="18" charset="0"/>
                        </a:rPr>
                        <a:t>Misaddressed Emails</a:t>
                      </a:r>
                    </a:p>
                  </a:txBody>
                  <a:tcPr marL="77674" marR="77674" marT="38837" marB="38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GB" sz="1600" b="0" dirty="0">
                          <a:solidFill>
                            <a:schemeClr val="tx1"/>
                          </a:solidFill>
                          <a:latin typeface="Times New Roman" panose="02020603050405020304" pitchFamily="18" charset="0"/>
                          <a:cs typeface="Times New Roman" panose="02020603050405020304" pitchFamily="18" charset="0"/>
                        </a:rPr>
                        <a:t>Incorrect recipients can lead to severe data breaches.</a:t>
                      </a:r>
                    </a:p>
                  </a:txBody>
                  <a:tcPr marL="77674" marR="77674" marT="38837" marB="38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80781762"/>
                  </a:ext>
                </a:extLst>
              </a:tr>
              <a:tr h="641389">
                <a:tc>
                  <a:txBody>
                    <a:bodyPr/>
                    <a:lstStyle/>
                    <a:p>
                      <a:pPr algn="ctr">
                        <a:buNone/>
                      </a:pPr>
                      <a:r>
                        <a:rPr lang="en-GB" sz="1600" b="0" dirty="0">
                          <a:solidFill>
                            <a:schemeClr val="tx1"/>
                          </a:solidFill>
                          <a:latin typeface="Times New Roman" panose="02020603050405020304" pitchFamily="18" charset="0"/>
                          <a:cs typeface="Times New Roman" panose="02020603050405020304" pitchFamily="18" charset="0"/>
                        </a:rPr>
                        <a:t>Unsecured Attachments</a:t>
                      </a:r>
                    </a:p>
                  </a:txBody>
                  <a:tcPr marL="77674" marR="77674" marT="38837" marB="38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GB" sz="1600" b="0" dirty="0">
                          <a:solidFill>
                            <a:schemeClr val="tx1"/>
                          </a:solidFill>
                          <a:latin typeface="Times New Roman" panose="02020603050405020304" pitchFamily="18" charset="0"/>
                          <a:cs typeface="Times New Roman" panose="02020603050405020304" pitchFamily="18" charset="0"/>
                        </a:rPr>
                        <a:t>Sensitive files may be shared without encryption or authorization.</a:t>
                      </a:r>
                    </a:p>
                  </a:txBody>
                  <a:tcPr marL="77674" marR="77674" marT="38837" marB="38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9416255"/>
                  </a:ext>
                </a:extLst>
              </a:tr>
              <a:tr h="598407">
                <a:tc>
                  <a:txBody>
                    <a:bodyPr/>
                    <a:lstStyle/>
                    <a:p>
                      <a:pPr algn="ctr">
                        <a:buNone/>
                      </a:pPr>
                      <a:r>
                        <a:rPr lang="en-GB" sz="1600" b="0">
                          <a:solidFill>
                            <a:schemeClr val="tx1"/>
                          </a:solidFill>
                          <a:latin typeface="Times New Roman" panose="02020603050405020304" pitchFamily="18" charset="0"/>
                          <a:cs typeface="Times New Roman" panose="02020603050405020304" pitchFamily="18" charset="0"/>
                        </a:rPr>
                        <a:t>Lack of Awareness</a:t>
                      </a:r>
                    </a:p>
                  </a:txBody>
                  <a:tcPr marL="77674" marR="77674" marT="38837" marB="38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GB" sz="1600" b="0" dirty="0">
                          <a:solidFill>
                            <a:schemeClr val="tx1"/>
                          </a:solidFill>
                          <a:latin typeface="Times New Roman" panose="02020603050405020304" pitchFamily="18" charset="0"/>
                          <a:cs typeface="Times New Roman" panose="02020603050405020304" pitchFamily="18" charset="0"/>
                        </a:rPr>
                        <a:t>Users may unknowingly violate data protection policies.</a:t>
                      </a:r>
                    </a:p>
                  </a:txBody>
                  <a:tcPr marL="77674" marR="77674" marT="38837" marB="38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37114091"/>
                  </a:ext>
                </a:extLst>
              </a:tr>
            </a:tbl>
          </a:graphicData>
        </a:graphic>
      </p:graphicFrame>
    </p:spTree>
    <p:extLst>
      <p:ext uri="{BB962C8B-B14F-4D97-AF65-F5344CB8AC3E}">
        <p14:creationId xmlns:p14="http://schemas.microsoft.com/office/powerpoint/2010/main" val="18895568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273FC-6F07-8739-1AE9-D8D8E9348F0D}"/>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AEF1A7F-CBB5-F7DC-ECA4-02FE6FD850E6}"/>
              </a:ext>
            </a:extLst>
          </p:cNvPr>
          <p:cNvSpPr txBox="1"/>
          <p:nvPr/>
        </p:nvSpPr>
        <p:spPr>
          <a:xfrm>
            <a:off x="349044" y="287283"/>
            <a:ext cx="10642806" cy="584775"/>
          </a:xfrm>
          <a:prstGeom prst="rect">
            <a:avLst/>
          </a:prstGeom>
          <a:noFill/>
        </p:spPr>
        <p:txBody>
          <a:bodyPr wrap="square">
            <a:spAutoFit/>
          </a:bodyPr>
          <a:lstStyle/>
          <a:p>
            <a:r>
              <a:rPr lang="en-GB" sz="3200" b="1" dirty="0">
                <a:latin typeface="Times New Roman" panose="02020603050405020304" pitchFamily="18" charset="0"/>
                <a:ea typeface="Calibri" pitchFamily="34" charset="-122"/>
                <a:cs typeface="Times New Roman" panose="02020603050405020304" pitchFamily="18" charset="0"/>
              </a:rPr>
              <a:t>INGRESS &amp; EGRESS FILTERING</a:t>
            </a:r>
            <a:endParaRPr lang="en-US" sz="3200" b="1" dirty="0">
              <a:latin typeface="Times New Roman" panose="02020603050405020304" pitchFamily="18" charset="0"/>
              <a:ea typeface="Calibri" pitchFamily="34" charset="-122"/>
              <a:cs typeface="Times New Roman" panose="02020603050405020304" pitchFamily="18" charset="0"/>
            </a:endParaRPr>
          </a:p>
        </p:txBody>
      </p:sp>
      <p:grpSp>
        <p:nvGrpSpPr>
          <p:cNvPr id="128" name="Group 127">
            <a:extLst>
              <a:ext uri="{FF2B5EF4-FFF2-40B4-BE49-F238E27FC236}">
                <a16:creationId xmlns:a16="http://schemas.microsoft.com/office/drawing/2014/main" id="{BC5A4621-2DC3-C296-99A8-64ACB04850D9}"/>
              </a:ext>
            </a:extLst>
          </p:cNvPr>
          <p:cNvGrpSpPr/>
          <p:nvPr/>
        </p:nvGrpSpPr>
        <p:grpSpPr>
          <a:xfrm>
            <a:off x="349044" y="1143000"/>
            <a:ext cx="10547557" cy="5427717"/>
            <a:chOff x="365760" y="1591056"/>
            <a:chExt cx="8412480" cy="3255264"/>
          </a:xfrm>
          <a:effectLst/>
        </p:grpSpPr>
        <p:sp>
          <p:nvSpPr>
            <p:cNvPr id="106" name="Shape 7">
              <a:extLst>
                <a:ext uri="{FF2B5EF4-FFF2-40B4-BE49-F238E27FC236}">
                  <a16:creationId xmlns:a16="http://schemas.microsoft.com/office/drawing/2014/main" id="{DDEEE377-AA04-4799-8BD0-AAC9F0B76B47}"/>
                </a:ext>
              </a:extLst>
            </p:cNvPr>
            <p:cNvSpPr/>
            <p:nvPr/>
          </p:nvSpPr>
          <p:spPr>
            <a:xfrm>
              <a:off x="365760" y="1591056"/>
              <a:ext cx="4114800" cy="3255264"/>
            </a:xfrm>
            <a:prstGeom prst="rect">
              <a:avLst/>
            </a:prstGeom>
            <a:solidFill>
              <a:schemeClr val="bg1"/>
            </a:solidFill>
            <a:ln w="12700">
              <a:solidFill>
                <a:srgbClr val="00B4D8"/>
              </a:solidFill>
              <a:prstDash val="solid"/>
            </a:ln>
            <a:effectLst/>
          </p:spPr>
        </p:sp>
        <p:sp>
          <p:nvSpPr>
            <p:cNvPr id="107" name="Shape 8">
              <a:extLst>
                <a:ext uri="{FF2B5EF4-FFF2-40B4-BE49-F238E27FC236}">
                  <a16:creationId xmlns:a16="http://schemas.microsoft.com/office/drawing/2014/main" id="{E4574603-F820-E4AF-BCEC-676969489D3E}"/>
                </a:ext>
              </a:extLst>
            </p:cNvPr>
            <p:cNvSpPr/>
            <p:nvPr/>
          </p:nvSpPr>
          <p:spPr>
            <a:xfrm>
              <a:off x="365760" y="1591056"/>
              <a:ext cx="4114800" cy="420624"/>
            </a:xfrm>
            <a:prstGeom prst="rect">
              <a:avLst/>
            </a:prstGeom>
            <a:solidFill>
              <a:srgbClr val="00B4D8"/>
            </a:solidFill>
            <a:ln w="12700">
              <a:solidFill>
                <a:srgbClr val="00B4D8"/>
              </a:solidFill>
              <a:prstDash val="solid"/>
            </a:ln>
          </p:spPr>
        </p:sp>
        <p:sp>
          <p:nvSpPr>
            <p:cNvPr id="109" name="Text 10">
              <a:extLst>
                <a:ext uri="{FF2B5EF4-FFF2-40B4-BE49-F238E27FC236}">
                  <a16:creationId xmlns:a16="http://schemas.microsoft.com/office/drawing/2014/main" id="{E3E31190-7BE4-8769-BDA8-493BC9F0F910}"/>
                </a:ext>
              </a:extLst>
            </p:cNvPr>
            <p:cNvSpPr/>
            <p:nvPr/>
          </p:nvSpPr>
          <p:spPr>
            <a:xfrm>
              <a:off x="530352" y="1591056"/>
              <a:ext cx="3785616" cy="448688"/>
            </a:xfrm>
            <a:prstGeom prst="rect">
              <a:avLst/>
            </a:prstGeom>
            <a:noFill/>
            <a:ln/>
          </p:spPr>
          <p:txBody>
            <a:bodyPr wrap="square" lIns="0" tIns="0" rIns="0" bIns="0" rtlCol="0" anchor="ctr"/>
            <a:lstStyle/>
            <a:p>
              <a:pPr algn="ctr"/>
              <a:r>
                <a:rPr lang="en-GB" sz="3200" dirty="0">
                  <a:latin typeface="Times New Roman" panose="02020603050405020304" pitchFamily="18" charset="0"/>
                  <a:ea typeface="Tahoma" panose="020B0604030504040204" pitchFamily="34" charset="0"/>
                  <a:cs typeface="Times New Roman" panose="02020603050405020304" pitchFamily="18" charset="0"/>
                </a:rPr>
                <a:t>Ingress Filtering (Incoming)</a:t>
              </a:r>
              <a:endParaRPr lang="en-US" sz="32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110" name="Text 11">
              <a:extLst>
                <a:ext uri="{FF2B5EF4-FFF2-40B4-BE49-F238E27FC236}">
                  <a16:creationId xmlns:a16="http://schemas.microsoft.com/office/drawing/2014/main" id="{1074E3AE-D043-E0B0-46E2-B2ADB39AA6D7}"/>
                </a:ext>
              </a:extLst>
            </p:cNvPr>
            <p:cNvSpPr/>
            <p:nvPr/>
          </p:nvSpPr>
          <p:spPr>
            <a:xfrm>
              <a:off x="530352" y="2084832"/>
              <a:ext cx="3785616" cy="182880"/>
            </a:xfrm>
            <a:prstGeom prst="rect">
              <a:avLst/>
            </a:prstGeom>
            <a:noFill/>
            <a:ln/>
          </p:spPr>
          <p:txBody>
            <a:bodyPr wrap="square" lIns="0" tIns="0" rIns="0" bIns="0" rtlCol="0" anchor="ctr"/>
            <a:lstStyle/>
            <a:p>
              <a:pPr marL="0" indent="0">
                <a:buNone/>
              </a:pPr>
              <a:r>
                <a:rPr lang="en-US" sz="1600" b="1" kern="0" spc="200" dirty="0">
                  <a:latin typeface="Times New Roman" panose="02020603050405020304" pitchFamily="18" charset="0"/>
                  <a:ea typeface="Calibri" pitchFamily="34" charset="-122"/>
                  <a:cs typeface="Times New Roman" panose="02020603050405020304" pitchFamily="18" charset="0"/>
                </a:rPr>
                <a:t>HOW IT WORKS</a:t>
              </a:r>
              <a:endParaRPr lang="en-US" sz="1600" dirty="0">
                <a:latin typeface="Times New Roman" panose="02020603050405020304" pitchFamily="18" charset="0"/>
                <a:cs typeface="Times New Roman" panose="02020603050405020304" pitchFamily="18" charset="0"/>
              </a:endParaRPr>
            </a:p>
          </p:txBody>
        </p:sp>
        <p:sp>
          <p:nvSpPr>
            <p:cNvPr id="111" name="Text 12">
              <a:extLst>
                <a:ext uri="{FF2B5EF4-FFF2-40B4-BE49-F238E27FC236}">
                  <a16:creationId xmlns:a16="http://schemas.microsoft.com/office/drawing/2014/main" id="{0D876CF3-49E4-661E-4C1A-B57667A9F13C}"/>
                </a:ext>
              </a:extLst>
            </p:cNvPr>
            <p:cNvSpPr/>
            <p:nvPr/>
          </p:nvSpPr>
          <p:spPr>
            <a:xfrm>
              <a:off x="486433" y="2286000"/>
              <a:ext cx="3933995" cy="658368"/>
            </a:xfrm>
            <a:prstGeom prst="rect">
              <a:avLst/>
            </a:prstGeom>
            <a:noFill/>
            <a:ln/>
          </p:spPr>
          <p:txBody>
            <a:bodyPr wrap="square" rtlCol="0" anchor="t"/>
            <a:lstStyle/>
            <a:p>
              <a:pPr marL="0" indent="0">
                <a:buNone/>
              </a:pPr>
              <a:r>
                <a:rPr lang="en-US" sz="1600" dirty="0">
                  <a:latin typeface="Times New Roman" panose="02020603050405020304" pitchFamily="18" charset="0"/>
                  <a:ea typeface="Calibri" pitchFamily="34" charset="-122"/>
                  <a:cs typeface="Times New Roman" panose="02020603050405020304" pitchFamily="18" charset="0"/>
                </a:rPr>
                <a:t>The receiving mail server checks the sending IP address against a DNS TXT record published by the domain owner. If the IP is not in the authorised list, SPF fails.</a:t>
              </a:r>
              <a:endParaRPr lang="en-US" sz="1600" dirty="0">
                <a:latin typeface="Times New Roman" panose="02020603050405020304" pitchFamily="18" charset="0"/>
                <a:cs typeface="Times New Roman" panose="02020603050405020304" pitchFamily="18" charset="0"/>
              </a:endParaRPr>
            </a:p>
          </p:txBody>
        </p:sp>
        <p:sp>
          <p:nvSpPr>
            <p:cNvPr id="112" name="Text 13">
              <a:extLst>
                <a:ext uri="{FF2B5EF4-FFF2-40B4-BE49-F238E27FC236}">
                  <a16:creationId xmlns:a16="http://schemas.microsoft.com/office/drawing/2014/main" id="{E6115E7B-AE2F-672E-4B96-DE174D4D77C7}"/>
                </a:ext>
              </a:extLst>
            </p:cNvPr>
            <p:cNvSpPr/>
            <p:nvPr/>
          </p:nvSpPr>
          <p:spPr>
            <a:xfrm>
              <a:off x="530352" y="2999232"/>
              <a:ext cx="3785616" cy="182880"/>
            </a:xfrm>
            <a:prstGeom prst="rect">
              <a:avLst/>
            </a:prstGeom>
            <a:noFill/>
            <a:ln/>
          </p:spPr>
          <p:txBody>
            <a:bodyPr wrap="square" lIns="0" tIns="0" rIns="0" bIns="0" rtlCol="0" anchor="ctr"/>
            <a:lstStyle/>
            <a:p>
              <a:pPr marL="0" indent="0">
                <a:buNone/>
              </a:pPr>
              <a:r>
                <a:rPr lang="en-US" sz="1600" b="1" kern="0" spc="200" dirty="0">
                  <a:latin typeface="Times New Roman" panose="02020603050405020304" pitchFamily="18" charset="0"/>
                  <a:ea typeface="Calibri" pitchFamily="34" charset="-122"/>
                  <a:cs typeface="Times New Roman" panose="02020603050405020304" pitchFamily="18" charset="0"/>
                </a:rPr>
                <a:t>WHAT FAILURE MEANS</a:t>
              </a:r>
              <a:endParaRPr lang="en-US" sz="1600" dirty="0">
                <a:latin typeface="Times New Roman" panose="02020603050405020304" pitchFamily="18" charset="0"/>
                <a:cs typeface="Times New Roman" panose="02020603050405020304" pitchFamily="18" charset="0"/>
              </a:endParaRPr>
            </a:p>
          </p:txBody>
        </p:sp>
        <p:sp>
          <p:nvSpPr>
            <p:cNvPr id="113" name="Text 14">
              <a:extLst>
                <a:ext uri="{FF2B5EF4-FFF2-40B4-BE49-F238E27FC236}">
                  <a16:creationId xmlns:a16="http://schemas.microsoft.com/office/drawing/2014/main" id="{2C29BFB0-A04F-1812-51CB-60E62111D8E2}"/>
                </a:ext>
              </a:extLst>
            </p:cNvPr>
            <p:cNvSpPr/>
            <p:nvPr/>
          </p:nvSpPr>
          <p:spPr>
            <a:xfrm>
              <a:off x="530352" y="3200400"/>
              <a:ext cx="3785616" cy="512064"/>
            </a:xfrm>
            <a:prstGeom prst="rect">
              <a:avLst/>
            </a:prstGeom>
            <a:noFill/>
            <a:ln/>
          </p:spPr>
          <p:txBody>
            <a:bodyPr wrap="square" rtlCol="0" anchor="t"/>
            <a:lstStyle/>
            <a:p>
              <a:pPr marL="0" indent="0">
                <a:buNone/>
              </a:pPr>
              <a:r>
                <a:rPr lang="en-US" sz="1600" dirty="0">
                  <a:latin typeface="Times New Roman" panose="02020603050405020304" pitchFamily="18" charset="0"/>
                  <a:ea typeface="Calibri" pitchFamily="34" charset="-122"/>
                  <a:cs typeface="Times New Roman" panose="02020603050405020304" pitchFamily="18" charset="0"/>
                </a:rPr>
                <a:t>The email originated from an IP not authorised by the domain — strong indicator of sender spoofing or a compromised mail relay.</a:t>
              </a:r>
              <a:endParaRPr lang="en-US" sz="1600" dirty="0">
                <a:latin typeface="Times New Roman" panose="02020603050405020304" pitchFamily="18" charset="0"/>
                <a:cs typeface="Times New Roman" panose="02020603050405020304" pitchFamily="18" charset="0"/>
              </a:endParaRPr>
            </a:p>
          </p:txBody>
        </p:sp>
        <p:sp>
          <p:nvSpPr>
            <p:cNvPr id="114" name="Shape 15">
              <a:extLst>
                <a:ext uri="{FF2B5EF4-FFF2-40B4-BE49-F238E27FC236}">
                  <a16:creationId xmlns:a16="http://schemas.microsoft.com/office/drawing/2014/main" id="{3AF585BB-E234-A0EB-BBD1-98159C6DFA58}"/>
                </a:ext>
              </a:extLst>
            </p:cNvPr>
            <p:cNvSpPr/>
            <p:nvPr/>
          </p:nvSpPr>
          <p:spPr>
            <a:xfrm>
              <a:off x="530352" y="3877055"/>
              <a:ext cx="3785616" cy="822960"/>
            </a:xfrm>
            <a:prstGeom prst="rect">
              <a:avLst/>
            </a:prstGeom>
            <a:solidFill>
              <a:schemeClr val="bg1"/>
            </a:solidFill>
            <a:ln w="12700">
              <a:solidFill>
                <a:srgbClr val="00B4D8"/>
              </a:solidFill>
              <a:prstDash val="solid"/>
            </a:ln>
          </p:spPr>
        </p:sp>
        <p:sp>
          <p:nvSpPr>
            <p:cNvPr id="115" name="Text 16">
              <a:extLst>
                <a:ext uri="{FF2B5EF4-FFF2-40B4-BE49-F238E27FC236}">
                  <a16:creationId xmlns:a16="http://schemas.microsoft.com/office/drawing/2014/main" id="{6A5251D2-4954-4AD3-79C9-948F1205129A}"/>
                </a:ext>
              </a:extLst>
            </p:cNvPr>
            <p:cNvSpPr/>
            <p:nvPr/>
          </p:nvSpPr>
          <p:spPr>
            <a:xfrm>
              <a:off x="640080" y="3950207"/>
              <a:ext cx="3566160" cy="182880"/>
            </a:xfrm>
            <a:prstGeom prst="rect">
              <a:avLst/>
            </a:prstGeom>
            <a:noFill/>
            <a:ln/>
          </p:spPr>
          <p:txBody>
            <a:bodyPr wrap="square" lIns="0" tIns="0" rIns="0" bIns="0" rtlCol="0" anchor="ctr"/>
            <a:lstStyle/>
            <a:p>
              <a:pPr marL="0" indent="0">
                <a:buNone/>
              </a:pPr>
              <a:r>
                <a:rPr lang="en-US" b="1" kern="0" spc="100" dirty="0">
                  <a:latin typeface="Times New Roman" panose="02020603050405020304" pitchFamily="18" charset="0"/>
                  <a:ea typeface="Calibri" pitchFamily="34" charset="-122"/>
                  <a:cs typeface="Times New Roman" panose="02020603050405020304" pitchFamily="18" charset="0"/>
                </a:rPr>
                <a:t>Ingress Detection Example:</a:t>
              </a:r>
              <a:endParaRPr lang="en-US" dirty="0">
                <a:latin typeface="Times New Roman" panose="02020603050405020304" pitchFamily="18" charset="0"/>
                <a:cs typeface="Times New Roman" panose="02020603050405020304" pitchFamily="18" charset="0"/>
              </a:endParaRPr>
            </a:p>
          </p:txBody>
        </p:sp>
        <p:sp>
          <p:nvSpPr>
            <p:cNvPr id="116" name="Text 17">
              <a:extLst>
                <a:ext uri="{FF2B5EF4-FFF2-40B4-BE49-F238E27FC236}">
                  <a16:creationId xmlns:a16="http://schemas.microsoft.com/office/drawing/2014/main" id="{E18DD956-C68B-6FC5-461C-BAD858CA4D72}"/>
                </a:ext>
              </a:extLst>
            </p:cNvPr>
            <p:cNvSpPr/>
            <p:nvPr/>
          </p:nvSpPr>
          <p:spPr>
            <a:xfrm>
              <a:off x="640080" y="4151375"/>
              <a:ext cx="3566160" cy="457200"/>
            </a:xfrm>
            <a:prstGeom prst="rect">
              <a:avLst/>
            </a:prstGeom>
            <a:noFill/>
            <a:ln/>
          </p:spPr>
          <p:txBody>
            <a:bodyPr wrap="square" lIns="0" tIns="0" rIns="0" bIns="0" rtlCol="0" anchor="ctr"/>
            <a:lstStyle/>
            <a:p>
              <a:r>
                <a:rPr lang="en-GB" sz="1400" dirty="0"/>
                <a:t>paypal_spoof.eml </a:t>
              </a:r>
            </a:p>
            <a:p>
              <a:r>
                <a:rPr lang="en-GB" sz="1400" dirty="0"/>
                <a:t>Score: 23 | Severity: CRITICAL</a:t>
              </a:r>
              <a:endParaRPr lang="en-US" sz="1400" dirty="0">
                <a:latin typeface="Times New Roman" panose="02020603050405020304" pitchFamily="18" charset="0"/>
                <a:cs typeface="Times New Roman" panose="02020603050405020304" pitchFamily="18" charset="0"/>
              </a:endParaRPr>
            </a:p>
          </p:txBody>
        </p:sp>
        <p:sp>
          <p:nvSpPr>
            <p:cNvPr id="117" name="Shape 18">
              <a:extLst>
                <a:ext uri="{FF2B5EF4-FFF2-40B4-BE49-F238E27FC236}">
                  <a16:creationId xmlns:a16="http://schemas.microsoft.com/office/drawing/2014/main" id="{2EEEF405-0577-0F5B-0308-F2F20046570C}"/>
                </a:ext>
              </a:extLst>
            </p:cNvPr>
            <p:cNvSpPr/>
            <p:nvPr/>
          </p:nvSpPr>
          <p:spPr>
            <a:xfrm>
              <a:off x="4663440" y="1591056"/>
              <a:ext cx="4114800" cy="3255264"/>
            </a:xfrm>
            <a:prstGeom prst="rect">
              <a:avLst/>
            </a:prstGeom>
            <a:solidFill>
              <a:schemeClr val="bg1"/>
            </a:solidFill>
            <a:ln w="12700">
              <a:solidFill>
                <a:srgbClr val="F4A261"/>
              </a:solidFill>
              <a:prstDash val="solid"/>
            </a:ln>
            <a:effectLst/>
          </p:spPr>
        </p:sp>
        <p:sp>
          <p:nvSpPr>
            <p:cNvPr id="118" name="Shape 19">
              <a:extLst>
                <a:ext uri="{FF2B5EF4-FFF2-40B4-BE49-F238E27FC236}">
                  <a16:creationId xmlns:a16="http://schemas.microsoft.com/office/drawing/2014/main" id="{EC29E464-F7DF-C075-8460-44855BE27CE6}"/>
                </a:ext>
              </a:extLst>
            </p:cNvPr>
            <p:cNvSpPr/>
            <p:nvPr/>
          </p:nvSpPr>
          <p:spPr>
            <a:xfrm>
              <a:off x="4663440" y="1591056"/>
              <a:ext cx="4114800" cy="420624"/>
            </a:xfrm>
            <a:prstGeom prst="rect">
              <a:avLst/>
            </a:prstGeom>
            <a:solidFill>
              <a:srgbClr val="F4A261"/>
            </a:solidFill>
            <a:ln w="12700">
              <a:solidFill>
                <a:srgbClr val="F4A261"/>
              </a:solidFill>
              <a:prstDash val="solid"/>
            </a:ln>
          </p:spPr>
        </p:sp>
        <p:sp>
          <p:nvSpPr>
            <p:cNvPr id="120" name="Text 21">
              <a:extLst>
                <a:ext uri="{FF2B5EF4-FFF2-40B4-BE49-F238E27FC236}">
                  <a16:creationId xmlns:a16="http://schemas.microsoft.com/office/drawing/2014/main" id="{17F3F05E-9D3A-5DFB-0A66-ACAA6352C5D9}"/>
                </a:ext>
              </a:extLst>
            </p:cNvPr>
            <p:cNvSpPr/>
            <p:nvPr/>
          </p:nvSpPr>
          <p:spPr>
            <a:xfrm>
              <a:off x="4719788" y="1664208"/>
              <a:ext cx="3875572" cy="274320"/>
            </a:xfrm>
            <a:prstGeom prst="rect">
              <a:avLst/>
            </a:prstGeom>
            <a:noFill/>
            <a:ln/>
          </p:spPr>
          <p:txBody>
            <a:bodyPr wrap="square" lIns="0" tIns="0" rIns="0" bIns="0" rtlCol="0" anchor="ctr"/>
            <a:lstStyle/>
            <a:p>
              <a:pPr algn="ctr"/>
              <a:r>
                <a:rPr lang="en-GB" sz="3200" dirty="0">
                  <a:latin typeface="Times New Roman" panose="02020603050405020304" pitchFamily="18" charset="0"/>
                  <a:cs typeface="Times New Roman" panose="02020603050405020304" pitchFamily="18" charset="0"/>
                </a:rPr>
                <a:t>Egress Filtering (Outgoing)</a:t>
              </a:r>
              <a:endParaRPr lang="en-US" sz="3200" dirty="0">
                <a:latin typeface="Times New Roman" panose="02020603050405020304" pitchFamily="18" charset="0"/>
                <a:cs typeface="Times New Roman" panose="02020603050405020304" pitchFamily="18" charset="0"/>
              </a:endParaRPr>
            </a:p>
          </p:txBody>
        </p:sp>
        <p:sp>
          <p:nvSpPr>
            <p:cNvPr id="121" name="Text 22">
              <a:extLst>
                <a:ext uri="{FF2B5EF4-FFF2-40B4-BE49-F238E27FC236}">
                  <a16:creationId xmlns:a16="http://schemas.microsoft.com/office/drawing/2014/main" id="{AC6046DD-EC1F-5A33-24C3-C184F6E9FD6B}"/>
                </a:ext>
              </a:extLst>
            </p:cNvPr>
            <p:cNvSpPr/>
            <p:nvPr/>
          </p:nvSpPr>
          <p:spPr>
            <a:xfrm>
              <a:off x="4828032" y="2084832"/>
              <a:ext cx="3785616" cy="182880"/>
            </a:xfrm>
            <a:prstGeom prst="rect">
              <a:avLst/>
            </a:prstGeom>
            <a:noFill/>
            <a:ln/>
          </p:spPr>
          <p:txBody>
            <a:bodyPr wrap="square" lIns="0" tIns="0" rIns="0" bIns="0" rtlCol="0" anchor="ctr"/>
            <a:lstStyle/>
            <a:p>
              <a:pPr marL="0" indent="0">
                <a:buNone/>
              </a:pPr>
              <a:r>
                <a:rPr lang="en-US" sz="1600" b="1" kern="0" spc="200" dirty="0">
                  <a:latin typeface="Times New Roman" panose="02020603050405020304" pitchFamily="18" charset="0"/>
                  <a:ea typeface="Calibri" pitchFamily="34" charset="-122"/>
                  <a:cs typeface="Times New Roman" panose="02020603050405020304" pitchFamily="18" charset="0"/>
                </a:rPr>
                <a:t>HOW IT WORKS</a:t>
              </a:r>
              <a:endParaRPr lang="en-US" sz="1600" dirty="0">
                <a:latin typeface="Times New Roman" panose="02020603050405020304" pitchFamily="18" charset="0"/>
                <a:cs typeface="Times New Roman" panose="02020603050405020304" pitchFamily="18" charset="0"/>
              </a:endParaRPr>
            </a:p>
          </p:txBody>
        </p:sp>
        <p:sp>
          <p:nvSpPr>
            <p:cNvPr id="122" name="Text 23">
              <a:extLst>
                <a:ext uri="{FF2B5EF4-FFF2-40B4-BE49-F238E27FC236}">
                  <a16:creationId xmlns:a16="http://schemas.microsoft.com/office/drawing/2014/main" id="{FDB504FA-58AB-9357-5355-B8BAC4E7A823}"/>
                </a:ext>
              </a:extLst>
            </p:cNvPr>
            <p:cNvSpPr/>
            <p:nvPr/>
          </p:nvSpPr>
          <p:spPr>
            <a:xfrm>
              <a:off x="4755748" y="2377439"/>
              <a:ext cx="3873632" cy="658368"/>
            </a:xfrm>
            <a:prstGeom prst="rect">
              <a:avLst/>
            </a:prstGeom>
            <a:noFill/>
            <a:ln/>
          </p:spPr>
          <p:txBody>
            <a:bodyPr wrap="square" rtlCol="0" anchor="t"/>
            <a:lstStyle/>
            <a:p>
              <a:pPr marL="0" indent="0">
                <a:buNone/>
              </a:pPr>
              <a:r>
                <a:rPr lang="en-US" sz="1600" dirty="0">
                  <a:latin typeface="Times New Roman" panose="02020603050405020304" pitchFamily="18" charset="0"/>
                  <a:ea typeface="Calibri" pitchFamily="34" charset="-122"/>
                  <a:cs typeface="Times New Roman" panose="02020603050405020304" pitchFamily="18" charset="0"/>
                </a:rPr>
                <a:t>The receiving server fetches the public key from DNS and verifies the cryptographic signature.</a:t>
              </a:r>
              <a:endParaRPr lang="en-US" sz="1600" dirty="0">
                <a:latin typeface="Times New Roman" panose="02020603050405020304" pitchFamily="18" charset="0"/>
                <a:cs typeface="Times New Roman" panose="02020603050405020304" pitchFamily="18" charset="0"/>
              </a:endParaRPr>
            </a:p>
          </p:txBody>
        </p:sp>
        <p:sp>
          <p:nvSpPr>
            <p:cNvPr id="123" name="Text 24">
              <a:extLst>
                <a:ext uri="{FF2B5EF4-FFF2-40B4-BE49-F238E27FC236}">
                  <a16:creationId xmlns:a16="http://schemas.microsoft.com/office/drawing/2014/main" id="{C7B4E9E2-2A9B-A660-B61F-68E555D617F9}"/>
                </a:ext>
              </a:extLst>
            </p:cNvPr>
            <p:cNvSpPr/>
            <p:nvPr/>
          </p:nvSpPr>
          <p:spPr>
            <a:xfrm>
              <a:off x="4828032" y="2999232"/>
              <a:ext cx="3785616" cy="182880"/>
            </a:xfrm>
            <a:prstGeom prst="rect">
              <a:avLst/>
            </a:prstGeom>
            <a:noFill/>
            <a:ln/>
          </p:spPr>
          <p:txBody>
            <a:bodyPr wrap="square" lIns="0" tIns="0" rIns="0" bIns="0" rtlCol="0" anchor="ctr"/>
            <a:lstStyle/>
            <a:p>
              <a:pPr marL="0" indent="0">
                <a:buNone/>
              </a:pPr>
              <a:r>
                <a:rPr lang="en-US" sz="1600" b="1" kern="0" spc="200" dirty="0">
                  <a:latin typeface="Times New Roman" panose="02020603050405020304" pitchFamily="18" charset="0"/>
                  <a:ea typeface="Calibri" pitchFamily="34" charset="-122"/>
                  <a:cs typeface="Times New Roman" panose="02020603050405020304" pitchFamily="18" charset="0"/>
                </a:rPr>
                <a:t>WHAT FAILURE MEANS</a:t>
              </a:r>
              <a:endParaRPr lang="en-US" sz="1600" dirty="0">
                <a:latin typeface="Times New Roman" panose="02020603050405020304" pitchFamily="18" charset="0"/>
                <a:cs typeface="Times New Roman" panose="02020603050405020304" pitchFamily="18" charset="0"/>
              </a:endParaRPr>
            </a:p>
          </p:txBody>
        </p:sp>
        <p:sp>
          <p:nvSpPr>
            <p:cNvPr id="124" name="Text 25">
              <a:extLst>
                <a:ext uri="{FF2B5EF4-FFF2-40B4-BE49-F238E27FC236}">
                  <a16:creationId xmlns:a16="http://schemas.microsoft.com/office/drawing/2014/main" id="{E831113D-6F3B-9345-8AD2-2C3733F2DB22}"/>
                </a:ext>
              </a:extLst>
            </p:cNvPr>
            <p:cNvSpPr/>
            <p:nvPr/>
          </p:nvSpPr>
          <p:spPr>
            <a:xfrm>
              <a:off x="4828032" y="3200400"/>
              <a:ext cx="3785616" cy="512064"/>
            </a:xfrm>
            <a:prstGeom prst="rect">
              <a:avLst/>
            </a:prstGeom>
            <a:noFill/>
            <a:ln/>
          </p:spPr>
          <p:txBody>
            <a:bodyPr wrap="square" rtlCol="0" anchor="t"/>
            <a:lstStyle/>
            <a:p>
              <a:pPr marL="0" indent="0">
                <a:buNone/>
              </a:pPr>
              <a:r>
                <a:rPr lang="en-US" sz="1600" dirty="0">
                  <a:latin typeface="Times New Roman" panose="02020603050405020304" pitchFamily="18" charset="0"/>
                  <a:ea typeface="Calibri" pitchFamily="34" charset="-122"/>
                  <a:cs typeface="Times New Roman" panose="02020603050405020304" pitchFamily="18" charset="0"/>
                </a:rPr>
                <a:t>The email content was altered in transit, or the signature was forged. Structural integrity is broken — the message cannot be trusted.</a:t>
              </a:r>
              <a:endParaRPr lang="en-US" sz="1600" dirty="0">
                <a:latin typeface="Times New Roman" panose="02020603050405020304" pitchFamily="18" charset="0"/>
                <a:cs typeface="Times New Roman" panose="02020603050405020304" pitchFamily="18" charset="0"/>
              </a:endParaRPr>
            </a:p>
          </p:txBody>
        </p:sp>
        <p:sp>
          <p:nvSpPr>
            <p:cNvPr id="125" name="Shape 26">
              <a:extLst>
                <a:ext uri="{FF2B5EF4-FFF2-40B4-BE49-F238E27FC236}">
                  <a16:creationId xmlns:a16="http://schemas.microsoft.com/office/drawing/2014/main" id="{78D840D2-2D02-F25B-CF6D-F55AA80E60CA}"/>
                </a:ext>
              </a:extLst>
            </p:cNvPr>
            <p:cNvSpPr/>
            <p:nvPr/>
          </p:nvSpPr>
          <p:spPr>
            <a:xfrm>
              <a:off x="4843764" y="3877055"/>
              <a:ext cx="3785616" cy="822960"/>
            </a:xfrm>
            <a:prstGeom prst="rect">
              <a:avLst/>
            </a:prstGeom>
            <a:solidFill>
              <a:schemeClr val="bg1"/>
            </a:solidFill>
            <a:ln w="12700">
              <a:solidFill>
                <a:srgbClr val="F4A261"/>
              </a:solidFill>
              <a:prstDash val="solid"/>
            </a:ln>
          </p:spPr>
        </p:sp>
        <p:sp>
          <p:nvSpPr>
            <p:cNvPr id="126" name="Text 27">
              <a:extLst>
                <a:ext uri="{FF2B5EF4-FFF2-40B4-BE49-F238E27FC236}">
                  <a16:creationId xmlns:a16="http://schemas.microsoft.com/office/drawing/2014/main" id="{B7610952-50F4-E8BE-70AF-F40C89491EBD}"/>
                </a:ext>
              </a:extLst>
            </p:cNvPr>
            <p:cNvSpPr/>
            <p:nvPr/>
          </p:nvSpPr>
          <p:spPr>
            <a:xfrm>
              <a:off x="4953492" y="3950207"/>
              <a:ext cx="3566160" cy="182880"/>
            </a:xfrm>
            <a:prstGeom prst="rect">
              <a:avLst/>
            </a:prstGeom>
            <a:noFill/>
            <a:ln/>
          </p:spPr>
          <p:txBody>
            <a:bodyPr wrap="square" lIns="0" tIns="0" rIns="0" bIns="0" rtlCol="0" anchor="ctr"/>
            <a:lstStyle/>
            <a:p>
              <a:pPr marL="0" indent="0">
                <a:buNone/>
              </a:pPr>
              <a:r>
                <a:rPr lang="en-US" b="1" kern="0" spc="100" dirty="0">
                  <a:latin typeface="Times New Roman" panose="02020603050405020304" pitchFamily="18" charset="0"/>
                  <a:ea typeface="Calibri" pitchFamily="34" charset="-122"/>
                  <a:cs typeface="Times New Roman" panose="02020603050405020304" pitchFamily="18" charset="0"/>
                </a:rPr>
                <a:t>Egress Detection Example:</a:t>
              </a:r>
              <a:endParaRPr lang="en-US" dirty="0">
                <a:latin typeface="Times New Roman" panose="02020603050405020304" pitchFamily="18" charset="0"/>
                <a:cs typeface="Times New Roman" panose="02020603050405020304" pitchFamily="18" charset="0"/>
              </a:endParaRPr>
            </a:p>
          </p:txBody>
        </p:sp>
        <p:sp>
          <p:nvSpPr>
            <p:cNvPr id="127" name="Text 28">
              <a:extLst>
                <a:ext uri="{FF2B5EF4-FFF2-40B4-BE49-F238E27FC236}">
                  <a16:creationId xmlns:a16="http://schemas.microsoft.com/office/drawing/2014/main" id="{1DF35F7A-DE70-4545-7E55-E59B84C38BF2}"/>
                </a:ext>
              </a:extLst>
            </p:cNvPr>
            <p:cNvSpPr/>
            <p:nvPr/>
          </p:nvSpPr>
          <p:spPr>
            <a:xfrm>
              <a:off x="4953492" y="4151375"/>
              <a:ext cx="3566160" cy="457200"/>
            </a:xfrm>
            <a:prstGeom prst="rect">
              <a:avLst/>
            </a:prstGeom>
            <a:noFill/>
            <a:ln/>
          </p:spPr>
          <p:txBody>
            <a:bodyPr wrap="square" lIns="0" tIns="0" rIns="0" bIns="0" rtlCol="0" anchor="ctr"/>
            <a:lstStyle/>
            <a:p>
              <a:pPr marL="0" indent="0">
                <a:buNone/>
              </a:pPr>
              <a:r>
                <a:rPr lang="en-US" sz="1400" dirty="0">
                  <a:latin typeface="Times New Roman" panose="02020603050405020304" pitchFamily="18" charset="0"/>
                  <a:ea typeface="Consolas" pitchFamily="34" charset="-122"/>
                  <a:cs typeface="Times New Roman" panose="02020603050405020304" pitchFamily="18" charset="0"/>
                </a:rPr>
                <a:t>Pan_aadhar_leak.eml</a:t>
              </a:r>
            </a:p>
            <a:p>
              <a:pPr marL="0" indent="0">
                <a:buNone/>
              </a:pPr>
              <a:r>
                <a:rPr lang="en-US" sz="1400" dirty="0">
                  <a:latin typeface="Times New Roman" panose="02020603050405020304" pitchFamily="18" charset="0"/>
                  <a:cs typeface="Times New Roman" panose="02020603050405020304" pitchFamily="18" charset="0"/>
                </a:rPr>
                <a:t>4x PAN + 4x Aadhar | Blocked</a:t>
              </a:r>
            </a:p>
          </p:txBody>
        </p:sp>
      </p:grpSp>
    </p:spTree>
    <p:extLst>
      <p:ext uri="{BB962C8B-B14F-4D97-AF65-F5344CB8AC3E}">
        <p14:creationId xmlns:p14="http://schemas.microsoft.com/office/powerpoint/2010/main" val="2214816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CD877-AB11-C0F3-2A11-5DC512E4842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A0C75945-72BF-39CC-EA6D-5C01B32A5B27}"/>
              </a:ext>
            </a:extLst>
          </p:cNvPr>
          <p:cNvSpPr txBox="1"/>
          <p:nvPr/>
        </p:nvSpPr>
        <p:spPr>
          <a:xfrm>
            <a:off x="139493" y="151684"/>
            <a:ext cx="10685951" cy="584775"/>
          </a:xfrm>
          <a:prstGeom prst="rect">
            <a:avLst/>
          </a:prstGeom>
          <a:noFill/>
        </p:spPr>
        <p:txBody>
          <a:bodyPr wrap="square">
            <a:spAutoFit/>
          </a:bodyPr>
          <a:lstStyle/>
          <a:p>
            <a:r>
              <a:rPr lang="en-GB" sz="3200" b="1" dirty="0">
                <a:latin typeface="Times New Roman" panose="02020603050405020304" pitchFamily="18" charset="0"/>
                <a:cs typeface="Times New Roman" panose="02020603050405020304" pitchFamily="18" charset="0"/>
              </a:rPr>
              <a:t>THREAT INTELLIGENCE &amp; PATTERN ANALYSIS</a:t>
            </a:r>
            <a:endParaRPr lang="en-US" sz="3200" b="1"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0FCC8D2F-AB96-DD13-126E-5AA66A0F3A36}"/>
              </a:ext>
            </a:extLst>
          </p:cNvPr>
          <p:cNvSpPr txBox="1"/>
          <p:nvPr/>
        </p:nvSpPr>
        <p:spPr>
          <a:xfrm>
            <a:off x="139493" y="856357"/>
            <a:ext cx="11087100" cy="6001643"/>
          </a:xfrm>
          <a:prstGeom prst="rect">
            <a:avLst/>
          </a:prstGeom>
          <a:noFill/>
        </p:spPr>
        <p:txBody>
          <a:bodyPr wrap="square">
            <a:spAutoFit/>
          </a:bodyPr>
          <a:lstStyle/>
          <a:p>
            <a:pPr>
              <a:buNone/>
            </a:pPr>
            <a:endParaRPr lang="en-GB" sz="2400" dirty="0">
              <a:latin typeface="Times New Roman" panose="02020603050405020304" pitchFamily="18" charset="0"/>
              <a:cs typeface="Times New Roman" panose="02020603050405020304" pitchFamily="18" charset="0"/>
            </a:endParaRPr>
          </a:p>
          <a:p>
            <a:pPr>
              <a:buNone/>
            </a:pPr>
            <a:r>
              <a:rPr lang="en-GB" sz="2400" b="1" dirty="0">
                <a:latin typeface="Times New Roman" panose="02020603050405020304" pitchFamily="18" charset="0"/>
                <a:cs typeface="Times New Roman" panose="02020603050405020304" pitchFamily="18" charset="0"/>
              </a:rPr>
              <a:t>1. Repeated Subject Line Analysis</a:t>
            </a:r>
          </a:p>
          <a:p>
            <a:pPr marL="800100" lvl="1"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Detects identical or similar subject lines across multiple emails. </a:t>
            </a:r>
          </a:p>
          <a:p>
            <a:pPr marL="800100" lvl="1"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Indicates mass phishing attempts. </a:t>
            </a:r>
          </a:p>
          <a:p>
            <a:pPr>
              <a:buNone/>
            </a:pPr>
            <a:r>
              <a:rPr lang="en-GB" sz="2400" b="1" dirty="0">
                <a:latin typeface="Times New Roman" panose="02020603050405020304" pitchFamily="18" charset="0"/>
                <a:cs typeface="Times New Roman" panose="02020603050405020304" pitchFamily="18" charset="0"/>
              </a:rPr>
              <a:t>Example: </a:t>
            </a:r>
            <a:r>
              <a:rPr lang="en-GB" sz="2400" dirty="0">
                <a:latin typeface="Times New Roman" panose="02020603050405020304" pitchFamily="18" charset="0"/>
                <a:cs typeface="Times New Roman" panose="02020603050405020304" pitchFamily="18" charset="0"/>
              </a:rPr>
              <a:t>"Action Required: Verify Your Account" appearing multiple times.</a:t>
            </a:r>
          </a:p>
          <a:p>
            <a:pPr>
              <a:buNone/>
            </a:pPr>
            <a:endParaRPr lang="en-GB" sz="2400" dirty="0">
              <a:latin typeface="Times New Roman" panose="02020603050405020304" pitchFamily="18" charset="0"/>
              <a:cs typeface="Times New Roman" panose="02020603050405020304" pitchFamily="18" charset="0"/>
            </a:endParaRPr>
          </a:p>
          <a:p>
            <a:r>
              <a:rPr lang="en-GB" sz="2400" b="1" dirty="0">
                <a:latin typeface="Times New Roman" panose="02020603050405020304" pitchFamily="18" charset="0"/>
                <a:cs typeface="Times New Roman" panose="02020603050405020304" pitchFamily="18" charset="0"/>
              </a:rPr>
              <a:t>2. Malicious URL Correlation</a:t>
            </a:r>
          </a:p>
          <a:p>
            <a:pPr marL="800100" lvl="1"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Identifies reused phishing links and attacker-controlled domains. </a:t>
            </a:r>
          </a:p>
          <a:p>
            <a:pPr marL="800100" lvl="1"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Highlights coordinated infrastructure. </a:t>
            </a:r>
          </a:p>
          <a:p>
            <a:r>
              <a:rPr lang="en-GB" sz="2400" b="1" dirty="0">
                <a:latin typeface="Times New Roman" panose="02020603050405020304" pitchFamily="18" charset="0"/>
                <a:cs typeface="Times New Roman" panose="02020603050405020304" pitchFamily="18" charset="0"/>
              </a:rPr>
              <a:t>Example: </a:t>
            </a:r>
            <a:r>
              <a:rPr lang="en-GB" sz="2400" dirty="0">
                <a:latin typeface="Times New Roman" panose="02020603050405020304" pitchFamily="18" charset="0"/>
                <a:cs typeface="Times New Roman" panose="02020603050405020304" pitchFamily="18" charset="0"/>
              </a:rPr>
              <a:t>http://secure-login-alert.com reused across several emails.</a:t>
            </a:r>
          </a:p>
          <a:p>
            <a:pPr>
              <a:buNone/>
            </a:pPr>
            <a:endParaRPr lang="en-GB" sz="2400" dirty="0">
              <a:latin typeface="Times New Roman" panose="02020603050405020304" pitchFamily="18" charset="0"/>
              <a:cs typeface="Times New Roman" panose="02020603050405020304" pitchFamily="18" charset="0"/>
            </a:endParaRPr>
          </a:p>
          <a:p>
            <a:pPr>
              <a:buNone/>
            </a:pPr>
            <a:r>
              <a:rPr lang="en-GB" sz="2400" b="1" dirty="0">
                <a:latin typeface="Times New Roman" panose="02020603050405020304" pitchFamily="18" charset="0"/>
                <a:cs typeface="Times New Roman" panose="02020603050405020304" pitchFamily="18" charset="0"/>
              </a:rPr>
              <a:t>3. Sender Infrastructure Analysis</a:t>
            </a:r>
          </a:p>
          <a:p>
            <a:pPr marL="800100" lvl="1"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Detects repeated use of suspicious sender addresses or domains. </a:t>
            </a:r>
          </a:p>
          <a:p>
            <a:pPr marL="800100" lvl="1"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Uncovers spoofed or compromised accounts. </a:t>
            </a:r>
          </a:p>
          <a:p>
            <a:pPr>
              <a:buNone/>
            </a:pPr>
            <a:r>
              <a:rPr lang="en-GB" sz="2400" b="1" dirty="0">
                <a:latin typeface="Times New Roman" panose="02020603050405020304" pitchFamily="18" charset="0"/>
                <a:cs typeface="Times New Roman" panose="02020603050405020304" pitchFamily="18" charset="0"/>
              </a:rPr>
              <a:t>Example: </a:t>
            </a:r>
            <a:r>
              <a:rPr lang="en-GB" sz="2400" dirty="0">
                <a:latin typeface="Times New Roman" panose="02020603050405020304" pitchFamily="18" charset="0"/>
                <a:cs typeface="Times New Roman" panose="02020603050405020304" pitchFamily="18" charset="0"/>
              </a:rPr>
              <a:t>security-alert@gmail.com appearing in multiple messages.</a:t>
            </a:r>
          </a:p>
          <a:p>
            <a:pPr>
              <a:buNone/>
            </a:pP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7046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0B091-33DE-4819-3132-A404BDFAEAE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DADD74CF-618A-0034-10E2-7627F1037C35}"/>
              </a:ext>
            </a:extLst>
          </p:cNvPr>
          <p:cNvSpPr txBox="1"/>
          <p:nvPr/>
        </p:nvSpPr>
        <p:spPr>
          <a:xfrm>
            <a:off x="349044" y="287283"/>
            <a:ext cx="10642806" cy="584775"/>
          </a:xfrm>
          <a:prstGeom prst="rect">
            <a:avLst/>
          </a:prstGeom>
          <a:noFill/>
        </p:spPr>
        <p:txBody>
          <a:bodyPr wrap="square">
            <a:spAutoFit/>
          </a:bodyPr>
          <a:lstStyle/>
          <a:p>
            <a:r>
              <a:rPr lang="en-US" sz="3200" b="1" dirty="0">
                <a:latin typeface="Times New Roman" panose="02020603050405020304" pitchFamily="18" charset="0"/>
                <a:ea typeface="Calibri" pitchFamily="34" charset="-122"/>
                <a:cs typeface="Times New Roman" panose="02020603050405020304" pitchFamily="18" charset="0"/>
              </a:rPr>
              <a:t>DETECTION PIPELINE </a:t>
            </a:r>
            <a:endParaRPr lang="en-US" sz="3200" dirty="0">
              <a:latin typeface="Times New Roman" panose="02020603050405020304" pitchFamily="18" charset="0"/>
              <a:cs typeface="Times New Roman" panose="02020603050405020304" pitchFamily="18" charset="0"/>
            </a:endParaRPr>
          </a:p>
        </p:txBody>
      </p:sp>
      <p:grpSp>
        <p:nvGrpSpPr>
          <p:cNvPr id="61" name="Group 60">
            <a:extLst>
              <a:ext uri="{FF2B5EF4-FFF2-40B4-BE49-F238E27FC236}">
                <a16:creationId xmlns:a16="http://schemas.microsoft.com/office/drawing/2014/main" id="{FF91B972-EEE1-0F3F-BE72-4CB6AB0E8FFD}"/>
              </a:ext>
            </a:extLst>
          </p:cNvPr>
          <p:cNvGrpSpPr/>
          <p:nvPr/>
        </p:nvGrpSpPr>
        <p:grpSpPr>
          <a:xfrm>
            <a:off x="365759" y="1164010"/>
            <a:ext cx="10788015" cy="5274889"/>
            <a:chOff x="365759" y="1164011"/>
            <a:chExt cx="10788015" cy="4543896"/>
          </a:xfrm>
        </p:grpSpPr>
        <p:sp>
          <p:nvSpPr>
            <p:cNvPr id="2" name="Shape 7">
              <a:extLst>
                <a:ext uri="{FF2B5EF4-FFF2-40B4-BE49-F238E27FC236}">
                  <a16:creationId xmlns:a16="http://schemas.microsoft.com/office/drawing/2014/main" id="{F28CF25B-75AA-8854-67A1-2C5EC50EDBF8}"/>
                </a:ext>
              </a:extLst>
            </p:cNvPr>
            <p:cNvSpPr/>
            <p:nvPr/>
          </p:nvSpPr>
          <p:spPr>
            <a:xfrm>
              <a:off x="365759" y="1517903"/>
              <a:ext cx="1618202" cy="1282654"/>
            </a:xfrm>
            <a:prstGeom prst="rect">
              <a:avLst/>
            </a:prstGeom>
            <a:solidFill>
              <a:srgbClr val="112B47"/>
            </a:solidFill>
            <a:ln w="12700">
              <a:solidFill>
                <a:srgbClr val="00B4D8"/>
              </a:solidFill>
              <a:prstDash val="solid"/>
            </a:ln>
            <a:effectLst>
              <a:outerShdw blurRad="63500" dist="25400" dir="8100000" algn="bl" rotWithShape="0">
                <a:srgbClr val="000000">
                  <a:alpha val="20000"/>
                </a:srgbClr>
              </a:outerShdw>
            </a:effectLst>
          </p:spPr>
        </p:sp>
        <p:sp>
          <p:nvSpPr>
            <p:cNvPr id="3" name="Text 8">
              <a:extLst>
                <a:ext uri="{FF2B5EF4-FFF2-40B4-BE49-F238E27FC236}">
                  <a16:creationId xmlns:a16="http://schemas.microsoft.com/office/drawing/2014/main" id="{1CC2F952-85C4-EE34-9852-C54D919A1F86}"/>
                </a:ext>
              </a:extLst>
            </p:cNvPr>
            <p:cNvSpPr/>
            <p:nvPr/>
          </p:nvSpPr>
          <p:spPr>
            <a:xfrm>
              <a:off x="365759" y="1517903"/>
              <a:ext cx="1618202" cy="1282654"/>
            </a:xfrm>
            <a:prstGeom prst="rect">
              <a:avLst/>
            </a:prstGeom>
            <a:noFill/>
            <a:ln/>
          </p:spPr>
          <p:txBody>
            <a:bodyPr wrap="square" rtlCol="0" anchor="ctr"/>
            <a:lstStyle/>
            <a:p>
              <a:pPr marL="0" indent="0" algn="ctr">
                <a:buNone/>
              </a:pPr>
              <a:r>
                <a:rPr lang="en-US" dirty="0">
                  <a:solidFill>
                    <a:srgbClr val="FFFFFF"/>
                  </a:solidFill>
                  <a:latin typeface="Times New Roman" panose="02020603050405020304" pitchFamily="18" charset="0"/>
                  <a:ea typeface="Calibri" pitchFamily="34" charset="-122"/>
                  <a:cs typeface="Times New Roman" panose="02020603050405020304" pitchFamily="18" charset="0"/>
                </a:rPr>
                <a:t>.eml Input</a:t>
              </a:r>
              <a:endParaRPr lang="en-US" dirty="0">
                <a:latin typeface="Times New Roman" panose="02020603050405020304" pitchFamily="18" charset="0"/>
                <a:cs typeface="Times New Roman" panose="02020603050405020304" pitchFamily="18" charset="0"/>
              </a:endParaRPr>
            </a:p>
          </p:txBody>
        </p:sp>
        <p:sp>
          <p:nvSpPr>
            <p:cNvPr id="5" name="Shape 9">
              <a:extLst>
                <a:ext uri="{FF2B5EF4-FFF2-40B4-BE49-F238E27FC236}">
                  <a16:creationId xmlns:a16="http://schemas.microsoft.com/office/drawing/2014/main" id="{00BDE876-E1BE-478C-7AD8-91D12E3FD6C9}"/>
                </a:ext>
              </a:extLst>
            </p:cNvPr>
            <p:cNvSpPr/>
            <p:nvPr/>
          </p:nvSpPr>
          <p:spPr>
            <a:xfrm>
              <a:off x="1983961" y="2059468"/>
              <a:ext cx="187618" cy="199524"/>
            </a:xfrm>
            <a:prstGeom prst="rect">
              <a:avLst/>
            </a:prstGeom>
            <a:solidFill>
              <a:srgbClr val="00B4D8"/>
            </a:solidFill>
            <a:ln w="12700">
              <a:solidFill>
                <a:srgbClr val="00B4D8"/>
              </a:solidFill>
              <a:prstDash val="solid"/>
            </a:ln>
          </p:spPr>
        </p:sp>
        <p:sp>
          <p:nvSpPr>
            <p:cNvPr id="6" name="Shape 10">
              <a:extLst>
                <a:ext uri="{FF2B5EF4-FFF2-40B4-BE49-F238E27FC236}">
                  <a16:creationId xmlns:a16="http://schemas.microsoft.com/office/drawing/2014/main" id="{3004D9AD-3F48-6A0B-40AE-BD1B97593392}"/>
                </a:ext>
              </a:extLst>
            </p:cNvPr>
            <p:cNvSpPr/>
            <p:nvPr/>
          </p:nvSpPr>
          <p:spPr>
            <a:xfrm>
              <a:off x="2171579" y="1517903"/>
              <a:ext cx="1618202" cy="1282654"/>
            </a:xfrm>
            <a:prstGeom prst="rect">
              <a:avLst/>
            </a:prstGeom>
            <a:solidFill>
              <a:srgbClr val="112B47"/>
            </a:solidFill>
            <a:ln w="12700">
              <a:solidFill>
                <a:srgbClr val="00B4D8"/>
              </a:solidFill>
              <a:prstDash val="solid"/>
            </a:ln>
            <a:effectLst>
              <a:outerShdw blurRad="63500" dist="25400" dir="8100000" algn="bl" rotWithShape="0">
                <a:srgbClr val="000000">
                  <a:alpha val="20000"/>
                </a:srgbClr>
              </a:outerShdw>
            </a:effectLst>
          </p:spPr>
        </p:sp>
        <p:sp>
          <p:nvSpPr>
            <p:cNvPr id="7" name="Text 11">
              <a:extLst>
                <a:ext uri="{FF2B5EF4-FFF2-40B4-BE49-F238E27FC236}">
                  <a16:creationId xmlns:a16="http://schemas.microsoft.com/office/drawing/2014/main" id="{7A3C2150-F1A4-46EA-8440-15DD7BFD0CD0}"/>
                </a:ext>
              </a:extLst>
            </p:cNvPr>
            <p:cNvSpPr/>
            <p:nvPr/>
          </p:nvSpPr>
          <p:spPr>
            <a:xfrm>
              <a:off x="2171579" y="1517903"/>
              <a:ext cx="1618202" cy="1282654"/>
            </a:xfrm>
            <a:prstGeom prst="rect">
              <a:avLst/>
            </a:prstGeom>
            <a:noFill/>
            <a:ln/>
          </p:spPr>
          <p:txBody>
            <a:bodyPr wrap="square" rtlCol="0" anchor="ctr"/>
            <a:lstStyle/>
            <a:p>
              <a:pPr marL="0" indent="0" algn="ctr">
                <a:buNone/>
              </a:pPr>
              <a:r>
                <a:rPr lang="en-US" dirty="0">
                  <a:solidFill>
                    <a:srgbClr val="FFFFFF"/>
                  </a:solidFill>
                  <a:latin typeface="Times New Roman" panose="02020603050405020304" pitchFamily="18" charset="0"/>
                  <a:ea typeface="Calibri" pitchFamily="34" charset="-122"/>
                  <a:cs typeface="Times New Roman" panose="02020603050405020304" pitchFamily="18" charset="0"/>
                </a:rPr>
                <a:t>Parse Headers</a:t>
              </a:r>
              <a:endParaRPr lang="en-US" dirty="0">
                <a:latin typeface="Times New Roman" panose="02020603050405020304" pitchFamily="18" charset="0"/>
                <a:cs typeface="Times New Roman" panose="02020603050405020304" pitchFamily="18" charset="0"/>
              </a:endParaRPr>
            </a:p>
            <a:p>
              <a:pPr marL="0" indent="0" algn="ctr">
                <a:buNone/>
              </a:pPr>
              <a:r>
                <a:rPr lang="en-US" dirty="0">
                  <a:solidFill>
                    <a:srgbClr val="FFFFFF"/>
                  </a:solidFill>
                  <a:latin typeface="Times New Roman" panose="02020603050405020304" pitchFamily="18" charset="0"/>
                  <a:ea typeface="Calibri" pitchFamily="34" charset="-122"/>
                  <a:cs typeface="Times New Roman" panose="02020603050405020304" pitchFamily="18" charset="0"/>
                </a:rPr>
                <a:t>&amp; Body</a:t>
              </a:r>
              <a:endParaRPr lang="en-US" dirty="0">
                <a:latin typeface="Times New Roman" panose="02020603050405020304" pitchFamily="18" charset="0"/>
                <a:cs typeface="Times New Roman" panose="02020603050405020304" pitchFamily="18" charset="0"/>
              </a:endParaRPr>
            </a:p>
          </p:txBody>
        </p:sp>
        <p:sp>
          <p:nvSpPr>
            <p:cNvPr id="9" name="Shape 12">
              <a:extLst>
                <a:ext uri="{FF2B5EF4-FFF2-40B4-BE49-F238E27FC236}">
                  <a16:creationId xmlns:a16="http://schemas.microsoft.com/office/drawing/2014/main" id="{A0BBB139-822D-C560-E568-60E9F76A3D3F}"/>
                </a:ext>
              </a:extLst>
            </p:cNvPr>
            <p:cNvSpPr/>
            <p:nvPr/>
          </p:nvSpPr>
          <p:spPr>
            <a:xfrm>
              <a:off x="3789781" y="2059468"/>
              <a:ext cx="187618" cy="199524"/>
            </a:xfrm>
            <a:prstGeom prst="rect">
              <a:avLst/>
            </a:prstGeom>
            <a:solidFill>
              <a:srgbClr val="00B4D8"/>
            </a:solidFill>
            <a:ln w="12700">
              <a:solidFill>
                <a:srgbClr val="00B4D8"/>
              </a:solidFill>
              <a:prstDash val="solid"/>
            </a:ln>
          </p:spPr>
        </p:sp>
        <p:sp>
          <p:nvSpPr>
            <p:cNvPr id="10" name="Shape 13">
              <a:extLst>
                <a:ext uri="{FF2B5EF4-FFF2-40B4-BE49-F238E27FC236}">
                  <a16:creationId xmlns:a16="http://schemas.microsoft.com/office/drawing/2014/main" id="{53E8C1E6-F8D4-C5AA-51B9-B75F7920A8AC}"/>
                </a:ext>
              </a:extLst>
            </p:cNvPr>
            <p:cNvSpPr/>
            <p:nvPr/>
          </p:nvSpPr>
          <p:spPr>
            <a:xfrm>
              <a:off x="3977399" y="1517903"/>
              <a:ext cx="1618202" cy="1282654"/>
            </a:xfrm>
            <a:prstGeom prst="rect">
              <a:avLst/>
            </a:prstGeom>
            <a:solidFill>
              <a:srgbClr val="112B47"/>
            </a:solidFill>
            <a:ln w="12700">
              <a:solidFill>
                <a:srgbClr val="00B4D8"/>
              </a:solidFill>
              <a:prstDash val="solid"/>
            </a:ln>
            <a:effectLst>
              <a:outerShdw blurRad="63500" dist="25400" dir="8100000" algn="bl" rotWithShape="0">
                <a:srgbClr val="000000">
                  <a:alpha val="20000"/>
                </a:srgbClr>
              </a:outerShdw>
            </a:effectLst>
          </p:spPr>
        </p:sp>
        <p:sp>
          <p:nvSpPr>
            <p:cNvPr id="11" name="Text 14">
              <a:extLst>
                <a:ext uri="{FF2B5EF4-FFF2-40B4-BE49-F238E27FC236}">
                  <a16:creationId xmlns:a16="http://schemas.microsoft.com/office/drawing/2014/main" id="{7E27F1E0-85C6-87F2-77CA-CFEF6AD0A662}"/>
                </a:ext>
              </a:extLst>
            </p:cNvPr>
            <p:cNvSpPr/>
            <p:nvPr/>
          </p:nvSpPr>
          <p:spPr>
            <a:xfrm>
              <a:off x="3977399" y="1517903"/>
              <a:ext cx="1618202" cy="1282654"/>
            </a:xfrm>
            <a:prstGeom prst="rect">
              <a:avLst/>
            </a:prstGeom>
            <a:noFill/>
            <a:ln/>
          </p:spPr>
          <p:txBody>
            <a:bodyPr wrap="square" rtlCol="0" anchor="ctr"/>
            <a:lstStyle/>
            <a:p>
              <a:pPr marL="0" indent="0" algn="ctr">
                <a:buNone/>
              </a:pPr>
              <a:r>
                <a:rPr lang="en-US" dirty="0">
                  <a:solidFill>
                    <a:srgbClr val="FFFFFF"/>
                  </a:solidFill>
                  <a:latin typeface="Times New Roman" panose="02020603050405020304" pitchFamily="18" charset="0"/>
                  <a:ea typeface="Calibri" pitchFamily="34" charset="-122"/>
                  <a:cs typeface="Times New Roman" panose="02020603050405020304" pitchFamily="18" charset="0"/>
                </a:rPr>
                <a:t>Run 12</a:t>
              </a:r>
              <a:endParaRPr lang="en-US" dirty="0">
                <a:latin typeface="Times New Roman" panose="02020603050405020304" pitchFamily="18" charset="0"/>
                <a:cs typeface="Times New Roman" panose="02020603050405020304" pitchFamily="18" charset="0"/>
              </a:endParaRPr>
            </a:p>
            <a:p>
              <a:pPr marL="0" indent="0" algn="ctr">
                <a:buNone/>
              </a:pPr>
              <a:r>
                <a:rPr lang="en-US" dirty="0">
                  <a:solidFill>
                    <a:srgbClr val="FFFFFF"/>
                  </a:solidFill>
                  <a:latin typeface="Times New Roman" panose="02020603050405020304" pitchFamily="18" charset="0"/>
                  <a:ea typeface="Calibri" pitchFamily="34" charset="-122"/>
                  <a:cs typeface="Times New Roman" panose="02020603050405020304" pitchFamily="18" charset="0"/>
                </a:rPr>
                <a:t>Detectors</a:t>
              </a:r>
              <a:endParaRPr lang="en-US" dirty="0">
                <a:latin typeface="Times New Roman" panose="02020603050405020304" pitchFamily="18" charset="0"/>
                <a:cs typeface="Times New Roman" panose="02020603050405020304" pitchFamily="18" charset="0"/>
              </a:endParaRPr>
            </a:p>
          </p:txBody>
        </p:sp>
        <p:sp>
          <p:nvSpPr>
            <p:cNvPr id="12" name="Shape 15">
              <a:extLst>
                <a:ext uri="{FF2B5EF4-FFF2-40B4-BE49-F238E27FC236}">
                  <a16:creationId xmlns:a16="http://schemas.microsoft.com/office/drawing/2014/main" id="{A372EC8A-88B9-F634-9F97-48842DA7D490}"/>
                </a:ext>
              </a:extLst>
            </p:cNvPr>
            <p:cNvSpPr/>
            <p:nvPr/>
          </p:nvSpPr>
          <p:spPr>
            <a:xfrm>
              <a:off x="5595601" y="2059468"/>
              <a:ext cx="187618" cy="199524"/>
            </a:xfrm>
            <a:prstGeom prst="rect">
              <a:avLst/>
            </a:prstGeom>
            <a:solidFill>
              <a:srgbClr val="00B4D8"/>
            </a:solidFill>
            <a:ln w="12700">
              <a:solidFill>
                <a:srgbClr val="00B4D8"/>
              </a:solidFill>
              <a:prstDash val="solid"/>
            </a:ln>
          </p:spPr>
        </p:sp>
        <p:sp>
          <p:nvSpPr>
            <p:cNvPr id="13" name="Shape 16">
              <a:extLst>
                <a:ext uri="{FF2B5EF4-FFF2-40B4-BE49-F238E27FC236}">
                  <a16:creationId xmlns:a16="http://schemas.microsoft.com/office/drawing/2014/main" id="{C2DD2768-3606-F70E-F714-F185CF06E836}"/>
                </a:ext>
              </a:extLst>
            </p:cNvPr>
            <p:cNvSpPr/>
            <p:nvPr/>
          </p:nvSpPr>
          <p:spPr>
            <a:xfrm>
              <a:off x="5783219" y="1517903"/>
              <a:ext cx="1618202" cy="1282654"/>
            </a:xfrm>
            <a:prstGeom prst="rect">
              <a:avLst/>
            </a:prstGeom>
            <a:solidFill>
              <a:srgbClr val="112B47"/>
            </a:solidFill>
            <a:ln w="12700">
              <a:solidFill>
                <a:srgbClr val="00B4D8"/>
              </a:solidFill>
              <a:prstDash val="solid"/>
            </a:ln>
            <a:effectLst>
              <a:outerShdw blurRad="63500" dist="25400" dir="8100000" algn="bl" rotWithShape="0">
                <a:srgbClr val="000000">
                  <a:alpha val="20000"/>
                </a:srgbClr>
              </a:outerShdw>
            </a:effectLst>
          </p:spPr>
        </p:sp>
        <p:sp>
          <p:nvSpPr>
            <p:cNvPr id="14" name="Text 17">
              <a:extLst>
                <a:ext uri="{FF2B5EF4-FFF2-40B4-BE49-F238E27FC236}">
                  <a16:creationId xmlns:a16="http://schemas.microsoft.com/office/drawing/2014/main" id="{76B8D2F8-2974-F897-7461-C9CAD2AE9560}"/>
                </a:ext>
              </a:extLst>
            </p:cNvPr>
            <p:cNvSpPr/>
            <p:nvPr/>
          </p:nvSpPr>
          <p:spPr>
            <a:xfrm>
              <a:off x="5783219" y="1517903"/>
              <a:ext cx="1618202" cy="1282654"/>
            </a:xfrm>
            <a:prstGeom prst="rect">
              <a:avLst/>
            </a:prstGeom>
            <a:noFill/>
            <a:ln/>
          </p:spPr>
          <p:txBody>
            <a:bodyPr wrap="square" rtlCol="0" anchor="ctr"/>
            <a:lstStyle/>
            <a:p>
              <a:pPr marL="0" indent="0" algn="ctr">
                <a:buNone/>
              </a:pPr>
              <a:r>
                <a:rPr lang="en-US" dirty="0">
                  <a:solidFill>
                    <a:srgbClr val="FFFFFF"/>
                  </a:solidFill>
                  <a:latin typeface="Times New Roman" panose="02020603050405020304" pitchFamily="18" charset="0"/>
                  <a:ea typeface="Calibri" pitchFamily="34" charset="-122"/>
                  <a:cs typeface="Times New Roman" panose="02020603050405020304" pitchFamily="18" charset="0"/>
                </a:rPr>
                <a:t>Weight</a:t>
              </a:r>
              <a:endParaRPr lang="en-US" dirty="0">
                <a:latin typeface="Times New Roman" panose="02020603050405020304" pitchFamily="18" charset="0"/>
                <a:cs typeface="Times New Roman" panose="02020603050405020304" pitchFamily="18" charset="0"/>
              </a:endParaRPr>
            </a:p>
            <a:p>
              <a:pPr marL="0" indent="0" algn="ctr">
                <a:buNone/>
              </a:pPr>
              <a:r>
                <a:rPr lang="en-US" dirty="0">
                  <a:solidFill>
                    <a:srgbClr val="FFFFFF"/>
                  </a:solidFill>
                  <a:latin typeface="Times New Roman" panose="02020603050405020304" pitchFamily="18" charset="0"/>
                  <a:ea typeface="Calibri" pitchFamily="34" charset="-122"/>
                  <a:cs typeface="Times New Roman" panose="02020603050405020304" pitchFamily="18" charset="0"/>
                </a:rPr>
                <a:t>Scoring</a:t>
              </a:r>
              <a:endParaRPr lang="en-US" dirty="0">
                <a:latin typeface="Times New Roman" panose="02020603050405020304" pitchFamily="18" charset="0"/>
                <a:cs typeface="Times New Roman" panose="02020603050405020304" pitchFamily="18" charset="0"/>
              </a:endParaRPr>
            </a:p>
          </p:txBody>
        </p:sp>
        <p:sp>
          <p:nvSpPr>
            <p:cNvPr id="15" name="Shape 18">
              <a:extLst>
                <a:ext uri="{FF2B5EF4-FFF2-40B4-BE49-F238E27FC236}">
                  <a16:creationId xmlns:a16="http://schemas.microsoft.com/office/drawing/2014/main" id="{0D05DFC1-4124-154B-1CE6-BE1362F87D2E}"/>
                </a:ext>
              </a:extLst>
            </p:cNvPr>
            <p:cNvSpPr/>
            <p:nvPr/>
          </p:nvSpPr>
          <p:spPr>
            <a:xfrm>
              <a:off x="7401421" y="2059468"/>
              <a:ext cx="187618" cy="199524"/>
            </a:xfrm>
            <a:prstGeom prst="rect">
              <a:avLst/>
            </a:prstGeom>
            <a:solidFill>
              <a:srgbClr val="00B4D8"/>
            </a:solidFill>
            <a:ln w="12700">
              <a:solidFill>
                <a:srgbClr val="00B4D8"/>
              </a:solidFill>
              <a:prstDash val="solid"/>
            </a:ln>
          </p:spPr>
        </p:sp>
        <p:sp>
          <p:nvSpPr>
            <p:cNvPr id="16" name="Shape 19">
              <a:extLst>
                <a:ext uri="{FF2B5EF4-FFF2-40B4-BE49-F238E27FC236}">
                  <a16:creationId xmlns:a16="http://schemas.microsoft.com/office/drawing/2014/main" id="{5E1C47FF-FBA8-16CA-831B-398C3AF44A7D}"/>
                </a:ext>
              </a:extLst>
            </p:cNvPr>
            <p:cNvSpPr/>
            <p:nvPr/>
          </p:nvSpPr>
          <p:spPr>
            <a:xfrm>
              <a:off x="7589039" y="1517903"/>
              <a:ext cx="1618202" cy="1282654"/>
            </a:xfrm>
            <a:prstGeom prst="rect">
              <a:avLst/>
            </a:prstGeom>
            <a:solidFill>
              <a:srgbClr val="112B47"/>
            </a:solidFill>
            <a:ln w="12700">
              <a:solidFill>
                <a:srgbClr val="00B4D8"/>
              </a:solidFill>
              <a:prstDash val="solid"/>
            </a:ln>
            <a:effectLst>
              <a:outerShdw blurRad="63500" dist="25400" dir="8100000" algn="bl" rotWithShape="0">
                <a:srgbClr val="000000">
                  <a:alpha val="20000"/>
                </a:srgbClr>
              </a:outerShdw>
            </a:effectLst>
          </p:spPr>
        </p:sp>
        <p:sp>
          <p:nvSpPr>
            <p:cNvPr id="17" name="Text 20">
              <a:extLst>
                <a:ext uri="{FF2B5EF4-FFF2-40B4-BE49-F238E27FC236}">
                  <a16:creationId xmlns:a16="http://schemas.microsoft.com/office/drawing/2014/main" id="{98E0D7A9-A952-B8DE-3CE5-9B2376C7E19E}"/>
                </a:ext>
              </a:extLst>
            </p:cNvPr>
            <p:cNvSpPr/>
            <p:nvPr/>
          </p:nvSpPr>
          <p:spPr>
            <a:xfrm>
              <a:off x="7589039" y="1517903"/>
              <a:ext cx="1618202" cy="1282654"/>
            </a:xfrm>
            <a:prstGeom prst="rect">
              <a:avLst/>
            </a:prstGeom>
            <a:noFill/>
            <a:ln/>
          </p:spPr>
          <p:txBody>
            <a:bodyPr wrap="square" rtlCol="0" anchor="ctr"/>
            <a:lstStyle/>
            <a:p>
              <a:pPr marL="0" indent="0" algn="ctr">
                <a:buNone/>
              </a:pPr>
              <a:r>
                <a:rPr lang="en-US" dirty="0">
                  <a:solidFill>
                    <a:srgbClr val="FFFFFF"/>
                  </a:solidFill>
                  <a:latin typeface="Times New Roman" panose="02020603050405020304" pitchFamily="18" charset="0"/>
                  <a:ea typeface="Calibri" pitchFamily="34" charset="-122"/>
                  <a:cs typeface="Times New Roman" panose="02020603050405020304" pitchFamily="18" charset="0"/>
                </a:rPr>
                <a:t>Severity</a:t>
              </a:r>
              <a:endParaRPr lang="en-US" dirty="0">
                <a:latin typeface="Times New Roman" panose="02020603050405020304" pitchFamily="18" charset="0"/>
                <a:cs typeface="Times New Roman" panose="02020603050405020304" pitchFamily="18" charset="0"/>
              </a:endParaRPr>
            </a:p>
            <a:p>
              <a:pPr marL="0" indent="0" algn="ctr">
                <a:buNone/>
              </a:pPr>
              <a:r>
                <a:rPr lang="en-US" dirty="0">
                  <a:solidFill>
                    <a:srgbClr val="FFFFFF"/>
                  </a:solidFill>
                  <a:latin typeface="Times New Roman" panose="02020603050405020304" pitchFamily="18" charset="0"/>
                  <a:ea typeface="Calibri" pitchFamily="34" charset="-122"/>
                  <a:cs typeface="Times New Roman" panose="02020603050405020304" pitchFamily="18" charset="0"/>
                </a:rPr>
                <a:t>Label</a:t>
              </a:r>
              <a:endParaRPr lang="en-US" dirty="0">
                <a:latin typeface="Times New Roman" panose="02020603050405020304" pitchFamily="18" charset="0"/>
                <a:cs typeface="Times New Roman" panose="02020603050405020304" pitchFamily="18" charset="0"/>
              </a:endParaRPr>
            </a:p>
          </p:txBody>
        </p:sp>
        <p:sp>
          <p:nvSpPr>
            <p:cNvPr id="18" name="Shape 21">
              <a:extLst>
                <a:ext uri="{FF2B5EF4-FFF2-40B4-BE49-F238E27FC236}">
                  <a16:creationId xmlns:a16="http://schemas.microsoft.com/office/drawing/2014/main" id="{B65812EB-C867-A8CC-4873-F96CDE57BEE1}"/>
                </a:ext>
              </a:extLst>
            </p:cNvPr>
            <p:cNvSpPr/>
            <p:nvPr/>
          </p:nvSpPr>
          <p:spPr>
            <a:xfrm>
              <a:off x="9207241" y="2059468"/>
              <a:ext cx="187618" cy="199524"/>
            </a:xfrm>
            <a:prstGeom prst="rect">
              <a:avLst/>
            </a:prstGeom>
            <a:solidFill>
              <a:srgbClr val="00B4D8"/>
            </a:solidFill>
            <a:ln w="12700">
              <a:solidFill>
                <a:srgbClr val="00B4D8"/>
              </a:solidFill>
              <a:prstDash val="solid"/>
            </a:ln>
          </p:spPr>
        </p:sp>
        <p:sp>
          <p:nvSpPr>
            <p:cNvPr id="19" name="Shape 22">
              <a:extLst>
                <a:ext uri="{FF2B5EF4-FFF2-40B4-BE49-F238E27FC236}">
                  <a16:creationId xmlns:a16="http://schemas.microsoft.com/office/drawing/2014/main" id="{90441E73-7E5B-FAB1-9446-A87A221A81CE}"/>
                </a:ext>
              </a:extLst>
            </p:cNvPr>
            <p:cNvSpPr/>
            <p:nvPr/>
          </p:nvSpPr>
          <p:spPr>
            <a:xfrm>
              <a:off x="9394859" y="1517903"/>
              <a:ext cx="1618202" cy="1282654"/>
            </a:xfrm>
            <a:prstGeom prst="rect">
              <a:avLst/>
            </a:prstGeom>
            <a:solidFill>
              <a:srgbClr val="00B4D8"/>
            </a:solidFill>
            <a:ln w="12700">
              <a:solidFill>
                <a:srgbClr val="00B4D8"/>
              </a:solidFill>
              <a:prstDash val="solid"/>
            </a:ln>
            <a:effectLst>
              <a:outerShdw blurRad="63500" dist="25400" dir="8100000" algn="bl" rotWithShape="0">
                <a:srgbClr val="000000">
                  <a:alpha val="20000"/>
                </a:srgbClr>
              </a:outerShdw>
            </a:effectLst>
          </p:spPr>
        </p:sp>
        <p:sp>
          <p:nvSpPr>
            <p:cNvPr id="20" name="Text 23">
              <a:extLst>
                <a:ext uri="{FF2B5EF4-FFF2-40B4-BE49-F238E27FC236}">
                  <a16:creationId xmlns:a16="http://schemas.microsoft.com/office/drawing/2014/main" id="{D6E52318-CEBB-5588-C024-1A4E330F4ADE}"/>
                </a:ext>
              </a:extLst>
            </p:cNvPr>
            <p:cNvSpPr/>
            <p:nvPr/>
          </p:nvSpPr>
          <p:spPr>
            <a:xfrm>
              <a:off x="9394859" y="1517903"/>
              <a:ext cx="1618202" cy="1282654"/>
            </a:xfrm>
            <a:prstGeom prst="rect">
              <a:avLst/>
            </a:prstGeom>
            <a:noFill/>
            <a:ln/>
          </p:spPr>
          <p:txBody>
            <a:bodyPr wrap="square" rtlCol="0" anchor="ctr"/>
            <a:lstStyle/>
            <a:p>
              <a:pPr marL="0" indent="0" algn="ctr">
                <a:buNone/>
              </a:pPr>
              <a:r>
                <a:rPr lang="en-US" b="1" dirty="0">
                  <a:solidFill>
                    <a:srgbClr val="060F1E"/>
                  </a:solidFill>
                  <a:latin typeface="Times New Roman" panose="02020603050405020304" pitchFamily="18" charset="0"/>
                  <a:ea typeface="Calibri" pitchFamily="34" charset="-122"/>
                  <a:cs typeface="Times New Roman" panose="02020603050405020304" pitchFamily="18" charset="0"/>
                </a:rPr>
                <a:t>Alert</a:t>
              </a:r>
              <a:endParaRPr lang="en-US" dirty="0">
                <a:latin typeface="Times New Roman" panose="02020603050405020304" pitchFamily="18" charset="0"/>
                <a:cs typeface="Times New Roman" panose="02020603050405020304" pitchFamily="18" charset="0"/>
              </a:endParaRPr>
            </a:p>
            <a:p>
              <a:pPr marL="0" indent="0" algn="ctr">
                <a:buNone/>
              </a:pPr>
              <a:r>
                <a:rPr lang="en-US" b="1" dirty="0">
                  <a:solidFill>
                    <a:srgbClr val="060F1E"/>
                  </a:solidFill>
                  <a:latin typeface="Times New Roman" panose="02020603050405020304" pitchFamily="18" charset="0"/>
                  <a:ea typeface="Calibri" pitchFamily="34" charset="-122"/>
                  <a:cs typeface="Times New Roman" panose="02020603050405020304" pitchFamily="18" charset="0"/>
                </a:rPr>
                <a:t>Report</a:t>
              </a:r>
              <a:endParaRPr lang="en-US" dirty="0">
                <a:latin typeface="Times New Roman" panose="02020603050405020304" pitchFamily="18" charset="0"/>
                <a:cs typeface="Times New Roman" panose="02020603050405020304" pitchFamily="18" charset="0"/>
              </a:endParaRPr>
            </a:p>
          </p:txBody>
        </p:sp>
        <p:sp>
          <p:nvSpPr>
            <p:cNvPr id="21" name="Shape 24">
              <a:extLst>
                <a:ext uri="{FF2B5EF4-FFF2-40B4-BE49-F238E27FC236}">
                  <a16:creationId xmlns:a16="http://schemas.microsoft.com/office/drawing/2014/main" id="{98537850-99AC-96BF-1488-C0B86F85DF76}"/>
                </a:ext>
              </a:extLst>
            </p:cNvPr>
            <p:cNvSpPr/>
            <p:nvPr/>
          </p:nvSpPr>
          <p:spPr>
            <a:xfrm>
              <a:off x="365759" y="3028585"/>
              <a:ext cx="2134151" cy="456055"/>
            </a:xfrm>
            <a:prstGeom prst="rect">
              <a:avLst/>
            </a:prstGeom>
            <a:solidFill>
              <a:srgbClr val="2DC653"/>
            </a:solidFill>
            <a:ln w="12700">
              <a:solidFill>
                <a:srgbClr val="2DC653"/>
              </a:solidFill>
              <a:prstDash val="solid"/>
            </a:ln>
          </p:spPr>
        </p:sp>
        <p:sp>
          <p:nvSpPr>
            <p:cNvPr id="22" name="Text 25">
              <a:extLst>
                <a:ext uri="{FF2B5EF4-FFF2-40B4-BE49-F238E27FC236}">
                  <a16:creationId xmlns:a16="http://schemas.microsoft.com/office/drawing/2014/main" id="{06595C94-EEC2-1BDC-A479-B47C90FEA85B}"/>
                </a:ext>
              </a:extLst>
            </p:cNvPr>
            <p:cNvSpPr/>
            <p:nvPr/>
          </p:nvSpPr>
          <p:spPr>
            <a:xfrm>
              <a:off x="365759" y="3028585"/>
              <a:ext cx="2134151" cy="456055"/>
            </a:xfrm>
            <a:prstGeom prst="rect">
              <a:avLst/>
            </a:prstGeom>
            <a:noFill/>
            <a:ln/>
          </p:spPr>
          <p:txBody>
            <a:bodyPr wrap="square" lIns="0" tIns="0" rIns="0" bIns="0" rtlCol="0" anchor="ctr"/>
            <a:lstStyle/>
            <a:p>
              <a:pPr marL="0" indent="0" algn="ctr">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SAFE</a:t>
              </a:r>
              <a:endParaRPr lang="en-US" dirty="0">
                <a:latin typeface="Times New Roman" panose="02020603050405020304" pitchFamily="18" charset="0"/>
                <a:cs typeface="Times New Roman" panose="02020603050405020304" pitchFamily="18" charset="0"/>
              </a:endParaRPr>
            </a:p>
          </p:txBody>
        </p:sp>
        <p:sp>
          <p:nvSpPr>
            <p:cNvPr id="23" name="Shape 26">
              <a:extLst>
                <a:ext uri="{FF2B5EF4-FFF2-40B4-BE49-F238E27FC236}">
                  <a16:creationId xmlns:a16="http://schemas.microsoft.com/office/drawing/2014/main" id="{98F3C9EF-07CA-A2BB-331A-1C84127CE981}"/>
                </a:ext>
              </a:extLst>
            </p:cNvPr>
            <p:cNvSpPr/>
            <p:nvPr/>
          </p:nvSpPr>
          <p:spPr>
            <a:xfrm>
              <a:off x="2499910" y="3028585"/>
              <a:ext cx="2134151" cy="456055"/>
            </a:xfrm>
            <a:prstGeom prst="rect">
              <a:avLst/>
            </a:prstGeom>
            <a:solidFill>
              <a:srgbClr val="52B788"/>
            </a:solidFill>
            <a:ln w="12700">
              <a:solidFill>
                <a:srgbClr val="52B788"/>
              </a:solidFill>
              <a:prstDash val="solid"/>
            </a:ln>
          </p:spPr>
        </p:sp>
        <p:sp>
          <p:nvSpPr>
            <p:cNvPr id="24" name="Text 27">
              <a:extLst>
                <a:ext uri="{FF2B5EF4-FFF2-40B4-BE49-F238E27FC236}">
                  <a16:creationId xmlns:a16="http://schemas.microsoft.com/office/drawing/2014/main" id="{CFA74742-06EA-CCB8-2D3E-F20CC88E01BC}"/>
                </a:ext>
              </a:extLst>
            </p:cNvPr>
            <p:cNvSpPr/>
            <p:nvPr/>
          </p:nvSpPr>
          <p:spPr>
            <a:xfrm>
              <a:off x="2499910" y="3028585"/>
              <a:ext cx="2134151" cy="456055"/>
            </a:xfrm>
            <a:prstGeom prst="rect">
              <a:avLst/>
            </a:prstGeom>
            <a:noFill/>
            <a:ln/>
          </p:spPr>
          <p:txBody>
            <a:bodyPr wrap="square" lIns="0" tIns="0" rIns="0" bIns="0" rtlCol="0" anchor="ctr"/>
            <a:lstStyle/>
            <a:p>
              <a:pPr marL="0" indent="0" algn="ctr">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LOW</a:t>
              </a:r>
              <a:endParaRPr lang="en-US" dirty="0">
                <a:latin typeface="Times New Roman" panose="02020603050405020304" pitchFamily="18" charset="0"/>
                <a:cs typeface="Times New Roman" panose="02020603050405020304" pitchFamily="18" charset="0"/>
              </a:endParaRPr>
            </a:p>
          </p:txBody>
        </p:sp>
        <p:sp>
          <p:nvSpPr>
            <p:cNvPr id="25" name="Shape 28">
              <a:extLst>
                <a:ext uri="{FF2B5EF4-FFF2-40B4-BE49-F238E27FC236}">
                  <a16:creationId xmlns:a16="http://schemas.microsoft.com/office/drawing/2014/main" id="{1A6A6F5E-61E5-6B50-82AC-6807201C7563}"/>
                </a:ext>
              </a:extLst>
            </p:cNvPr>
            <p:cNvSpPr/>
            <p:nvPr/>
          </p:nvSpPr>
          <p:spPr>
            <a:xfrm>
              <a:off x="4634061" y="3028585"/>
              <a:ext cx="2134151" cy="456055"/>
            </a:xfrm>
            <a:prstGeom prst="rect">
              <a:avLst/>
            </a:prstGeom>
            <a:solidFill>
              <a:srgbClr val="F4A261"/>
            </a:solidFill>
            <a:ln w="12700">
              <a:solidFill>
                <a:srgbClr val="F4A261"/>
              </a:solidFill>
              <a:prstDash val="solid"/>
            </a:ln>
          </p:spPr>
        </p:sp>
        <p:sp>
          <p:nvSpPr>
            <p:cNvPr id="26" name="Text 29">
              <a:extLst>
                <a:ext uri="{FF2B5EF4-FFF2-40B4-BE49-F238E27FC236}">
                  <a16:creationId xmlns:a16="http://schemas.microsoft.com/office/drawing/2014/main" id="{052665D7-AF10-E2C0-73D1-744942BB3A15}"/>
                </a:ext>
              </a:extLst>
            </p:cNvPr>
            <p:cNvSpPr/>
            <p:nvPr/>
          </p:nvSpPr>
          <p:spPr>
            <a:xfrm>
              <a:off x="4634061" y="3028585"/>
              <a:ext cx="2134151" cy="456055"/>
            </a:xfrm>
            <a:prstGeom prst="rect">
              <a:avLst/>
            </a:prstGeom>
            <a:noFill/>
            <a:ln/>
          </p:spPr>
          <p:txBody>
            <a:bodyPr wrap="square" lIns="0" tIns="0" rIns="0" bIns="0" rtlCol="0" anchor="ctr"/>
            <a:lstStyle/>
            <a:p>
              <a:pPr marL="0" indent="0" algn="ctr">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MEDIUM</a:t>
              </a:r>
              <a:endParaRPr lang="en-US" dirty="0">
                <a:latin typeface="Times New Roman" panose="02020603050405020304" pitchFamily="18" charset="0"/>
                <a:cs typeface="Times New Roman" panose="02020603050405020304" pitchFamily="18" charset="0"/>
              </a:endParaRPr>
            </a:p>
          </p:txBody>
        </p:sp>
        <p:sp>
          <p:nvSpPr>
            <p:cNvPr id="27" name="Shape 30">
              <a:extLst>
                <a:ext uri="{FF2B5EF4-FFF2-40B4-BE49-F238E27FC236}">
                  <a16:creationId xmlns:a16="http://schemas.microsoft.com/office/drawing/2014/main" id="{DF032CF7-861B-D695-DBC4-FA1A80FD3995}"/>
                </a:ext>
              </a:extLst>
            </p:cNvPr>
            <p:cNvSpPr/>
            <p:nvPr/>
          </p:nvSpPr>
          <p:spPr>
            <a:xfrm>
              <a:off x="6768211" y="3028585"/>
              <a:ext cx="2134151" cy="456055"/>
            </a:xfrm>
            <a:prstGeom prst="rect">
              <a:avLst/>
            </a:prstGeom>
            <a:solidFill>
              <a:srgbClr val="E76F51"/>
            </a:solidFill>
            <a:ln w="12700">
              <a:solidFill>
                <a:srgbClr val="E76F51"/>
              </a:solidFill>
              <a:prstDash val="solid"/>
            </a:ln>
          </p:spPr>
        </p:sp>
        <p:sp>
          <p:nvSpPr>
            <p:cNvPr id="28" name="Text 31">
              <a:extLst>
                <a:ext uri="{FF2B5EF4-FFF2-40B4-BE49-F238E27FC236}">
                  <a16:creationId xmlns:a16="http://schemas.microsoft.com/office/drawing/2014/main" id="{71B741BF-6C69-48E0-459E-E48C2A6778F3}"/>
                </a:ext>
              </a:extLst>
            </p:cNvPr>
            <p:cNvSpPr/>
            <p:nvPr/>
          </p:nvSpPr>
          <p:spPr>
            <a:xfrm>
              <a:off x="6768211" y="3028585"/>
              <a:ext cx="2134151" cy="456055"/>
            </a:xfrm>
            <a:prstGeom prst="rect">
              <a:avLst/>
            </a:prstGeom>
            <a:noFill/>
            <a:ln/>
          </p:spPr>
          <p:txBody>
            <a:bodyPr wrap="square" lIns="0" tIns="0" rIns="0" bIns="0" rtlCol="0" anchor="ctr"/>
            <a:lstStyle/>
            <a:p>
              <a:pPr marL="0" indent="0" algn="ctr">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HIGH</a:t>
              </a:r>
              <a:endParaRPr lang="en-US" dirty="0">
                <a:latin typeface="Times New Roman" panose="02020603050405020304" pitchFamily="18" charset="0"/>
                <a:cs typeface="Times New Roman" panose="02020603050405020304" pitchFamily="18" charset="0"/>
              </a:endParaRPr>
            </a:p>
          </p:txBody>
        </p:sp>
        <p:sp>
          <p:nvSpPr>
            <p:cNvPr id="29" name="Shape 32">
              <a:extLst>
                <a:ext uri="{FF2B5EF4-FFF2-40B4-BE49-F238E27FC236}">
                  <a16:creationId xmlns:a16="http://schemas.microsoft.com/office/drawing/2014/main" id="{392F6A2D-2921-EF3E-AD5E-4DE91730951E}"/>
                </a:ext>
              </a:extLst>
            </p:cNvPr>
            <p:cNvSpPr/>
            <p:nvPr/>
          </p:nvSpPr>
          <p:spPr>
            <a:xfrm>
              <a:off x="8902362" y="3028585"/>
              <a:ext cx="2134151" cy="456055"/>
            </a:xfrm>
            <a:prstGeom prst="rect">
              <a:avLst/>
            </a:prstGeom>
            <a:solidFill>
              <a:srgbClr val="E63946"/>
            </a:solidFill>
            <a:ln w="12700">
              <a:solidFill>
                <a:srgbClr val="E63946"/>
              </a:solidFill>
              <a:prstDash val="solid"/>
            </a:ln>
          </p:spPr>
        </p:sp>
        <p:sp>
          <p:nvSpPr>
            <p:cNvPr id="30" name="Text 33">
              <a:extLst>
                <a:ext uri="{FF2B5EF4-FFF2-40B4-BE49-F238E27FC236}">
                  <a16:creationId xmlns:a16="http://schemas.microsoft.com/office/drawing/2014/main" id="{02808138-3F23-6733-0ECD-88577D19CE7B}"/>
                </a:ext>
              </a:extLst>
            </p:cNvPr>
            <p:cNvSpPr/>
            <p:nvPr/>
          </p:nvSpPr>
          <p:spPr>
            <a:xfrm>
              <a:off x="8902362" y="3028585"/>
              <a:ext cx="2134151" cy="456055"/>
            </a:xfrm>
            <a:prstGeom prst="rect">
              <a:avLst/>
            </a:prstGeom>
            <a:noFill/>
            <a:ln/>
          </p:spPr>
          <p:txBody>
            <a:bodyPr wrap="square" lIns="0" tIns="0" rIns="0" bIns="0" rtlCol="0" anchor="ctr"/>
            <a:lstStyle/>
            <a:p>
              <a:pPr marL="0" indent="0" algn="ctr">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CRITICAL</a:t>
              </a:r>
              <a:endParaRPr lang="en-US" dirty="0">
                <a:latin typeface="Times New Roman" panose="02020603050405020304" pitchFamily="18" charset="0"/>
                <a:cs typeface="Times New Roman" panose="02020603050405020304" pitchFamily="18" charset="0"/>
              </a:endParaRPr>
            </a:p>
          </p:txBody>
        </p:sp>
        <p:sp>
          <p:nvSpPr>
            <p:cNvPr id="31" name="Text 34">
              <a:extLst>
                <a:ext uri="{FF2B5EF4-FFF2-40B4-BE49-F238E27FC236}">
                  <a16:creationId xmlns:a16="http://schemas.microsoft.com/office/drawing/2014/main" id="{CD3A8049-B1D4-74EE-28F0-C141AAB0E800}"/>
                </a:ext>
              </a:extLst>
            </p:cNvPr>
            <p:cNvSpPr/>
            <p:nvPr/>
          </p:nvSpPr>
          <p:spPr>
            <a:xfrm>
              <a:off x="365759" y="3513143"/>
              <a:ext cx="939166" cy="313538"/>
            </a:xfrm>
            <a:prstGeom prst="rect">
              <a:avLst/>
            </a:prstGeom>
            <a:noFill/>
            <a:ln/>
          </p:spPr>
          <p:txBody>
            <a:bodyPr wrap="square" lIns="0" tIns="0" rIns="0" bIns="0" rtlCol="0" anchor="ctr"/>
            <a:lstStyle/>
            <a:p>
              <a:pPr marL="0" indent="0">
                <a:buNone/>
              </a:pPr>
              <a:r>
                <a:rPr lang="en-US" dirty="0">
                  <a:solidFill>
                    <a:srgbClr val="5A8FAA"/>
                  </a:solidFill>
                  <a:latin typeface="Times New Roman" panose="02020603050405020304" pitchFamily="18" charset="0"/>
                  <a:ea typeface="Calibri" pitchFamily="34" charset="-122"/>
                  <a:cs typeface="Times New Roman" panose="02020603050405020304" pitchFamily="18" charset="0"/>
                </a:rPr>
                <a:t>Score ≥ </a:t>
              </a:r>
              <a:endParaRPr lang="en-US" dirty="0">
                <a:latin typeface="Times New Roman" panose="02020603050405020304" pitchFamily="18" charset="0"/>
                <a:cs typeface="Times New Roman" panose="02020603050405020304" pitchFamily="18" charset="0"/>
              </a:endParaRPr>
            </a:p>
          </p:txBody>
        </p:sp>
        <p:sp>
          <p:nvSpPr>
            <p:cNvPr id="32" name="Text 35">
              <a:extLst>
                <a:ext uri="{FF2B5EF4-FFF2-40B4-BE49-F238E27FC236}">
                  <a16:creationId xmlns:a16="http://schemas.microsoft.com/office/drawing/2014/main" id="{B45741E5-F4C2-6440-C7AF-8395758F60BB}"/>
                </a:ext>
              </a:extLst>
            </p:cNvPr>
            <p:cNvSpPr/>
            <p:nvPr/>
          </p:nvSpPr>
          <p:spPr>
            <a:xfrm>
              <a:off x="1268668" y="3522959"/>
              <a:ext cx="1430585" cy="313538"/>
            </a:xfrm>
            <a:prstGeom prst="rect">
              <a:avLst/>
            </a:prstGeom>
            <a:noFill/>
            <a:ln/>
          </p:spPr>
          <p:txBody>
            <a:bodyPr wrap="square" lIns="0" tIns="0" rIns="0" bIns="0" rtlCol="0" anchor="ctr"/>
            <a:lstStyle/>
            <a:p>
              <a:pPr marL="0" indent="0">
                <a:buNone/>
              </a:pPr>
              <a:r>
                <a:rPr lang="en-US" dirty="0">
                  <a:solidFill>
                    <a:srgbClr val="5A8FAA"/>
                  </a:solidFill>
                  <a:latin typeface="Times New Roman" panose="02020603050405020304" pitchFamily="18" charset="0"/>
                  <a:ea typeface="Calibri" pitchFamily="34" charset="-122"/>
                  <a:cs typeface="Times New Roman" panose="02020603050405020304" pitchFamily="18" charset="0"/>
                </a:rPr>
                <a:t>0</a:t>
              </a:r>
              <a:endParaRPr lang="en-US" dirty="0">
                <a:latin typeface="Times New Roman" panose="02020603050405020304" pitchFamily="18" charset="0"/>
                <a:cs typeface="Times New Roman" panose="02020603050405020304" pitchFamily="18" charset="0"/>
              </a:endParaRPr>
            </a:p>
          </p:txBody>
        </p:sp>
        <p:sp>
          <p:nvSpPr>
            <p:cNvPr id="33" name="Text 36">
              <a:extLst>
                <a:ext uri="{FF2B5EF4-FFF2-40B4-BE49-F238E27FC236}">
                  <a16:creationId xmlns:a16="http://schemas.microsoft.com/office/drawing/2014/main" id="{29FAD6EF-554F-502B-7B95-A6F9773DE0AF}"/>
                </a:ext>
              </a:extLst>
            </p:cNvPr>
            <p:cNvSpPr/>
            <p:nvPr/>
          </p:nvSpPr>
          <p:spPr>
            <a:xfrm>
              <a:off x="3203476" y="3513143"/>
              <a:ext cx="1430585" cy="313538"/>
            </a:xfrm>
            <a:prstGeom prst="rect">
              <a:avLst/>
            </a:prstGeom>
            <a:noFill/>
            <a:ln/>
          </p:spPr>
          <p:txBody>
            <a:bodyPr wrap="square" lIns="0" tIns="0" rIns="0" bIns="0" rtlCol="0" anchor="ctr"/>
            <a:lstStyle/>
            <a:p>
              <a:pPr marL="0" indent="0">
                <a:buNone/>
              </a:pPr>
              <a:r>
                <a:rPr lang="en-US" dirty="0">
                  <a:solidFill>
                    <a:srgbClr val="5A8FAA"/>
                  </a:solidFill>
                  <a:latin typeface="Times New Roman" panose="02020603050405020304" pitchFamily="18" charset="0"/>
                  <a:ea typeface="Calibri" pitchFamily="34" charset="-122"/>
                  <a:cs typeface="Times New Roman" panose="02020603050405020304" pitchFamily="18" charset="0"/>
                </a:rPr>
                <a:t>1</a:t>
              </a:r>
              <a:endParaRPr lang="en-US" dirty="0">
                <a:latin typeface="Times New Roman" panose="02020603050405020304" pitchFamily="18" charset="0"/>
                <a:cs typeface="Times New Roman" panose="02020603050405020304" pitchFamily="18" charset="0"/>
              </a:endParaRPr>
            </a:p>
          </p:txBody>
        </p:sp>
        <p:sp>
          <p:nvSpPr>
            <p:cNvPr id="34" name="Text 37">
              <a:extLst>
                <a:ext uri="{FF2B5EF4-FFF2-40B4-BE49-F238E27FC236}">
                  <a16:creationId xmlns:a16="http://schemas.microsoft.com/office/drawing/2014/main" id="{80A0DFE8-7932-2FC8-BD33-4AB72C42E74D}"/>
                </a:ext>
              </a:extLst>
            </p:cNvPr>
            <p:cNvSpPr/>
            <p:nvPr/>
          </p:nvSpPr>
          <p:spPr>
            <a:xfrm>
              <a:off x="5337627" y="3513143"/>
              <a:ext cx="1430585" cy="313538"/>
            </a:xfrm>
            <a:prstGeom prst="rect">
              <a:avLst/>
            </a:prstGeom>
            <a:noFill/>
            <a:ln/>
          </p:spPr>
          <p:txBody>
            <a:bodyPr wrap="square" lIns="0" tIns="0" rIns="0" bIns="0" rtlCol="0" anchor="ctr"/>
            <a:lstStyle/>
            <a:p>
              <a:pPr marL="0" indent="0">
                <a:buNone/>
              </a:pPr>
              <a:r>
                <a:rPr lang="en-US" dirty="0">
                  <a:solidFill>
                    <a:srgbClr val="5A8FAA"/>
                  </a:solidFill>
                  <a:latin typeface="Times New Roman" panose="02020603050405020304" pitchFamily="18" charset="0"/>
                  <a:ea typeface="Calibri" pitchFamily="34" charset="-122"/>
                  <a:cs typeface="Times New Roman" panose="02020603050405020304" pitchFamily="18" charset="0"/>
                </a:rPr>
                <a:t>2–4</a:t>
              </a:r>
              <a:endParaRPr lang="en-US" dirty="0">
                <a:latin typeface="Times New Roman" panose="02020603050405020304" pitchFamily="18" charset="0"/>
                <a:cs typeface="Times New Roman" panose="02020603050405020304" pitchFamily="18" charset="0"/>
              </a:endParaRPr>
            </a:p>
          </p:txBody>
        </p:sp>
        <p:sp>
          <p:nvSpPr>
            <p:cNvPr id="35" name="Text 38">
              <a:extLst>
                <a:ext uri="{FF2B5EF4-FFF2-40B4-BE49-F238E27FC236}">
                  <a16:creationId xmlns:a16="http://schemas.microsoft.com/office/drawing/2014/main" id="{188ACCE4-0F7B-17EC-345B-B1D1FD69EB8B}"/>
                </a:ext>
              </a:extLst>
            </p:cNvPr>
            <p:cNvSpPr/>
            <p:nvPr/>
          </p:nvSpPr>
          <p:spPr>
            <a:xfrm>
              <a:off x="7471778" y="3513143"/>
              <a:ext cx="1430585" cy="313538"/>
            </a:xfrm>
            <a:prstGeom prst="rect">
              <a:avLst/>
            </a:prstGeom>
            <a:noFill/>
            <a:ln/>
          </p:spPr>
          <p:txBody>
            <a:bodyPr wrap="square" lIns="0" tIns="0" rIns="0" bIns="0" rtlCol="0" anchor="ctr"/>
            <a:lstStyle/>
            <a:p>
              <a:pPr marL="0" indent="0">
                <a:buNone/>
              </a:pPr>
              <a:r>
                <a:rPr lang="en-US" dirty="0">
                  <a:solidFill>
                    <a:srgbClr val="5A8FAA"/>
                  </a:solidFill>
                  <a:latin typeface="Times New Roman" panose="02020603050405020304" pitchFamily="18" charset="0"/>
                  <a:ea typeface="Calibri" pitchFamily="34" charset="-122"/>
                  <a:cs typeface="Times New Roman" panose="02020603050405020304" pitchFamily="18" charset="0"/>
                </a:rPr>
                <a:t>5–9</a:t>
              </a:r>
              <a:endParaRPr lang="en-US" dirty="0">
                <a:latin typeface="Times New Roman" panose="02020603050405020304" pitchFamily="18" charset="0"/>
                <a:cs typeface="Times New Roman" panose="02020603050405020304" pitchFamily="18" charset="0"/>
              </a:endParaRPr>
            </a:p>
          </p:txBody>
        </p:sp>
        <p:sp>
          <p:nvSpPr>
            <p:cNvPr id="36" name="Text 39">
              <a:extLst>
                <a:ext uri="{FF2B5EF4-FFF2-40B4-BE49-F238E27FC236}">
                  <a16:creationId xmlns:a16="http://schemas.microsoft.com/office/drawing/2014/main" id="{62C8C484-8B7C-520E-D908-F8A731146E67}"/>
                </a:ext>
              </a:extLst>
            </p:cNvPr>
            <p:cNvSpPr/>
            <p:nvPr/>
          </p:nvSpPr>
          <p:spPr>
            <a:xfrm>
              <a:off x="9605928" y="3513143"/>
              <a:ext cx="1430585" cy="313538"/>
            </a:xfrm>
            <a:prstGeom prst="rect">
              <a:avLst/>
            </a:prstGeom>
            <a:noFill/>
            <a:ln/>
          </p:spPr>
          <p:txBody>
            <a:bodyPr wrap="square" lIns="0" tIns="0" rIns="0" bIns="0" rtlCol="0" anchor="ctr"/>
            <a:lstStyle/>
            <a:p>
              <a:pPr marL="0" indent="0">
                <a:buNone/>
              </a:pPr>
              <a:r>
                <a:rPr lang="en-US" dirty="0">
                  <a:solidFill>
                    <a:srgbClr val="5A8FAA"/>
                  </a:solidFill>
                  <a:latin typeface="Times New Roman" panose="02020603050405020304" pitchFamily="18" charset="0"/>
                  <a:ea typeface="Calibri" pitchFamily="34" charset="-122"/>
                  <a:cs typeface="Times New Roman" panose="02020603050405020304" pitchFamily="18" charset="0"/>
                </a:rPr>
                <a:t>≥10</a:t>
              </a:r>
              <a:endParaRPr lang="en-US" dirty="0">
                <a:latin typeface="Times New Roman" panose="02020603050405020304" pitchFamily="18" charset="0"/>
                <a:cs typeface="Times New Roman" panose="02020603050405020304" pitchFamily="18" charset="0"/>
              </a:endParaRPr>
            </a:p>
          </p:txBody>
        </p:sp>
        <p:sp>
          <p:nvSpPr>
            <p:cNvPr id="37" name="Text 40">
              <a:extLst>
                <a:ext uri="{FF2B5EF4-FFF2-40B4-BE49-F238E27FC236}">
                  <a16:creationId xmlns:a16="http://schemas.microsoft.com/office/drawing/2014/main" id="{F3FB42D8-7966-2FFF-1E1F-3631DDCE032A}"/>
                </a:ext>
              </a:extLst>
            </p:cNvPr>
            <p:cNvSpPr/>
            <p:nvPr/>
          </p:nvSpPr>
          <p:spPr>
            <a:xfrm>
              <a:off x="365759" y="4026205"/>
              <a:ext cx="10788015" cy="313538"/>
            </a:xfrm>
            <a:prstGeom prst="rect">
              <a:avLst/>
            </a:prstGeom>
            <a:noFill/>
            <a:ln/>
          </p:spPr>
          <p:txBody>
            <a:bodyPr wrap="square" lIns="0" tIns="0" rIns="0" bIns="0" rtlCol="0" anchor="ctr"/>
            <a:lstStyle/>
            <a:p>
              <a:pPr marL="0" indent="0">
                <a:buNone/>
              </a:pPr>
              <a:r>
                <a:rPr lang="en-US" b="1" kern="0" spc="300" dirty="0">
                  <a:solidFill>
                    <a:srgbClr val="00B050"/>
                  </a:solidFill>
                  <a:latin typeface="Times New Roman" panose="02020603050405020304" pitchFamily="18" charset="0"/>
                  <a:ea typeface="Calibri" pitchFamily="34" charset="-122"/>
                  <a:cs typeface="Times New Roman" panose="02020603050405020304" pitchFamily="18" charset="0"/>
                </a:rPr>
                <a:t>OUTGOING EMAIL PATH (DLP)</a:t>
              </a:r>
              <a:endParaRPr lang="en-US" dirty="0">
                <a:solidFill>
                  <a:srgbClr val="00B050"/>
                </a:solidFill>
                <a:latin typeface="Times New Roman" panose="02020603050405020304" pitchFamily="18" charset="0"/>
                <a:cs typeface="Times New Roman" panose="02020603050405020304" pitchFamily="18" charset="0"/>
              </a:endParaRPr>
            </a:p>
          </p:txBody>
        </p:sp>
        <p:sp>
          <p:nvSpPr>
            <p:cNvPr id="38" name="Shape 41">
              <a:extLst>
                <a:ext uri="{FF2B5EF4-FFF2-40B4-BE49-F238E27FC236}">
                  <a16:creationId xmlns:a16="http://schemas.microsoft.com/office/drawing/2014/main" id="{1ECCE170-3F98-0184-CE2B-21D2DEE6715A}"/>
                </a:ext>
              </a:extLst>
            </p:cNvPr>
            <p:cNvSpPr/>
            <p:nvPr/>
          </p:nvSpPr>
          <p:spPr>
            <a:xfrm>
              <a:off x="365759" y="4425253"/>
              <a:ext cx="1618202" cy="1282654"/>
            </a:xfrm>
            <a:prstGeom prst="rect">
              <a:avLst/>
            </a:prstGeom>
            <a:solidFill>
              <a:srgbClr val="112B47"/>
            </a:solidFill>
            <a:ln w="12700">
              <a:solidFill>
                <a:srgbClr val="2DC653"/>
              </a:solidFill>
              <a:prstDash val="solid"/>
            </a:ln>
            <a:effectLst>
              <a:outerShdw blurRad="63500" dist="25400" dir="8100000" algn="bl" rotWithShape="0">
                <a:srgbClr val="000000">
                  <a:alpha val="20000"/>
                </a:srgbClr>
              </a:outerShdw>
            </a:effectLst>
          </p:spPr>
        </p:sp>
        <p:sp>
          <p:nvSpPr>
            <p:cNvPr id="39" name="Text 42">
              <a:extLst>
                <a:ext uri="{FF2B5EF4-FFF2-40B4-BE49-F238E27FC236}">
                  <a16:creationId xmlns:a16="http://schemas.microsoft.com/office/drawing/2014/main" id="{B879ED99-D267-1A83-F87A-81EC14D959C9}"/>
                </a:ext>
              </a:extLst>
            </p:cNvPr>
            <p:cNvSpPr/>
            <p:nvPr/>
          </p:nvSpPr>
          <p:spPr>
            <a:xfrm>
              <a:off x="365759" y="4425253"/>
              <a:ext cx="1618202" cy="1282654"/>
            </a:xfrm>
            <a:prstGeom prst="rect">
              <a:avLst/>
            </a:prstGeom>
            <a:noFill/>
            <a:ln/>
          </p:spPr>
          <p:txBody>
            <a:bodyPr wrap="square" rtlCol="0" anchor="ctr"/>
            <a:lstStyle/>
            <a:p>
              <a:pPr marL="0" indent="0" algn="ctr">
                <a:buNone/>
              </a:pPr>
              <a:r>
                <a:rPr lang="en-US" dirty="0">
                  <a:solidFill>
                    <a:srgbClr val="FFFFFF"/>
                  </a:solidFill>
                  <a:latin typeface="Times New Roman" panose="02020603050405020304" pitchFamily="18" charset="0"/>
                  <a:ea typeface="Calibri" pitchFamily="34" charset="-122"/>
                  <a:cs typeface="Times New Roman" panose="02020603050405020304" pitchFamily="18" charset="0"/>
                </a:rPr>
                <a:t>.eml Draft</a:t>
              </a:r>
              <a:endParaRPr lang="en-US" dirty="0">
                <a:latin typeface="Times New Roman" panose="02020603050405020304" pitchFamily="18" charset="0"/>
                <a:cs typeface="Times New Roman" panose="02020603050405020304" pitchFamily="18" charset="0"/>
              </a:endParaRPr>
            </a:p>
          </p:txBody>
        </p:sp>
        <p:sp>
          <p:nvSpPr>
            <p:cNvPr id="40" name="Shape 43">
              <a:extLst>
                <a:ext uri="{FF2B5EF4-FFF2-40B4-BE49-F238E27FC236}">
                  <a16:creationId xmlns:a16="http://schemas.microsoft.com/office/drawing/2014/main" id="{41AE5688-2A56-F827-D35F-8E0CD34C3F37}"/>
                </a:ext>
              </a:extLst>
            </p:cNvPr>
            <p:cNvSpPr/>
            <p:nvPr/>
          </p:nvSpPr>
          <p:spPr>
            <a:xfrm>
              <a:off x="1983961" y="4966818"/>
              <a:ext cx="187618" cy="199524"/>
            </a:xfrm>
            <a:prstGeom prst="rect">
              <a:avLst/>
            </a:prstGeom>
            <a:solidFill>
              <a:srgbClr val="2DC653"/>
            </a:solidFill>
            <a:ln w="12700">
              <a:solidFill>
                <a:srgbClr val="2DC653"/>
              </a:solidFill>
              <a:prstDash val="solid"/>
            </a:ln>
          </p:spPr>
        </p:sp>
        <p:sp>
          <p:nvSpPr>
            <p:cNvPr id="41" name="Shape 44">
              <a:extLst>
                <a:ext uri="{FF2B5EF4-FFF2-40B4-BE49-F238E27FC236}">
                  <a16:creationId xmlns:a16="http://schemas.microsoft.com/office/drawing/2014/main" id="{FDB6A0F2-797A-EB3E-8D99-B4736E43A1D2}"/>
                </a:ext>
              </a:extLst>
            </p:cNvPr>
            <p:cNvSpPr/>
            <p:nvPr/>
          </p:nvSpPr>
          <p:spPr>
            <a:xfrm>
              <a:off x="2171579" y="4425253"/>
              <a:ext cx="1618202" cy="1282654"/>
            </a:xfrm>
            <a:prstGeom prst="rect">
              <a:avLst/>
            </a:prstGeom>
            <a:solidFill>
              <a:srgbClr val="112B47"/>
            </a:solidFill>
            <a:ln w="12700">
              <a:solidFill>
                <a:srgbClr val="2DC653"/>
              </a:solidFill>
              <a:prstDash val="solid"/>
            </a:ln>
            <a:effectLst>
              <a:outerShdw blurRad="63500" dist="25400" dir="8100000" algn="bl" rotWithShape="0">
                <a:srgbClr val="000000">
                  <a:alpha val="20000"/>
                </a:srgbClr>
              </a:outerShdw>
            </a:effectLst>
          </p:spPr>
        </p:sp>
        <p:sp>
          <p:nvSpPr>
            <p:cNvPr id="42" name="Text 45">
              <a:extLst>
                <a:ext uri="{FF2B5EF4-FFF2-40B4-BE49-F238E27FC236}">
                  <a16:creationId xmlns:a16="http://schemas.microsoft.com/office/drawing/2014/main" id="{4D140C61-2CF1-16AB-E17D-7849D0E3FFA9}"/>
                </a:ext>
              </a:extLst>
            </p:cNvPr>
            <p:cNvSpPr/>
            <p:nvPr/>
          </p:nvSpPr>
          <p:spPr>
            <a:xfrm>
              <a:off x="2171579" y="4425253"/>
              <a:ext cx="1618202" cy="1282654"/>
            </a:xfrm>
            <a:prstGeom prst="rect">
              <a:avLst/>
            </a:prstGeom>
            <a:noFill/>
            <a:ln/>
          </p:spPr>
          <p:txBody>
            <a:bodyPr wrap="square" rtlCol="0" anchor="ctr"/>
            <a:lstStyle/>
            <a:p>
              <a:pPr marL="0" indent="0" algn="ctr">
                <a:buNone/>
              </a:pPr>
              <a:r>
                <a:rPr lang="en-US" dirty="0">
                  <a:solidFill>
                    <a:srgbClr val="FFFFFF"/>
                  </a:solidFill>
                  <a:latin typeface="Times New Roman" panose="02020603050405020304" pitchFamily="18" charset="0"/>
                  <a:ea typeface="Calibri" pitchFamily="34" charset="-122"/>
                  <a:cs typeface="Times New Roman" panose="02020603050405020304" pitchFamily="18" charset="0"/>
                </a:rPr>
                <a:t>Extract Body</a:t>
              </a:r>
              <a:endParaRPr lang="en-US" dirty="0">
                <a:latin typeface="Times New Roman" panose="02020603050405020304" pitchFamily="18" charset="0"/>
                <a:cs typeface="Times New Roman" panose="02020603050405020304" pitchFamily="18" charset="0"/>
              </a:endParaRPr>
            </a:p>
            <a:p>
              <a:pPr marL="0" indent="0" algn="ctr">
                <a:buNone/>
              </a:pPr>
              <a:r>
                <a:rPr lang="en-US" dirty="0">
                  <a:solidFill>
                    <a:srgbClr val="FFFFFF"/>
                  </a:solidFill>
                  <a:latin typeface="Times New Roman" panose="02020603050405020304" pitchFamily="18" charset="0"/>
                  <a:ea typeface="Calibri" pitchFamily="34" charset="-122"/>
                  <a:cs typeface="Times New Roman" panose="02020603050405020304" pitchFamily="18" charset="0"/>
                </a:rPr>
                <a:t>&amp; Attachments</a:t>
              </a:r>
              <a:endParaRPr lang="en-US" dirty="0">
                <a:latin typeface="Times New Roman" panose="02020603050405020304" pitchFamily="18" charset="0"/>
                <a:cs typeface="Times New Roman" panose="02020603050405020304" pitchFamily="18" charset="0"/>
              </a:endParaRPr>
            </a:p>
          </p:txBody>
        </p:sp>
        <p:sp>
          <p:nvSpPr>
            <p:cNvPr id="43" name="Shape 46">
              <a:extLst>
                <a:ext uri="{FF2B5EF4-FFF2-40B4-BE49-F238E27FC236}">
                  <a16:creationId xmlns:a16="http://schemas.microsoft.com/office/drawing/2014/main" id="{60400730-331E-4DF5-363B-0287E39764FC}"/>
                </a:ext>
              </a:extLst>
            </p:cNvPr>
            <p:cNvSpPr/>
            <p:nvPr/>
          </p:nvSpPr>
          <p:spPr>
            <a:xfrm>
              <a:off x="3789781" y="4966818"/>
              <a:ext cx="187618" cy="199524"/>
            </a:xfrm>
            <a:prstGeom prst="rect">
              <a:avLst/>
            </a:prstGeom>
            <a:solidFill>
              <a:srgbClr val="2DC653"/>
            </a:solidFill>
            <a:ln w="12700">
              <a:solidFill>
                <a:srgbClr val="2DC653"/>
              </a:solidFill>
              <a:prstDash val="solid"/>
            </a:ln>
          </p:spPr>
        </p:sp>
        <p:sp>
          <p:nvSpPr>
            <p:cNvPr id="44" name="Shape 47">
              <a:extLst>
                <a:ext uri="{FF2B5EF4-FFF2-40B4-BE49-F238E27FC236}">
                  <a16:creationId xmlns:a16="http://schemas.microsoft.com/office/drawing/2014/main" id="{B35B6001-062C-4047-4BF7-69E6F70FDF6F}"/>
                </a:ext>
              </a:extLst>
            </p:cNvPr>
            <p:cNvSpPr/>
            <p:nvPr/>
          </p:nvSpPr>
          <p:spPr>
            <a:xfrm>
              <a:off x="3977399" y="4425253"/>
              <a:ext cx="1618202" cy="1282654"/>
            </a:xfrm>
            <a:prstGeom prst="rect">
              <a:avLst/>
            </a:prstGeom>
            <a:solidFill>
              <a:srgbClr val="112B47"/>
            </a:solidFill>
            <a:ln w="12700">
              <a:solidFill>
                <a:srgbClr val="2DC653"/>
              </a:solidFill>
              <a:prstDash val="solid"/>
            </a:ln>
            <a:effectLst>
              <a:outerShdw blurRad="63500" dist="25400" dir="8100000" algn="bl" rotWithShape="0">
                <a:srgbClr val="000000">
                  <a:alpha val="20000"/>
                </a:srgbClr>
              </a:outerShdw>
            </a:effectLst>
          </p:spPr>
        </p:sp>
        <p:sp>
          <p:nvSpPr>
            <p:cNvPr id="45" name="Text 48">
              <a:extLst>
                <a:ext uri="{FF2B5EF4-FFF2-40B4-BE49-F238E27FC236}">
                  <a16:creationId xmlns:a16="http://schemas.microsoft.com/office/drawing/2014/main" id="{FC997A8D-58B2-D1EA-25D0-AB8FA39120C7}"/>
                </a:ext>
              </a:extLst>
            </p:cNvPr>
            <p:cNvSpPr/>
            <p:nvPr/>
          </p:nvSpPr>
          <p:spPr>
            <a:xfrm>
              <a:off x="3977399" y="4425253"/>
              <a:ext cx="1618202" cy="1282654"/>
            </a:xfrm>
            <a:prstGeom prst="rect">
              <a:avLst/>
            </a:prstGeom>
            <a:noFill/>
            <a:ln/>
          </p:spPr>
          <p:txBody>
            <a:bodyPr wrap="square" rtlCol="0" anchor="ctr"/>
            <a:lstStyle/>
            <a:p>
              <a:pPr marL="0" indent="0" algn="ctr">
                <a:buNone/>
              </a:pPr>
              <a:r>
                <a:rPr lang="en-US" dirty="0">
                  <a:solidFill>
                    <a:srgbClr val="FFFFFF"/>
                  </a:solidFill>
                  <a:latin typeface="Times New Roman" panose="02020603050405020304" pitchFamily="18" charset="0"/>
                  <a:ea typeface="Calibri" pitchFamily="34" charset="-122"/>
                  <a:cs typeface="Times New Roman" panose="02020603050405020304" pitchFamily="18" charset="0"/>
                </a:rPr>
                <a:t>Regex Scan</a:t>
              </a:r>
              <a:endParaRPr lang="en-US" dirty="0">
                <a:latin typeface="Times New Roman" panose="02020603050405020304" pitchFamily="18" charset="0"/>
                <a:cs typeface="Times New Roman" panose="02020603050405020304" pitchFamily="18" charset="0"/>
              </a:endParaRPr>
            </a:p>
            <a:p>
              <a:pPr marL="0" indent="0" algn="ctr">
                <a:buNone/>
              </a:pPr>
              <a:r>
                <a:rPr lang="en-US" dirty="0">
                  <a:solidFill>
                    <a:srgbClr val="FFFFFF"/>
                  </a:solidFill>
                  <a:latin typeface="Times New Roman" panose="02020603050405020304" pitchFamily="18" charset="0"/>
                  <a:ea typeface="Calibri" pitchFamily="34" charset="-122"/>
                  <a:cs typeface="Times New Roman" panose="02020603050405020304" pitchFamily="18" charset="0"/>
                </a:rPr>
                <a:t>(PAN/Card)</a:t>
              </a:r>
              <a:endParaRPr lang="en-US" dirty="0">
                <a:latin typeface="Times New Roman" panose="02020603050405020304" pitchFamily="18" charset="0"/>
                <a:cs typeface="Times New Roman" panose="02020603050405020304" pitchFamily="18" charset="0"/>
              </a:endParaRPr>
            </a:p>
          </p:txBody>
        </p:sp>
        <p:sp>
          <p:nvSpPr>
            <p:cNvPr id="46" name="Shape 49">
              <a:extLst>
                <a:ext uri="{FF2B5EF4-FFF2-40B4-BE49-F238E27FC236}">
                  <a16:creationId xmlns:a16="http://schemas.microsoft.com/office/drawing/2014/main" id="{7A3983E5-460C-176A-2FED-76F03409CFDB}"/>
                </a:ext>
              </a:extLst>
            </p:cNvPr>
            <p:cNvSpPr/>
            <p:nvPr/>
          </p:nvSpPr>
          <p:spPr>
            <a:xfrm>
              <a:off x="5595601" y="4966818"/>
              <a:ext cx="187618" cy="199524"/>
            </a:xfrm>
            <a:prstGeom prst="rect">
              <a:avLst/>
            </a:prstGeom>
            <a:solidFill>
              <a:srgbClr val="2DC653"/>
            </a:solidFill>
            <a:ln w="12700">
              <a:solidFill>
                <a:srgbClr val="2DC653"/>
              </a:solidFill>
              <a:prstDash val="solid"/>
            </a:ln>
          </p:spPr>
        </p:sp>
        <p:sp>
          <p:nvSpPr>
            <p:cNvPr id="47" name="Shape 50">
              <a:extLst>
                <a:ext uri="{FF2B5EF4-FFF2-40B4-BE49-F238E27FC236}">
                  <a16:creationId xmlns:a16="http://schemas.microsoft.com/office/drawing/2014/main" id="{27ABFE44-A037-319D-2D28-475B7EF910EE}"/>
                </a:ext>
              </a:extLst>
            </p:cNvPr>
            <p:cNvSpPr/>
            <p:nvPr/>
          </p:nvSpPr>
          <p:spPr>
            <a:xfrm>
              <a:off x="5783219" y="4425253"/>
              <a:ext cx="1618202" cy="1282654"/>
            </a:xfrm>
            <a:prstGeom prst="rect">
              <a:avLst/>
            </a:prstGeom>
            <a:solidFill>
              <a:srgbClr val="112B47"/>
            </a:solidFill>
            <a:ln w="12700">
              <a:solidFill>
                <a:srgbClr val="2DC653"/>
              </a:solidFill>
              <a:prstDash val="solid"/>
            </a:ln>
            <a:effectLst>
              <a:outerShdw blurRad="63500" dist="25400" dir="8100000" algn="bl" rotWithShape="0">
                <a:srgbClr val="000000">
                  <a:alpha val="20000"/>
                </a:srgbClr>
              </a:outerShdw>
            </a:effectLst>
          </p:spPr>
        </p:sp>
        <p:sp>
          <p:nvSpPr>
            <p:cNvPr id="48" name="Text 51">
              <a:extLst>
                <a:ext uri="{FF2B5EF4-FFF2-40B4-BE49-F238E27FC236}">
                  <a16:creationId xmlns:a16="http://schemas.microsoft.com/office/drawing/2014/main" id="{927522D7-CFF7-846A-4B8B-F781B683E03E}"/>
                </a:ext>
              </a:extLst>
            </p:cNvPr>
            <p:cNvSpPr/>
            <p:nvPr/>
          </p:nvSpPr>
          <p:spPr>
            <a:xfrm>
              <a:off x="5783219" y="4425253"/>
              <a:ext cx="1618202" cy="1282654"/>
            </a:xfrm>
            <a:prstGeom prst="rect">
              <a:avLst/>
            </a:prstGeom>
            <a:noFill/>
            <a:ln/>
          </p:spPr>
          <p:txBody>
            <a:bodyPr wrap="square" rtlCol="0" anchor="ctr"/>
            <a:lstStyle/>
            <a:p>
              <a:pPr marL="0" indent="0" algn="ctr">
                <a:buNone/>
              </a:pPr>
              <a:r>
                <a:rPr lang="en-US" dirty="0">
                  <a:solidFill>
                    <a:srgbClr val="FFFFFF"/>
                  </a:solidFill>
                  <a:latin typeface="Times New Roman" panose="02020603050405020304" pitchFamily="18" charset="0"/>
                  <a:ea typeface="Calibri" pitchFamily="34" charset="-122"/>
                  <a:cs typeface="Times New Roman" panose="02020603050405020304" pitchFamily="18" charset="0"/>
                </a:rPr>
                <a:t>Luhn Card</a:t>
              </a:r>
              <a:endParaRPr lang="en-US" dirty="0">
                <a:latin typeface="Times New Roman" panose="02020603050405020304" pitchFamily="18" charset="0"/>
                <a:cs typeface="Times New Roman" panose="02020603050405020304" pitchFamily="18" charset="0"/>
              </a:endParaRPr>
            </a:p>
            <a:p>
              <a:pPr marL="0" indent="0" algn="ctr">
                <a:buNone/>
              </a:pPr>
              <a:r>
                <a:rPr lang="en-US" dirty="0">
                  <a:solidFill>
                    <a:srgbClr val="FFFFFF"/>
                  </a:solidFill>
                  <a:latin typeface="Times New Roman" panose="02020603050405020304" pitchFamily="18" charset="0"/>
                  <a:ea typeface="Calibri" pitchFamily="34" charset="-122"/>
                  <a:cs typeface="Times New Roman" panose="02020603050405020304" pitchFamily="18" charset="0"/>
                </a:rPr>
                <a:t>Validation</a:t>
              </a:r>
              <a:endParaRPr lang="en-US" dirty="0">
                <a:latin typeface="Times New Roman" panose="02020603050405020304" pitchFamily="18" charset="0"/>
                <a:cs typeface="Times New Roman" panose="02020603050405020304" pitchFamily="18" charset="0"/>
              </a:endParaRPr>
            </a:p>
          </p:txBody>
        </p:sp>
        <p:sp>
          <p:nvSpPr>
            <p:cNvPr id="49" name="Shape 52">
              <a:extLst>
                <a:ext uri="{FF2B5EF4-FFF2-40B4-BE49-F238E27FC236}">
                  <a16:creationId xmlns:a16="http://schemas.microsoft.com/office/drawing/2014/main" id="{48A1A8A5-A17D-243E-EE22-DDB4C07AB4CB}"/>
                </a:ext>
              </a:extLst>
            </p:cNvPr>
            <p:cNvSpPr/>
            <p:nvPr/>
          </p:nvSpPr>
          <p:spPr>
            <a:xfrm>
              <a:off x="7401421" y="4966818"/>
              <a:ext cx="187618" cy="199524"/>
            </a:xfrm>
            <a:prstGeom prst="rect">
              <a:avLst/>
            </a:prstGeom>
            <a:solidFill>
              <a:srgbClr val="2DC653"/>
            </a:solidFill>
            <a:ln w="12700">
              <a:solidFill>
                <a:srgbClr val="2DC653"/>
              </a:solidFill>
              <a:prstDash val="solid"/>
            </a:ln>
          </p:spPr>
        </p:sp>
        <p:sp>
          <p:nvSpPr>
            <p:cNvPr id="50" name="Shape 53">
              <a:extLst>
                <a:ext uri="{FF2B5EF4-FFF2-40B4-BE49-F238E27FC236}">
                  <a16:creationId xmlns:a16="http://schemas.microsoft.com/office/drawing/2014/main" id="{7246AFE8-0288-8FA4-A286-704555D4582D}"/>
                </a:ext>
              </a:extLst>
            </p:cNvPr>
            <p:cNvSpPr/>
            <p:nvPr/>
          </p:nvSpPr>
          <p:spPr>
            <a:xfrm>
              <a:off x="7589039" y="4425253"/>
              <a:ext cx="1618202" cy="1282654"/>
            </a:xfrm>
            <a:prstGeom prst="rect">
              <a:avLst/>
            </a:prstGeom>
            <a:solidFill>
              <a:srgbClr val="112B47"/>
            </a:solidFill>
            <a:ln w="12700">
              <a:solidFill>
                <a:srgbClr val="2DC653"/>
              </a:solidFill>
              <a:prstDash val="solid"/>
            </a:ln>
            <a:effectLst>
              <a:outerShdw blurRad="63500" dist="25400" dir="8100000" algn="bl" rotWithShape="0">
                <a:srgbClr val="000000">
                  <a:alpha val="20000"/>
                </a:srgbClr>
              </a:outerShdw>
            </a:effectLst>
          </p:spPr>
        </p:sp>
        <p:sp>
          <p:nvSpPr>
            <p:cNvPr id="51" name="Text 54">
              <a:extLst>
                <a:ext uri="{FF2B5EF4-FFF2-40B4-BE49-F238E27FC236}">
                  <a16:creationId xmlns:a16="http://schemas.microsoft.com/office/drawing/2014/main" id="{27405643-B348-9906-AE39-A4F9AE82A905}"/>
                </a:ext>
              </a:extLst>
            </p:cNvPr>
            <p:cNvSpPr/>
            <p:nvPr/>
          </p:nvSpPr>
          <p:spPr>
            <a:xfrm>
              <a:off x="7589039" y="4425253"/>
              <a:ext cx="1618202" cy="1282654"/>
            </a:xfrm>
            <a:prstGeom prst="rect">
              <a:avLst/>
            </a:prstGeom>
            <a:noFill/>
            <a:ln/>
          </p:spPr>
          <p:txBody>
            <a:bodyPr wrap="square" rtlCol="0" anchor="ctr"/>
            <a:lstStyle/>
            <a:p>
              <a:pPr marL="0" indent="0" algn="ctr">
                <a:buNone/>
              </a:pPr>
              <a:r>
                <a:rPr lang="en-US" dirty="0">
                  <a:solidFill>
                    <a:srgbClr val="FFFFFF"/>
                  </a:solidFill>
                  <a:latin typeface="Times New Roman" panose="02020603050405020304" pitchFamily="18" charset="0"/>
                  <a:ea typeface="Calibri" pitchFamily="34" charset="-122"/>
                  <a:cs typeface="Times New Roman" panose="02020603050405020304" pitchFamily="18" charset="0"/>
                </a:rPr>
                <a:t>Filename</a:t>
              </a:r>
              <a:endParaRPr lang="en-US" dirty="0">
                <a:latin typeface="Times New Roman" panose="02020603050405020304" pitchFamily="18" charset="0"/>
                <a:cs typeface="Times New Roman" panose="02020603050405020304" pitchFamily="18" charset="0"/>
              </a:endParaRPr>
            </a:p>
            <a:p>
              <a:pPr marL="0" indent="0" algn="ctr">
                <a:buNone/>
              </a:pPr>
              <a:r>
                <a:rPr lang="en-US" dirty="0">
                  <a:solidFill>
                    <a:srgbClr val="FFFFFF"/>
                  </a:solidFill>
                  <a:latin typeface="Times New Roman" panose="02020603050405020304" pitchFamily="18" charset="0"/>
                  <a:ea typeface="Calibri" pitchFamily="34" charset="-122"/>
                  <a:cs typeface="Times New Roman" panose="02020603050405020304" pitchFamily="18" charset="0"/>
                </a:rPr>
                <a:t>Check</a:t>
              </a:r>
              <a:endParaRPr lang="en-US" dirty="0">
                <a:latin typeface="Times New Roman" panose="02020603050405020304" pitchFamily="18" charset="0"/>
                <a:cs typeface="Times New Roman" panose="02020603050405020304" pitchFamily="18" charset="0"/>
              </a:endParaRPr>
            </a:p>
          </p:txBody>
        </p:sp>
        <p:sp>
          <p:nvSpPr>
            <p:cNvPr id="52" name="Shape 55">
              <a:extLst>
                <a:ext uri="{FF2B5EF4-FFF2-40B4-BE49-F238E27FC236}">
                  <a16:creationId xmlns:a16="http://schemas.microsoft.com/office/drawing/2014/main" id="{CF455785-96B9-31D6-D857-9B18C470D076}"/>
                </a:ext>
              </a:extLst>
            </p:cNvPr>
            <p:cNvSpPr/>
            <p:nvPr/>
          </p:nvSpPr>
          <p:spPr>
            <a:xfrm>
              <a:off x="9207241" y="4966818"/>
              <a:ext cx="187618" cy="199524"/>
            </a:xfrm>
            <a:prstGeom prst="rect">
              <a:avLst/>
            </a:prstGeom>
            <a:solidFill>
              <a:srgbClr val="2DC653"/>
            </a:solidFill>
            <a:ln w="12700">
              <a:solidFill>
                <a:srgbClr val="2DC653"/>
              </a:solidFill>
              <a:prstDash val="solid"/>
            </a:ln>
          </p:spPr>
        </p:sp>
        <p:sp>
          <p:nvSpPr>
            <p:cNvPr id="53" name="Shape 56">
              <a:extLst>
                <a:ext uri="{FF2B5EF4-FFF2-40B4-BE49-F238E27FC236}">
                  <a16:creationId xmlns:a16="http://schemas.microsoft.com/office/drawing/2014/main" id="{36AF5A08-5358-219A-2A82-A4EBDAC63CDA}"/>
                </a:ext>
              </a:extLst>
            </p:cNvPr>
            <p:cNvSpPr/>
            <p:nvPr/>
          </p:nvSpPr>
          <p:spPr>
            <a:xfrm>
              <a:off x="9394859" y="4425253"/>
              <a:ext cx="1618202" cy="1282654"/>
            </a:xfrm>
            <a:prstGeom prst="rect">
              <a:avLst/>
            </a:prstGeom>
            <a:solidFill>
              <a:srgbClr val="0D2137"/>
            </a:solidFill>
            <a:ln w="12700">
              <a:solidFill>
                <a:srgbClr val="2DC653"/>
              </a:solidFill>
              <a:prstDash val="solid"/>
            </a:ln>
            <a:effectLst>
              <a:outerShdw blurRad="63500" dist="25400" dir="8100000" algn="bl" rotWithShape="0">
                <a:srgbClr val="000000">
                  <a:alpha val="20000"/>
                </a:srgbClr>
              </a:outerShdw>
            </a:effectLst>
          </p:spPr>
        </p:sp>
        <p:sp>
          <p:nvSpPr>
            <p:cNvPr id="54" name="Text 57">
              <a:extLst>
                <a:ext uri="{FF2B5EF4-FFF2-40B4-BE49-F238E27FC236}">
                  <a16:creationId xmlns:a16="http://schemas.microsoft.com/office/drawing/2014/main" id="{77A541D0-9915-FAEC-AACD-322091C7C6B7}"/>
                </a:ext>
              </a:extLst>
            </p:cNvPr>
            <p:cNvSpPr/>
            <p:nvPr/>
          </p:nvSpPr>
          <p:spPr>
            <a:xfrm>
              <a:off x="9394859" y="4425253"/>
              <a:ext cx="1618202" cy="1282654"/>
            </a:xfrm>
            <a:prstGeom prst="rect">
              <a:avLst/>
            </a:prstGeom>
            <a:noFill/>
            <a:ln/>
          </p:spPr>
          <p:txBody>
            <a:bodyPr wrap="square" rtlCol="0" anchor="ctr"/>
            <a:lstStyle/>
            <a:p>
              <a:pPr marL="0" indent="0" algn="ctr">
                <a:buNone/>
              </a:pPr>
              <a:r>
                <a:rPr lang="en-US" b="1" dirty="0">
                  <a:solidFill>
                    <a:srgbClr val="2DC653"/>
                  </a:solidFill>
                  <a:latin typeface="Times New Roman" panose="02020603050405020304" pitchFamily="18" charset="0"/>
                  <a:ea typeface="Calibri" pitchFamily="34" charset="-122"/>
                  <a:cs typeface="Times New Roman" panose="02020603050405020304" pitchFamily="18" charset="0"/>
                </a:rPr>
                <a:t>BLOCK /</a:t>
              </a:r>
              <a:endParaRPr lang="en-US" dirty="0">
                <a:latin typeface="Times New Roman" panose="02020603050405020304" pitchFamily="18" charset="0"/>
                <a:cs typeface="Times New Roman" panose="02020603050405020304" pitchFamily="18" charset="0"/>
              </a:endParaRPr>
            </a:p>
            <a:p>
              <a:pPr marL="0" indent="0" algn="ctr">
                <a:buNone/>
              </a:pPr>
              <a:r>
                <a:rPr lang="en-US" b="1" dirty="0">
                  <a:solidFill>
                    <a:srgbClr val="2DC653"/>
                  </a:solidFill>
                  <a:latin typeface="Times New Roman" panose="02020603050405020304" pitchFamily="18" charset="0"/>
                  <a:ea typeface="Calibri" pitchFamily="34" charset="-122"/>
                  <a:cs typeface="Times New Roman" panose="02020603050405020304" pitchFamily="18" charset="0"/>
                </a:rPr>
                <a:t>CLEAR</a:t>
              </a:r>
              <a:endParaRPr lang="en-US" dirty="0">
                <a:latin typeface="Times New Roman" panose="02020603050405020304" pitchFamily="18" charset="0"/>
                <a:cs typeface="Times New Roman" panose="02020603050405020304" pitchFamily="18" charset="0"/>
              </a:endParaRPr>
            </a:p>
          </p:txBody>
        </p:sp>
        <p:sp>
          <p:nvSpPr>
            <p:cNvPr id="60" name="Text 6">
              <a:extLst>
                <a:ext uri="{FF2B5EF4-FFF2-40B4-BE49-F238E27FC236}">
                  <a16:creationId xmlns:a16="http://schemas.microsoft.com/office/drawing/2014/main" id="{9CF7B732-42E6-0571-0160-A1BD505E83E5}"/>
                </a:ext>
              </a:extLst>
            </p:cNvPr>
            <p:cNvSpPr/>
            <p:nvPr/>
          </p:nvSpPr>
          <p:spPr>
            <a:xfrm>
              <a:off x="365759" y="1164011"/>
              <a:ext cx="4572000" cy="201168"/>
            </a:xfrm>
            <a:prstGeom prst="rect">
              <a:avLst/>
            </a:prstGeom>
            <a:noFill/>
            <a:ln/>
          </p:spPr>
          <p:txBody>
            <a:bodyPr wrap="square" lIns="0" tIns="0" rIns="0" bIns="0" rtlCol="0" anchor="ctr"/>
            <a:lstStyle/>
            <a:p>
              <a:pPr marL="0" indent="0">
                <a:buNone/>
              </a:pPr>
              <a:r>
                <a:rPr lang="en-US" b="1" kern="0" spc="300" dirty="0">
                  <a:solidFill>
                    <a:srgbClr val="00B4D8"/>
                  </a:solidFill>
                  <a:latin typeface="Times New Roman" panose="02020603050405020304" pitchFamily="18" charset="0"/>
                  <a:ea typeface="Calibri" pitchFamily="34" charset="-122"/>
                  <a:cs typeface="Times New Roman" panose="02020603050405020304" pitchFamily="18" charset="0"/>
                </a:rPr>
                <a:t>INCOMING EMAIL PATH</a:t>
              </a:r>
              <a:endParaRPr lang="en-US"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28053281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24CBD-9149-EF54-6ED6-F5B07983F7AD}"/>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98EFB65-D189-CFF2-3480-BFA0EE252237}"/>
              </a:ext>
            </a:extLst>
          </p:cNvPr>
          <p:cNvSpPr txBox="1"/>
          <p:nvPr/>
        </p:nvSpPr>
        <p:spPr>
          <a:xfrm>
            <a:off x="139493" y="151684"/>
            <a:ext cx="10685951" cy="584775"/>
          </a:xfrm>
          <a:prstGeom prst="rect">
            <a:avLst/>
          </a:prstGeom>
          <a:noFill/>
        </p:spPr>
        <p:txBody>
          <a:bodyPr wrap="square">
            <a:spAutoFit/>
          </a:bodyPr>
          <a:lstStyle/>
          <a:p>
            <a:r>
              <a:rPr lang="en-US" sz="3200" b="1" dirty="0">
                <a:latin typeface="Times New Roman" panose="02020603050405020304" pitchFamily="18" charset="0"/>
                <a:ea typeface="Calibri" pitchFamily="34" charset="-122"/>
                <a:cs typeface="Times New Roman" panose="02020603050405020304" pitchFamily="18" charset="0"/>
              </a:rPr>
              <a:t>LUHN ALGORITHM</a:t>
            </a:r>
            <a:endParaRPr lang="en-US" sz="3200" dirty="0">
              <a:latin typeface="Times New Roman" panose="02020603050405020304" pitchFamily="18" charset="0"/>
              <a:cs typeface="Times New Roman" panose="02020603050405020304" pitchFamily="18" charset="0"/>
            </a:endParaRPr>
          </a:p>
        </p:txBody>
      </p:sp>
      <p:grpSp>
        <p:nvGrpSpPr>
          <p:cNvPr id="391" name="Group 390">
            <a:extLst>
              <a:ext uri="{FF2B5EF4-FFF2-40B4-BE49-F238E27FC236}">
                <a16:creationId xmlns:a16="http://schemas.microsoft.com/office/drawing/2014/main" id="{2B0A5CD7-299F-EA55-2F10-9056F1D2A376}"/>
              </a:ext>
            </a:extLst>
          </p:cNvPr>
          <p:cNvGrpSpPr/>
          <p:nvPr/>
        </p:nvGrpSpPr>
        <p:grpSpPr>
          <a:xfrm>
            <a:off x="365760" y="1304290"/>
            <a:ext cx="11500113" cy="5299752"/>
            <a:chOff x="365760" y="1304290"/>
            <a:chExt cx="11500113" cy="5299752"/>
          </a:xfrm>
        </p:grpSpPr>
        <p:sp>
          <p:nvSpPr>
            <p:cNvPr id="62" name="Shape 6">
              <a:extLst>
                <a:ext uri="{FF2B5EF4-FFF2-40B4-BE49-F238E27FC236}">
                  <a16:creationId xmlns:a16="http://schemas.microsoft.com/office/drawing/2014/main" id="{75BD125F-58BC-CC39-3C97-37CBA88DB35E}"/>
                </a:ext>
              </a:extLst>
            </p:cNvPr>
            <p:cNvSpPr/>
            <p:nvPr/>
          </p:nvSpPr>
          <p:spPr>
            <a:xfrm>
              <a:off x="365760" y="1304290"/>
              <a:ext cx="5052596" cy="1343660"/>
            </a:xfrm>
            <a:prstGeom prst="rect">
              <a:avLst/>
            </a:prstGeom>
            <a:solidFill>
              <a:schemeClr val="bg1"/>
            </a:solidFill>
            <a:ln w="12700">
              <a:solidFill>
                <a:srgbClr val="00B4D8"/>
              </a:solidFill>
              <a:prstDash val="solid"/>
            </a:ln>
            <a:effectLst/>
          </p:spPr>
        </p:sp>
        <p:sp>
          <p:nvSpPr>
            <p:cNvPr id="63" name="Text 7">
              <a:extLst>
                <a:ext uri="{FF2B5EF4-FFF2-40B4-BE49-F238E27FC236}">
                  <a16:creationId xmlns:a16="http://schemas.microsoft.com/office/drawing/2014/main" id="{436FD33D-03D8-5C41-2DF4-3052D03D7399}"/>
                </a:ext>
              </a:extLst>
            </p:cNvPr>
            <p:cNvSpPr/>
            <p:nvPr/>
          </p:nvSpPr>
          <p:spPr>
            <a:xfrm>
              <a:off x="539987" y="1405721"/>
              <a:ext cx="4529914" cy="253577"/>
            </a:xfrm>
            <a:prstGeom prst="rect">
              <a:avLst/>
            </a:prstGeom>
            <a:noFill/>
            <a:ln/>
          </p:spPr>
          <p:txBody>
            <a:bodyPr wrap="square" lIns="0" tIns="0" rIns="0" bIns="0" rtlCol="0" anchor="ctr"/>
            <a:lstStyle/>
            <a:p>
              <a:pPr marL="0" indent="0">
                <a:buNone/>
              </a:pPr>
              <a:r>
                <a:rPr lang="en-US" sz="1600" b="1" kern="0" spc="200" dirty="0">
                  <a:latin typeface="Times New Roman" panose="02020603050405020304" pitchFamily="18" charset="0"/>
                  <a:ea typeface="Calibri" pitchFamily="34" charset="-122"/>
                  <a:cs typeface="Times New Roman" panose="02020603050405020304" pitchFamily="18" charset="0"/>
                </a:rPr>
                <a:t>THE PROBLEM</a:t>
              </a:r>
              <a:endParaRPr lang="en-US" sz="1600" dirty="0">
                <a:latin typeface="Times New Roman" panose="02020603050405020304" pitchFamily="18" charset="0"/>
                <a:cs typeface="Times New Roman" panose="02020603050405020304" pitchFamily="18" charset="0"/>
              </a:endParaRPr>
            </a:p>
          </p:txBody>
        </p:sp>
        <p:sp>
          <p:nvSpPr>
            <p:cNvPr id="64" name="Text 8">
              <a:extLst>
                <a:ext uri="{FF2B5EF4-FFF2-40B4-BE49-F238E27FC236}">
                  <a16:creationId xmlns:a16="http://schemas.microsoft.com/office/drawing/2014/main" id="{AED56F46-A423-3DC6-3ADC-3449471E0006}"/>
                </a:ext>
              </a:extLst>
            </p:cNvPr>
            <p:cNvSpPr/>
            <p:nvPr/>
          </p:nvSpPr>
          <p:spPr>
            <a:xfrm>
              <a:off x="454262" y="1746500"/>
              <a:ext cx="4832114" cy="758575"/>
            </a:xfrm>
            <a:prstGeom prst="rect">
              <a:avLst/>
            </a:prstGeom>
            <a:noFill/>
            <a:ln/>
          </p:spPr>
          <p:txBody>
            <a:bodyPr wrap="square" rtlCol="0" anchor="ctr"/>
            <a:lstStyle/>
            <a:p>
              <a:pPr marL="0" indent="0">
                <a:buNone/>
              </a:pPr>
              <a:r>
                <a:rPr lang="en-US" sz="1400" dirty="0">
                  <a:latin typeface="Times New Roman" panose="02020603050405020304" pitchFamily="18" charset="0"/>
                  <a:ea typeface="Calibri" pitchFamily="34" charset="-122"/>
                  <a:cs typeface="Times New Roman" panose="02020603050405020304" pitchFamily="18" charset="0"/>
                </a:rPr>
                <a:t>Regex alone matches any 13–19 digit sequence. Phone numbers, order IDs, and timestamps all produce false positives at scale.</a:t>
              </a:r>
              <a:endParaRPr lang="en-US" sz="1400" dirty="0">
                <a:latin typeface="Times New Roman" panose="02020603050405020304" pitchFamily="18" charset="0"/>
                <a:cs typeface="Times New Roman" panose="02020603050405020304" pitchFamily="18" charset="0"/>
              </a:endParaRPr>
            </a:p>
          </p:txBody>
        </p:sp>
        <p:sp>
          <p:nvSpPr>
            <p:cNvPr id="65" name="Shape 9">
              <a:extLst>
                <a:ext uri="{FF2B5EF4-FFF2-40B4-BE49-F238E27FC236}">
                  <a16:creationId xmlns:a16="http://schemas.microsoft.com/office/drawing/2014/main" id="{69616E15-FCE1-20EF-CDD9-A946C2EE5E1E}"/>
                </a:ext>
              </a:extLst>
            </p:cNvPr>
            <p:cNvSpPr/>
            <p:nvPr/>
          </p:nvSpPr>
          <p:spPr>
            <a:xfrm>
              <a:off x="5650659" y="1304290"/>
              <a:ext cx="5401051" cy="1343660"/>
            </a:xfrm>
            <a:prstGeom prst="rect">
              <a:avLst/>
            </a:prstGeom>
            <a:solidFill>
              <a:schemeClr val="bg1"/>
            </a:solidFill>
            <a:ln w="12700">
              <a:solidFill>
                <a:srgbClr val="F4A261"/>
              </a:solidFill>
              <a:prstDash val="solid"/>
            </a:ln>
            <a:effectLst/>
          </p:spPr>
        </p:sp>
        <p:sp>
          <p:nvSpPr>
            <p:cNvPr id="66" name="Text 10">
              <a:extLst>
                <a:ext uri="{FF2B5EF4-FFF2-40B4-BE49-F238E27FC236}">
                  <a16:creationId xmlns:a16="http://schemas.microsoft.com/office/drawing/2014/main" id="{F9D772CE-ACAB-6BA6-5C2F-5B9F1EFF5626}"/>
                </a:ext>
              </a:extLst>
            </p:cNvPr>
            <p:cNvSpPr/>
            <p:nvPr/>
          </p:nvSpPr>
          <p:spPr>
            <a:xfrm>
              <a:off x="5824887" y="1405721"/>
              <a:ext cx="4994520" cy="253577"/>
            </a:xfrm>
            <a:prstGeom prst="rect">
              <a:avLst/>
            </a:prstGeom>
            <a:noFill/>
            <a:ln/>
          </p:spPr>
          <p:txBody>
            <a:bodyPr wrap="square" lIns="0" tIns="0" rIns="0" bIns="0" rtlCol="0" anchor="ctr"/>
            <a:lstStyle/>
            <a:p>
              <a:pPr marL="0" indent="0">
                <a:buNone/>
              </a:pPr>
              <a:r>
                <a:rPr lang="en-US" sz="1600" b="1" kern="0" spc="200" dirty="0">
                  <a:latin typeface="Times New Roman" panose="02020603050405020304" pitchFamily="18" charset="0"/>
                  <a:ea typeface="Calibri" pitchFamily="34" charset="-122"/>
                  <a:cs typeface="Times New Roman" panose="02020603050405020304" pitchFamily="18" charset="0"/>
                </a:rPr>
                <a:t>THE SOLUTION</a:t>
              </a:r>
              <a:endParaRPr lang="en-US" sz="1600" dirty="0">
                <a:latin typeface="Times New Roman" panose="02020603050405020304" pitchFamily="18" charset="0"/>
                <a:cs typeface="Times New Roman" panose="02020603050405020304" pitchFamily="18" charset="0"/>
              </a:endParaRPr>
            </a:p>
          </p:txBody>
        </p:sp>
        <p:sp>
          <p:nvSpPr>
            <p:cNvPr id="67" name="Text 11">
              <a:extLst>
                <a:ext uri="{FF2B5EF4-FFF2-40B4-BE49-F238E27FC236}">
                  <a16:creationId xmlns:a16="http://schemas.microsoft.com/office/drawing/2014/main" id="{86B05A15-3FC3-6625-B17C-246C5A8EE96D}"/>
                </a:ext>
              </a:extLst>
            </p:cNvPr>
            <p:cNvSpPr/>
            <p:nvPr/>
          </p:nvSpPr>
          <p:spPr>
            <a:xfrm>
              <a:off x="5729637" y="1833902"/>
              <a:ext cx="5214588" cy="659299"/>
            </a:xfrm>
            <a:prstGeom prst="rect">
              <a:avLst/>
            </a:prstGeom>
            <a:noFill/>
            <a:ln/>
          </p:spPr>
          <p:txBody>
            <a:bodyPr wrap="square" rtlCol="0" anchor="ctr"/>
            <a:lstStyle/>
            <a:p>
              <a:pPr marL="0" indent="0">
                <a:buNone/>
              </a:pPr>
              <a:r>
                <a:rPr lang="en-US" sz="1400" dirty="0">
                  <a:latin typeface="Times New Roman" panose="02020603050405020304" pitchFamily="18" charset="0"/>
                  <a:ea typeface="Calibri" pitchFamily="34" charset="-122"/>
                  <a:cs typeface="Times New Roman" panose="02020603050405020304" pitchFamily="18" charset="0"/>
                </a:rPr>
                <a:t>Luhn (Hans Peter Luhn, IBM 1954) is a checksum formula based into every major card network — Visa, Mastercard, RuPay. Zero false positives.</a:t>
              </a:r>
              <a:endParaRPr lang="en-US" sz="1400" dirty="0">
                <a:latin typeface="Times New Roman" panose="02020603050405020304" pitchFamily="18" charset="0"/>
                <a:cs typeface="Times New Roman" panose="02020603050405020304" pitchFamily="18" charset="0"/>
              </a:endParaRPr>
            </a:p>
          </p:txBody>
        </p:sp>
        <p:sp>
          <p:nvSpPr>
            <p:cNvPr id="68" name="Text 12">
              <a:extLst>
                <a:ext uri="{FF2B5EF4-FFF2-40B4-BE49-F238E27FC236}">
                  <a16:creationId xmlns:a16="http://schemas.microsoft.com/office/drawing/2014/main" id="{8C65D4CA-2C6D-F7B1-3122-9ADCB6AE4873}"/>
                </a:ext>
              </a:extLst>
            </p:cNvPr>
            <p:cNvSpPr/>
            <p:nvPr/>
          </p:nvSpPr>
          <p:spPr>
            <a:xfrm>
              <a:off x="395996" y="2950693"/>
              <a:ext cx="4646065" cy="278934"/>
            </a:xfrm>
            <a:prstGeom prst="rect">
              <a:avLst/>
            </a:prstGeom>
            <a:noFill/>
            <a:ln/>
          </p:spPr>
          <p:txBody>
            <a:bodyPr wrap="square" lIns="0" tIns="0" rIns="0" bIns="0" rtlCol="0" anchor="ctr"/>
            <a:lstStyle/>
            <a:p>
              <a:pPr marL="0" indent="0">
                <a:buNone/>
              </a:pPr>
              <a:r>
                <a:rPr lang="en-US" sz="1200" b="1" kern="0" spc="300" dirty="0">
                  <a:latin typeface="Times New Roman" panose="02020603050405020304" pitchFamily="18" charset="0"/>
                  <a:ea typeface="Calibri" pitchFamily="34" charset="-122"/>
                  <a:cs typeface="Times New Roman" panose="02020603050405020304" pitchFamily="18" charset="0"/>
                </a:rPr>
                <a:t>ALGORITHM STEPS</a:t>
              </a:r>
              <a:endParaRPr lang="en-US" sz="1200" dirty="0">
                <a:latin typeface="Times New Roman" panose="02020603050405020304" pitchFamily="18" charset="0"/>
                <a:cs typeface="Times New Roman" panose="02020603050405020304" pitchFamily="18" charset="0"/>
              </a:endParaRPr>
            </a:p>
          </p:txBody>
        </p:sp>
        <p:sp>
          <p:nvSpPr>
            <p:cNvPr id="69" name="Shape 13">
              <a:extLst>
                <a:ext uri="{FF2B5EF4-FFF2-40B4-BE49-F238E27FC236}">
                  <a16:creationId xmlns:a16="http://schemas.microsoft.com/office/drawing/2014/main" id="{241B8163-DFB0-3FA9-0AE7-52EFC2DC1BBC}"/>
                </a:ext>
              </a:extLst>
            </p:cNvPr>
            <p:cNvSpPr/>
            <p:nvPr/>
          </p:nvSpPr>
          <p:spPr>
            <a:xfrm>
              <a:off x="395996" y="3280342"/>
              <a:ext cx="487837" cy="532511"/>
            </a:xfrm>
            <a:prstGeom prst="ellipse">
              <a:avLst/>
            </a:prstGeom>
            <a:solidFill>
              <a:srgbClr val="00B4D8"/>
            </a:solidFill>
            <a:ln w="12700">
              <a:solidFill>
                <a:srgbClr val="00B4D8"/>
              </a:solidFill>
              <a:prstDash val="solid"/>
            </a:ln>
          </p:spPr>
        </p:sp>
        <p:sp>
          <p:nvSpPr>
            <p:cNvPr id="70" name="Text 14">
              <a:extLst>
                <a:ext uri="{FF2B5EF4-FFF2-40B4-BE49-F238E27FC236}">
                  <a16:creationId xmlns:a16="http://schemas.microsoft.com/office/drawing/2014/main" id="{89AE9B9B-78FF-FDCD-DC96-4E3E7009089C}"/>
                </a:ext>
              </a:extLst>
            </p:cNvPr>
            <p:cNvSpPr/>
            <p:nvPr/>
          </p:nvSpPr>
          <p:spPr>
            <a:xfrm>
              <a:off x="395996" y="3318379"/>
              <a:ext cx="487837" cy="456438"/>
            </a:xfrm>
            <a:prstGeom prst="rect">
              <a:avLst/>
            </a:prstGeom>
            <a:noFill/>
            <a:ln/>
          </p:spPr>
          <p:txBody>
            <a:bodyPr wrap="square" lIns="0" tIns="0" rIns="0" bIns="0" rtlCol="0" anchor="ctr"/>
            <a:lstStyle/>
            <a:p>
              <a:pPr marL="0" indent="0" algn="ctr">
                <a:buNone/>
              </a:pPr>
              <a:r>
                <a:rPr lang="en-US" sz="1600" b="1" dirty="0">
                  <a:latin typeface="Times New Roman" panose="02020603050405020304" pitchFamily="18" charset="0"/>
                  <a:ea typeface="Calibri" pitchFamily="34" charset="-122"/>
                  <a:cs typeface="Times New Roman" panose="02020603050405020304" pitchFamily="18" charset="0"/>
                </a:rPr>
                <a:t>1</a:t>
              </a:r>
              <a:endParaRPr lang="en-US" sz="1600" dirty="0">
                <a:latin typeface="Times New Roman" panose="02020603050405020304" pitchFamily="18" charset="0"/>
                <a:cs typeface="Times New Roman" panose="02020603050405020304" pitchFamily="18" charset="0"/>
              </a:endParaRPr>
            </a:p>
          </p:txBody>
        </p:sp>
        <p:sp>
          <p:nvSpPr>
            <p:cNvPr id="71" name="Text 15">
              <a:extLst>
                <a:ext uri="{FF2B5EF4-FFF2-40B4-BE49-F238E27FC236}">
                  <a16:creationId xmlns:a16="http://schemas.microsoft.com/office/drawing/2014/main" id="{32F7B9F5-3EB6-D8C1-DAC0-8384811D6108}"/>
                </a:ext>
              </a:extLst>
            </p:cNvPr>
            <p:cNvSpPr/>
            <p:nvPr/>
          </p:nvSpPr>
          <p:spPr>
            <a:xfrm>
              <a:off x="999984" y="3305700"/>
              <a:ext cx="4646065" cy="557869"/>
            </a:xfrm>
            <a:prstGeom prst="rect">
              <a:avLst/>
            </a:prstGeom>
            <a:noFill/>
            <a:ln/>
          </p:spPr>
          <p:txBody>
            <a:bodyPr wrap="square" lIns="0" tIns="0" rIns="0" bIns="0" rtlCol="0" anchor="ctr"/>
            <a:lstStyle/>
            <a:p>
              <a:pPr marL="0" indent="0">
                <a:buNone/>
              </a:pPr>
              <a:r>
                <a:rPr lang="en-US" sz="1600" dirty="0">
                  <a:latin typeface="Times New Roman" panose="02020603050405020304" pitchFamily="18" charset="0"/>
                  <a:ea typeface="Calibri" pitchFamily="34" charset="-122"/>
                  <a:cs typeface="Times New Roman" panose="02020603050405020304" pitchFamily="18" charset="0"/>
                </a:rPr>
                <a:t>Read all digits from right to left.</a:t>
              </a:r>
              <a:endParaRPr lang="en-US" sz="1600" dirty="0">
                <a:latin typeface="Times New Roman" panose="02020603050405020304" pitchFamily="18" charset="0"/>
                <a:cs typeface="Times New Roman" panose="02020603050405020304" pitchFamily="18" charset="0"/>
              </a:endParaRPr>
            </a:p>
          </p:txBody>
        </p:sp>
        <p:sp>
          <p:nvSpPr>
            <p:cNvPr id="72" name="Shape 16">
              <a:extLst>
                <a:ext uri="{FF2B5EF4-FFF2-40B4-BE49-F238E27FC236}">
                  <a16:creationId xmlns:a16="http://schemas.microsoft.com/office/drawing/2014/main" id="{3F41854B-F872-BC6A-5EDA-C3A2F9C62261}"/>
                </a:ext>
              </a:extLst>
            </p:cNvPr>
            <p:cNvSpPr/>
            <p:nvPr/>
          </p:nvSpPr>
          <p:spPr>
            <a:xfrm>
              <a:off x="395996" y="3888926"/>
              <a:ext cx="487837" cy="532511"/>
            </a:xfrm>
            <a:prstGeom prst="ellipse">
              <a:avLst/>
            </a:prstGeom>
            <a:solidFill>
              <a:srgbClr val="00B4D8"/>
            </a:solidFill>
            <a:ln w="12700">
              <a:solidFill>
                <a:srgbClr val="00B4D8"/>
              </a:solidFill>
              <a:prstDash val="solid"/>
            </a:ln>
          </p:spPr>
        </p:sp>
        <p:sp>
          <p:nvSpPr>
            <p:cNvPr id="73" name="Text 17">
              <a:extLst>
                <a:ext uri="{FF2B5EF4-FFF2-40B4-BE49-F238E27FC236}">
                  <a16:creationId xmlns:a16="http://schemas.microsoft.com/office/drawing/2014/main" id="{C3F4BDC1-1D97-82CD-AE74-74399AD20BBC}"/>
                </a:ext>
              </a:extLst>
            </p:cNvPr>
            <p:cNvSpPr/>
            <p:nvPr/>
          </p:nvSpPr>
          <p:spPr>
            <a:xfrm>
              <a:off x="395996" y="3926963"/>
              <a:ext cx="487837" cy="456438"/>
            </a:xfrm>
            <a:prstGeom prst="rect">
              <a:avLst/>
            </a:prstGeom>
            <a:noFill/>
            <a:ln/>
          </p:spPr>
          <p:txBody>
            <a:bodyPr wrap="square" lIns="0" tIns="0" rIns="0" bIns="0" rtlCol="0" anchor="ctr"/>
            <a:lstStyle/>
            <a:p>
              <a:pPr marL="0" indent="0" algn="ctr">
                <a:buNone/>
              </a:pPr>
              <a:r>
                <a:rPr lang="en-US" sz="1600" b="1" dirty="0">
                  <a:latin typeface="Times New Roman" panose="02020603050405020304" pitchFamily="18" charset="0"/>
                  <a:ea typeface="Calibri" pitchFamily="34" charset="-122"/>
                  <a:cs typeface="Times New Roman" panose="02020603050405020304" pitchFamily="18" charset="0"/>
                </a:rPr>
                <a:t>2</a:t>
              </a:r>
              <a:endParaRPr lang="en-US" sz="1600" dirty="0">
                <a:latin typeface="Times New Roman" panose="02020603050405020304" pitchFamily="18" charset="0"/>
                <a:cs typeface="Times New Roman" panose="02020603050405020304" pitchFamily="18" charset="0"/>
              </a:endParaRPr>
            </a:p>
          </p:txBody>
        </p:sp>
        <p:sp>
          <p:nvSpPr>
            <p:cNvPr id="74" name="Text 18">
              <a:extLst>
                <a:ext uri="{FF2B5EF4-FFF2-40B4-BE49-F238E27FC236}">
                  <a16:creationId xmlns:a16="http://schemas.microsoft.com/office/drawing/2014/main" id="{E431B982-144B-FF09-9BFD-48B67CED9BF7}"/>
                </a:ext>
              </a:extLst>
            </p:cNvPr>
            <p:cNvSpPr/>
            <p:nvPr/>
          </p:nvSpPr>
          <p:spPr>
            <a:xfrm>
              <a:off x="999984" y="3914284"/>
              <a:ext cx="4646065" cy="557869"/>
            </a:xfrm>
            <a:prstGeom prst="rect">
              <a:avLst/>
            </a:prstGeom>
            <a:noFill/>
            <a:ln/>
          </p:spPr>
          <p:txBody>
            <a:bodyPr wrap="square" lIns="0" tIns="0" rIns="0" bIns="0" rtlCol="0" anchor="ctr"/>
            <a:lstStyle/>
            <a:p>
              <a:pPr marL="0" indent="0">
                <a:buNone/>
              </a:pPr>
              <a:r>
                <a:rPr lang="en-US" sz="1600" dirty="0">
                  <a:latin typeface="Times New Roman" panose="02020603050405020304" pitchFamily="18" charset="0"/>
                  <a:ea typeface="Calibri" pitchFamily="34" charset="-122"/>
                  <a:cs typeface="Times New Roman" panose="02020603050405020304" pitchFamily="18" charset="0"/>
                </a:rPr>
                <a:t>Double every second digit (positions 2, 4, 6 … from the right).</a:t>
              </a:r>
              <a:endParaRPr lang="en-US" sz="1600" dirty="0">
                <a:latin typeface="Times New Roman" panose="02020603050405020304" pitchFamily="18" charset="0"/>
                <a:cs typeface="Times New Roman" panose="02020603050405020304" pitchFamily="18" charset="0"/>
              </a:endParaRPr>
            </a:p>
          </p:txBody>
        </p:sp>
        <p:sp>
          <p:nvSpPr>
            <p:cNvPr id="75" name="Shape 19">
              <a:extLst>
                <a:ext uri="{FF2B5EF4-FFF2-40B4-BE49-F238E27FC236}">
                  <a16:creationId xmlns:a16="http://schemas.microsoft.com/office/drawing/2014/main" id="{D36170DD-8D10-80FB-35D0-48679A83A827}"/>
                </a:ext>
              </a:extLst>
            </p:cNvPr>
            <p:cNvSpPr/>
            <p:nvPr/>
          </p:nvSpPr>
          <p:spPr>
            <a:xfrm>
              <a:off x="395996" y="4497510"/>
              <a:ext cx="487837" cy="532511"/>
            </a:xfrm>
            <a:prstGeom prst="ellipse">
              <a:avLst/>
            </a:prstGeom>
            <a:solidFill>
              <a:srgbClr val="00B4D8"/>
            </a:solidFill>
            <a:ln w="12700">
              <a:solidFill>
                <a:srgbClr val="00B4D8"/>
              </a:solidFill>
              <a:prstDash val="solid"/>
            </a:ln>
          </p:spPr>
        </p:sp>
        <p:sp>
          <p:nvSpPr>
            <p:cNvPr id="76" name="Text 20">
              <a:extLst>
                <a:ext uri="{FF2B5EF4-FFF2-40B4-BE49-F238E27FC236}">
                  <a16:creationId xmlns:a16="http://schemas.microsoft.com/office/drawing/2014/main" id="{B9E41C59-ABE6-B0F5-DA6C-E06D5C74B482}"/>
                </a:ext>
              </a:extLst>
            </p:cNvPr>
            <p:cNvSpPr/>
            <p:nvPr/>
          </p:nvSpPr>
          <p:spPr>
            <a:xfrm>
              <a:off x="395996" y="4535547"/>
              <a:ext cx="487837" cy="456438"/>
            </a:xfrm>
            <a:prstGeom prst="rect">
              <a:avLst/>
            </a:prstGeom>
            <a:noFill/>
            <a:ln/>
          </p:spPr>
          <p:txBody>
            <a:bodyPr wrap="square" lIns="0" tIns="0" rIns="0" bIns="0" rtlCol="0" anchor="ctr"/>
            <a:lstStyle/>
            <a:p>
              <a:pPr marL="0" indent="0" algn="ctr">
                <a:buNone/>
              </a:pPr>
              <a:r>
                <a:rPr lang="en-US" sz="1600" b="1" dirty="0">
                  <a:latin typeface="Times New Roman" panose="02020603050405020304" pitchFamily="18" charset="0"/>
                  <a:ea typeface="Calibri" pitchFamily="34" charset="-122"/>
                  <a:cs typeface="Times New Roman" panose="02020603050405020304" pitchFamily="18" charset="0"/>
                </a:rPr>
                <a:t>3</a:t>
              </a:r>
              <a:endParaRPr lang="en-US" sz="1600" dirty="0">
                <a:latin typeface="Times New Roman" panose="02020603050405020304" pitchFamily="18" charset="0"/>
                <a:cs typeface="Times New Roman" panose="02020603050405020304" pitchFamily="18" charset="0"/>
              </a:endParaRPr>
            </a:p>
          </p:txBody>
        </p:sp>
        <p:sp>
          <p:nvSpPr>
            <p:cNvPr id="77" name="Text 21">
              <a:extLst>
                <a:ext uri="{FF2B5EF4-FFF2-40B4-BE49-F238E27FC236}">
                  <a16:creationId xmlns:a16="http://schemas.microsoft.com/office/drawing/2014/main" id="{3CCBB443-B350-A9A5-9459-9040125F8460}"/>
                </a:ext>
              </a:extLst>
            </p:cNvPr>
            <p:cNvSpPr/>
            <p:nvPr/>
          </p:nvSpPr>
          <p:spPr>
            <a:xfrm>
              <a:off x="999984" y="4522868"/>
              <a:ext cx="4646065" cy="557869"/>
            </a:xfrm>
            <a:prstGeom prst="rect">
              <a:avLst/>
            </a:prstGeom>
            <a:noFill/>
            <a:ln/>
          </p:spPr>
          <p:txBody>
            <a:bodyPr wrap="square" lIns="0" tIns="0" rIns="0" bIns="0" rtlCol="0" anchor="ctr"/>
            <a:lstStyle/>
            <a:p>
              <a:pPr marL="0" indent="0">
                <a:buNone/>
              </a:pPr>
              <a:r>
                <a:rPr lang="en-US" sz="1600" dirty="0">
                  <a:latin typeface="Times New Roman" panose="02020603050405020304" pitchFamily="18" charset="0"/>
                  <a:ea typeface="Calibri" pitchFamily="34" charset="-122"/>
                  <a:cs typeface="Times New Roman" panose="02020603050405020304" pitchFamily="18" charset="0"/>
                </a:rPr>
                <a:t>If the doubled value exceeds 9, subtract 9 from it.</a:t>
              </a:r>
              <a:endParaRPr lang="en-US" sz="1600" dirty="0">
                <a:latin typeface="Times New Roman" panose="02020603050405020304" pitchFamily="18" charset="0"/>
                <a:cs typeface="Times New Roman" panose="02020603050405020304" pitchFamily="18" charset="0"/>
              </a:endParaRPr>
            </a:p>
          </p:txBody>
        </p:sp>
        <p:sp>
          <p:nvSpPr>
            <p:cNvPr id="78" name="Shape 22">
              <a:extLst>
                <a:ext uri="{FF2B5EF4-FFF2-40B4-BE49-F238E27FC236}">
                  <a16:creationId xmlns:a16="http://schemas.microsoft.com/office/drawing/2014/main" id="{0338B442-CF59-F786-8588-BEA3B1F9282B}"/>
                </a:ext>
              </a:extLst>
            </p:cNvPr>
            <p:cNvSpPr/>
            <p:nvPr/>
          </p:nvSpPr>
          <p:spPr>
            <a:xfrm>
              <a:off x="395996" y="5106094"/>
              <a:ext cx="487837" cy="532511"/>
            </a:xfrm>
            <a:prstGeom prst="ellipse">
              <a:avLst/>
            </a:prstGeom>
            <a:solidFill>
              <a:srgbClr val="00B4D8"/>
            </a:solidFill>
            <a:ln w="12700">
              <a:solidFill>
                <a:srgbClr val="00B4D8"/>
              </a:solidFill>
              <a:prstDash val="solid"/>
            </a:ln>
          </p:spPr>
        </p:sp>
        <p:sp>
          <p:nvSpPr>
            <p:cNvPr id="79" name="Text 23">
              <a:extLst>
                <a:ext uri="{FF2B5EF4-FFF2-40B4-BE49-F238E27FC236}">
                  <a16:creationId xmlns:a16="http://schemas.microsoft.com/office/drawing/2014/main" id="{26F488B4-94AA-3923-D680-1B1C48AA2989}"/>
                </a:ext>
              </a:extLst>
            </p:cNvPr>
            <p:cNvSpPr/>
            <p:nvPr/>
          </p:nvSpPr>
          <p:spPr>
            <a:xfrm>
              <a:off x="395996" y="5144131"/>
              <a:ext cx="487837" cy="456438"/>
            </a:xfrm>
            <a:prstGeom prst="rect">
              <a:avLst/>
            </a:prstGeom>
            <a:noFill/>
            <a:ln/>
          </p:spPr>
          <p:txBody>
            <a:bodyPr wrap="square" lIns="0" tIns="0" rIns="0" bIns="0" rtlCol="0" anchor="ctr"/>
            <a:lstStyle/>
            <a:p>
              <a:pPr marL="0" indent="0" algn="ctr">
                <a:buNone/>
              </a:pPr>
              <a:r>
                <a:rPr lang="en-US" sz="1600" b="1" dirty="0">
                  <a:latin typeface="Times New Roman" panose="02020603050405020304" pitchFamily="18" charset="0"/>
                  <a:ea typeface="Calibri" pitchFamily="34" charset="-122"/>
                  <a:cs typeface="Times New Roman" panose="02020603050405020304" pitchFamily="18" charset="0"/>
                </a:rPr>
                <a:t>4</a:t>
              </a:r>
              <a:endParaRPr lang="en-US" sz="1600" dirty="0">
                <a:latin typeface="Times New Roman" panose="02020603050405020304" pitchFamily="18" charset="0"/>
                <a:cs typeface="Times New Roman" panose="02020603050405020304" pitchFamily="18" charset="0"/>
              </a:endParaRPr>
            </a:p>
          </p:txBody>
        </p:sp>
        <p:sp>
          <p:nvSpPr>
            <p:cNvPr id="80" name="Text 24">
              <a:extLst>
                <a:ext uri="{FF2B5EF4-FFF2-40B4-BE49-F238E27FC236}">
                  <a16:creationId xmlns:a16="http://schemas.microsoft.com/office/drawing/2014/main" id="{E207BEF3-AAA5-E06A-E278-19167E9B9E53}"/>
                </a:ext>
              </a:extLst>
            </p:cNvPr>
            <p:cNvSpPr/>
            <p:nvPr/>
          </p:nvSpPr>
          <p:spPr>
            <a:xfrm>
              <a:off x="999984" y="5131452"/>
              <a:ext cx="4646065" cy="557869"/>
            </a:xfrm>
            <a:prstGeom prst="rect">
              <a:avLst/>
            </a:prstGeom>
            <a:noFill/>
            <a:ln/>
          </p:spPr>
          <p:txBody>
            <a:bodyPr wrap="square" lIns="0" tIns="0" rIns="0" bIns="0" rtlCol="0" anchor="ctr"/>
            <a:lstStyle/>
            <a:p>
              <a:pPr marL="0" indent="0">
                <a:buNone/>
              </a:pPr>
              <a:r>
                <a:rPr lang="en-US" sz="1600" dirty="0">
                  <a:latin typeface="Times New Roman" panose="02020603050405020304" pitchFamily="18" charset="0"/>
                  <a:ea typeface="Calibri" pitchFamily="34" charset="-122"/>
                  <a:cs typeface="Times New Roman" panose="02020603050405020304" pitchFamily="18" charset="0"/>
                </a:rPr>
                <a:t>Sum all the resulting digits together.</a:t>
              </a:r>
              <a:endParaRPr lang="en-US" sz="1600" dirty="0">
                <a:latin typeface="Times New Roman" panose="02020603050405020304" pitchFamily="18" charset="0"/>
                <a:cs typeface="Times New Roman" panose="02020603050405020304" pitchFamily="18" charset="0"/>
              </a:endParaRPr>
            </a:p>
          </p:txBody>
        </p:sp>
        <p:sp>
          <p:nvSpPr>
            <p:cNvPr id="81" name="Shape 25">
              <a:extLst>
                <a:ext uri="{FF2B5EF4-FFF2-40B4-BE49-F238E27FC236}">
                  <a16:creationId xmlns:a16="http://schemas.microsoft.com/office/drawing/2014/main" id="{79C16DC6-ADBA-3A1C-6948-AF47842A67A1}"/>
                </a:ext>
              </a:extLst>
            </p:cNvPr>
            <p:cNvSpPr/>
            <p:nvPr/>
          </p:nvSpPr>
          <p:spPr>
            <a:xfrm>
              <a:off x="395996" y="5714678"/>
              <a:ext cx="487837" cy="532511"/>
            </a:xfrm>
            <a:prstGeom prst="ellipse">
              <a:avLst/>
            </a:prstGeom>
            <a:solidFill>
              <a:srgbClr val="00B4D8"/>
            </a:solidFill>
            <a:ln w="12700">
              <a:solidFill>
                <a:srgbClr val="00B4D8"/>
              </a:solidFill>
              <a:prstDash val="solid"/>
            </a:ln>
          </p:spPr>
        </p:sp>
        <p:sp>
          <p:nvSpPr>
            <p:cNvPr id="82" name="Text 26">
              <a:extLst>
                <a:ext uri="{FF2B5EF4-FFF2-40B4-BE49-F238E27FC236}">
                  <a16:creationId xmlns:a16="http://schemas.microsoft.com/office/drawing/2014/main" id="{708D4F3E-DC5F-A870-4D09-568AEC13CBCD}"/>
                </a:ext>
              </a:extLst>
            </p:cNvPr>
            <p:cNvSpPr/>
            <p:nvPr/>
          </p:nvSpPr>
          <p:spPr>
            <a:xfrm>
              <a:off x="395996" y="5752715"/>
              <a:ext cx="487837" cy="456438"/>
            </a:xfrm>
            <a:prstGeom prst="rect">
              <a:avLst/>
            </a:prstGeom>
            <a:noFill/>
            <a:ln/>
          </p:spPr>
          <p:txBody>
            <a:bodyPr wrap="square" lIns="0" tIns="0" rIns="0" bIns="0" rtlCol="0" anchor="ctr"/>
            <a:lstStyle/>
            <a:p>
              <a:pPr marL="0" indent="0" algn="ctr">
                <a:buNone/>
              </a:pPr>
              <a:r>
                <a:rPr lang="en-US" sz="1600" b="1" dirty="0">
                  <a:latin typeface="Times New Roman" panose="02020603050405020304" pitchFamily="18" charset="0"/>
                  <a:ea typeface="Calibri" pitchFamily="34" charset="-122"/>
                  <a:cs typeface="Times New Roman" panose="02020603050405020304" pitchFamily="18" charset="0"/>
                </a:rPr>
                <a:t>5</a:t>
              </a:r>
              <a:endParaRPr lang="en-US" sz="1600" dirty="0">
                <a:latin typeface="Times New Roman" panose="02020603050405020304" pitchFamily="18" charset="0"/>
                <a:cs typeface="Times New Roman" panose="02020603050405020304" pitchFamily="18" charset="0"/>
              </a:endParaRPr>
            </a:p>
          </p:txBody>
        </p:sp>
        <p:sp>
          <p:nvSpPr>
            <p:cNvPr id="83" name="Text 27">
              <a:extLst>
                <a:ext uri="{FF2B5EF4-FFF2-40B4-BE49-F238E27FC236}">
                  <a16:creationId xmlns:a16="http://schemas.microsoft.com/office/drawing/2014/main" id="{34041E50-B2CE-464B-19CC-69322A46EC9C}"/>
                </a:ext>
              </a:extLst>
            </p:cNvPr>
            <p:cNvSpPr/>
            <p:nvPr/>
          </p:nvSpPr>
          <p:spPr>
            <a:xfrm>
              <a:off x="999984" y="5740036"/>
              <a:ext cx="4646065" cy="557869"/>
            </a:xfrm>
            <a:prstGeom prst="rect">
              <a:avLst/>
            </a:prstGeom>
            <a:noFill/>
            <a:ln/>
          </p:spPr>
          <p:txBody>
            <a:bodyPr wrap="square" lIns="0" tIns="0" rIns="0" bIns="0" rtlCol="0" anchor="ctr"/>
            <a:lstStyle/>
            <a:p>
              <a:pPr marL="0" indent="0">
                <a:buNone/>
              </a:pPr>
              <a:r>
                <a:rPr lang="en-US" sz="1600" dirty="0">
                  <a:latin typeface="Times New Roman" panose="02020603050405020304" pitchFamily="18" charset="0"/>
                  <a:ea typeface="Calibri" pitchFamily="34" charset="-122"/>
                  <a:cs typeface="Times New Roman" panose="02020603050405020304" pitchFamily="18" charset="0"/>
                </a:rPr>
                <a:t>If the total modulo 10 equals 0  →  card number is VALID.</a:t>
              </a:r>
              <a:endParaRPr lang="en-US" sz="1600" dirty="0">
                <a:latin typeface="Times New Roman" panose="02020603050405020304" pitchFamily="18" charset="0"/>
                <a:cs typeface="Times New Roman" panose="02020603050405020304" pitchFamily="18" charset="0"/>
              </a:endParaRPr>
            </a:p>
          </p:txBody>
        </p:sp>
        <p:sp>
          <p:nvSpPr>
            <p:cNvPr id="84" name="Shape 28">
              <a:extLst>
                <a:ext uri="{FF2B5EF4-FFF2-40B4-BE49-F238E27FC236}">
                  <a16:creationId xmlns:a16="http://schemas.microsoft.com/office/drawing/2014/main" id="{4F5124A1-477C-F62B-928D-A5460245B40D}"/>
                </a:ext>
              </a:extLst>
            </p:cNvPr>
            <p:cNvSpPr/>
            <p:nvPr/>
          </p:nvSpPr>
          <p:spPr>
            <a:xfrm>
              <a:off x="5620925" y="2800392"/>
              <a:ext cx="5430785" cy="3803650"/>
            </a:xfrm>
            <a:prstGeom prst="rect">
              <a:avLst/>
            </a:prstGeom>
            <a:solidFill>
              <a:schemeClr val="bg1"/>
            </a:solidFill>
            <a:ln w="12700">
              <a:solidFill>
                <a:srgbClr val="00B4D8"/>
              </a:solidFill>
              <a:prstDash val="solid"/>
            </a:ln>
            <a:effectLst/>
          </p:spPr>
          <p:txBody>
            <a:bodyPr/>
            <a:lstStyle/>
            <a:p>
              <a:endParaRPr lang="en-GB" dirty="0"/>
            </a:p>
          </p:txBody>
        </p:sp>
        <p:sp>
          <p:nvSpPr>
            <p:cNvPr id="390" name="TextBox 389">
              <a:extLst>
                <a:ext uri="{FF2B5EF4-FFF2-40B4-BE49-F238E27FC236}">
                  <a16:creationId xmlns:a16="http://schemas.microsoft.com/office/drawing/2014/main" id="{9C90A301-C0B9-10D9-29BF-68D180E0F1F9}"/>
                </a:ext>
              </a:extLst>
            </p:cNvPr>
            <p:cNvSpPr txBox="1"/>
            <p:nvPr/>
          </p:nvSpPr>
          <p:spPr>
            <a:xfrm>
              <a:off x="5646049" y="2901103"/>
              <a:ext cx="6219824" cy="369332"/>
            </a:xfrm>
            <a:prstGeom prst="rect">
              <a:avLst/>
            </a:prstGeom>
            <a:noFill/>
          </p:spPr>
          <p:txBody>
            <a:bodyPr wrap="square">
              <a:spAutoFit/>
            </a:bodyPr>
            <a:lstStyle/>
            <a:p>
              <a:pPr marL="0" indent="0">
                <a:buNone/>
              </a:pPr>
              <a:r>
                <a:rPr lang="en-US" sz="1800" b="1" kern="0" spc="300" dirty="0">
                  <a:solidFill>
                    <a:srgbClr val="00B4D8"/>
                  </a:solidFill>
                  <a:latin typeface="Calibri" pitchFamily="34" charset="0"/>
                  <a:ea typeface="Calibri" pitchFamily="34" charset="-122"/>
                  <a:cs typeface="Calibri" pitchFamily="34" charset="-120"/>
                </a:rPr>
                <a:t>WORKED EXAMPLE</a:t>
              </a:r>
              <a:endParaRPr lang="en-US" sz="1800" dirty="0"/>
            </a:p>
          </p:txBody>
        </p:sp>
      </p:grpSp>
      <p:sp>
        <p:nvSpPr>
          <p:cNvPr id="3" name="TextBox 2">
            <a:extLst>
              <a:ext uri="{FF2B5EF4-FFF2-40B4-BE49-F238E27FC236}">
                <a16:creationId xmlns:a16="http://schemas.microsoft.com/office/drawing/2014/main" id="{3804D52D-93B9-5532-70FB-A628BB894720}"/>
              </a:ext>
            </a:extLst>
          </p:cNvPr>
          <p:cNvSpPr txBox="1"/>
          <p:nvPr/>
        </p:nvSpPr>
        <p:spPr>
          <a:xfrm>
            <a:off x="5646049" y="3305700"/>
            <a:ext cx="5198482" cy="3293209"/>
          </a:xfrm>
          <a:prstGeom prst="rect">
            <a:avLst/>
          </a:prstGeom>
          <a:noFill/>
        </p:spPr>
        <p:txBody>
          <a:bodyPr wrap="square">
            <a:spAutoFit/>
          </a:bodyPr>
          <a:lstStyle/>
          <a:p>
            <a:pPr>
              <a:buNone/>
            </a:pPr>
            <a:r>
              <a:rPr lang="en-GB" sz="1600" b="1" dirty="0"/>
              <a:t>Example : 4539 1488 0343 6467</a:t>
            </a:r>
          </a:p>
          <a:p>
            <a:pPr>
              <a:buNone/>
            </a:pPr>
            <a:endParaRPr lang="en-GB" sz="1600" b="1" dirty="0"/>
          </a:p>
          <a:p>
            <a:pPr>
              <a:buNone/>
            </a:pPr>
            <a:r>
              <a:rPr lang="en-GB" sz="1600" dirty="0"/>
              <a:t>Step 1: 7 6 4 6 3 4 3 0 8 8 4 1 9 3 5 4</a:t>
            </a:r>
          </a:p>
          <a:p>
            <a:pPr>
              <a:buNone/>
            </a:pPr>
            <a:endParaRPr lang="en-GB" sz="1600" dirty="0"/>
          </a:p>
          <a:p>
            <a:pPr>
              <a:buNone/>
            </a:pPr>
            <a:r>
              <a:rPr lang="en-GB" sz="1600" dirty="0"/>
              <a:t>Step 2: </a:t>
            </a:r>
          </a:p>
          <a:p>
            <a:pPr>
              <a:buNone/>
            </a:pPr>
            <a:r>
              <a:rPr lang="en-GB" sz="1600" dirty="0"/>
              <a:t>	</a:t>
            </a:r>
            <a:r>
              <a:rPr lang="fr-FR" sz="1600" dirty="0"/>
              <a:t>Original: 7 6 4 6 3 4 3 0 8 8 4 1 9 3 5 4</a:t>
            </a:r>
            <a:br>
              <a:rPr lang="fr-FR" sz="1600" dirty="0"/>
            </a:br>
            <a:r>
              <a:rPr lang="fr-FR" sz="1600" dirty="0"/>
              <a:t>	Double: - 12 - 12 - 8 - 0 - 16 - 2 - 6 – 8</a:t>
            </a:r>
          </a:p>
          <a:p>
            <a:pPr>
              <a:buNone/>
            </a:pPr>
            <a:endParaRPr lang="en-GB" sz="1600" dirty="0"/>
          </a:p>
          <a:p>
            <a:pPr>
              <a:buNone/>
            </a:pPr>
            <a:r>
              <a:rPr lang="en-GB" sz="1600" dirty="0"/>
              <a:t>Step 3: 7 3 4 3 3 8 3 0 8 7 4 2 9 6 5 8</a:t>
            </a:r>
          </a:p>
          <a:p>
            <a:pPr>
              <a:buNone/>
            </a:pPr>
            <a:endParaRPr lang="en-GB" sz="1600" dirty="0"/>
          </a:p>
          <a:p>
            <a:pPr>
              <a:buNone/>
            </a:pPr>
            <a:r>
              <a:rPr lang="en-GB" sz="1600" dirty="0"/>
              <a:t>Step 4: 80</a:t>
            </a:r>
          </a:p>
          <a:p>
            <a:pPr>
              <a:buNone/>
            </a:pPr>
            <a:endParaRPr lang="en-GB" sz="1600" dirty="0"/>
          </a:p>
          <a:p>
            <a:pPr>
              <a:buNone/>
            </a:pPr>
            <a:r>
              <a:rPr lang="en-GB" sz="1600" dirty="0"/>
              <a:t>Step 5: 80 % 10 = 0 [Valid card number]</a:t>
            </a:r>
            <a:endParaRPr lang="fr-FR" sz="1600" dirty="0"/>
          </a:p>
        </p:txBody>
      </p:sp>
    </p:spTree>
    <p:extLst>
      <p:ext uri="{BB962C8B-B14F-4D97-AF65-F5344CB8AC3E}">
        <p14:creationId xmlns:p14="http://schemas.microsoft.com/office/powerpoint/2010/main" val="10655779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74B26-034E-3D3E-F61D-4CB22DBD1922}"/>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DF39E35-1EDC-B572-615D-75EC8D37B7E5}"/>
              </a:ext>
            </a:extLst>
          </p:cNvPr>
          <p:cNvSpPr txBox="1"/>
          <p:nvPr/>
        </p:nvSpPr>
        <p:spPr>
          <a:xfrm>
            <a:off x="139493" y="151684"/>
            <a:ext cx="10685951" cy="584775"/>
          </a:xfrm>
          <a:prstGeom prst="rect">
            <a:avLst/>
          </a:prstGeom>
          <a:noFill/>
        </p:spPr>
        <p:txBody>
          <a:bodyPr wrap="square">
            <a:spAutoFit/>
          </a:bodyPr>
          <a:lstStyle/>
          <a:p>
            <a:r>
              <a:rPr lang="en-US" sz="3200" b="1" dirty="0">
                <a:latin typeface="Times New Roman" panose="02020603050405020304" pitchFamily="18" charset="0"/>
                <a:ea typeface="Calibri" pitchFamily="34" charset="-122"/>
                <a:cs typeface="Times New Roman" panose="02020603050405020304" pitchFamily="18" charset="0"/>
              </a:rPr>
              <a:t>RULE-BASED DECISION MAKING</a:t>
            </a:r>
          </a:p>
        </p:txBody>
      </p:sp>
      <p:sp>
        <p:nvSpPr>
          <p:cNvPr id="34" name="TextBox 33">
            <a:extLst>
              <a:ext uri="{FF2B5EF4-FFF2-40B4-BE49-F238E27FC236}">
                <a16:creationId xmlns:a16="http://schemas.microsoft.com/office/drawing/2014/main" id="{09590341-D180-8860-F298-5FB694CD835E}"/>
              </a:ext>
            </a:extLst>
          </p:cNvPr>
          <p:cNvSpPr txBox="1"/>
          <p:nvPr/>
        </p:nvSpPr>
        <p:spPr>
          <a:xfrm>
            <a:off x="139493" y="1010335"/>
            <a:ext cx="11033332" cy="674544"/>
          </a:xfrm>
          <a:prstGeom prst="rect">
            <a:avLst/>
          </a:prstGeom>
          <a:noFill/>
        </p:spPr>
        <p:txBody>
          <a:bodyPr wrap="square">
            <a:spAutoFit/>
          </a:bodyPr>
          <a:lstStyle/>
          <a:p>
            <a:pPr>
              <a:spcBef>
                <a:spcPts val="300"/>
              </a:spcBef>
              <a:spcAft>
                <a:spcPts val="400"/>
              </a:spcAft>
              <a:buNone/>
            </a:pPr>
            <a:r>
              <a:rPr lang="en-GB" sz="1800" dirty="0">
                <a:solidFill>
                  <a:srgbClr val="374151"/>
                </a:solidFill>
                <a:effectLst/>
                <a:latin typeface="Times New Roman" panose="02020603050405020304" pitchFamily="18" charset="0"/>
                <a:ea typeface="Arial" panose="020B0604020202020204" pitchFamily="34" charset="0"/>
              </a:rPr>
              <a:t>Risk Score = Sum </a:t>
            </a:r>
            <a:r>
              <a:rPr lang="en-GB" dirty="0">
                <a:solidFill>
                  <a:srgbClr val="374151"/>
                </a:solidFill>
                <a:latin typeface="Times New Roman" panose="02020603050405020304" pitchFamily="18" charset="0"/>
                <a:ea typeface="Arial" panose="020B0604020202020204" pitchFamily="34" charset="0"/>
              </a:rPr>
              <a:t>[</a:t>
            </a:r>
            <a:r>
              <a:rPr lang="en-GB" sz="1800" dirty="0">
                <a:solidFill>
                  <a:srgbClr val="374151"/>
                </a:solidFill>
                <a:effectLst/>
                <a:latin typeface="Times New Roman" panose="02020603050405020304" pitchFamily="18" charset="0"/>
                <a:ea typeface="Arial" panose="020B0604020202020204" pitchFamily="34" charset="0"/>
              </a:rPr>
              <a:t>triggered indicator weights + attachment score + (SPF fail × 2) + (DKIM fail × 2)]</a:t>
            </a:r>
          </a:p>
          <a:p>
            <a:pPr>
              <a:spcBef>
                <a:spcPts val="300"/>
              </a:spcBef>
              <a:spcAft>
                <a:spcPts val="400"/>
              </a:spcAft>
              <a:buNone/>
            </a:pPr>
            <a:endParaRPr lang="en-GB" sz="1400" dirty="0">
              <a:effectLst/>
              <a:latin typeface="Arial" panose="020B0604020202020204" pitchFamily="34" charset="0"/>
              <a:ea typeface="Arial" panose="020B0604020202020204" pitchFamily="34" charset="0"/>
            </a:endParaRPr>
          </a:p>
        </p:txBody>
      </p:sp>
      <p:grpSp>
        <p:nvGrpSpPr>
          <p:cNvPr id="248" name="Group 247">
            <a:extLst>
              <a:ext uri="{FF2B5EF4-FFF2-40B4-BE49-F238E27FC236}">
                <a16:creationId xmlns:a16="http://schemas.microsoft.com/office/drawing/2014/main" id="{7E862960-5D67-74D3-7C8A-820BE5F6BDBF}"/>
              </a:ext>
            </a:extLst>
          </p:cNvPr>
          <p:cNvGrpSpPr/>
          <p:nvPr/>
        </p:nvGrpSpPr>
        <p:grpSpPr>
          <a:xfrm>
            <a:off x="458863" y="2137468"/>
            <a:ext cx="10447253" cy="4568847"/>
            <a:chOff x="334923" y="1420414"/>
            <a:chExt cx="10110076" cy="3515743"/>
          </a:xfrm>
        </p:grpSpPr>
        <p:sp>
          <p:nvSpPr>
            <p:cNvPr id="113" name="Text 9">
              <a:extLst>
                <a:ext uri="{FF2B5EF4-FFF2-40B4-BE49-F238E27FC236}">
                  <a16:creationId xmlns:a16="http://schemas.microsoft.com/office/drawing/2014/main" id="{C0BE5E2F-CC2C-4FF8-F503-9322DE482A7F}"/>
                </a:ext>
              </a:extLst>
            </p:cNvPr>
            <p:cNvSpPr/>
            <p:nvPr/>
          </p:nvSpPr>
          <p:spPr>
            <a:xfrm>
              <a:off x="334923" y="1899211"/>
              <a:ext cx="1389888" cy="483643"/>
            </a:xfrm>
            <a:prstGeom prst="rect">
              <a:avLst/>
            </a:prstGeom>
            <a:noFill/>
            <a:ln/>
          </p:spPr>
          <p:txBody>
            <a:bodyPr wrap="square" lIns="0" tIns="0" rIns="0" bIns="0" rtlCol="0" anchor="ctr"/>
            <a:lstStyle/>
            <a:p>
              <a:pPr marL="0" indent="0" algn="ctr">
                <a:buNone/>
              </a:pPr>
              <a:r>
                <a:rPr lang="en-US" sz="1200" b="1" dirty="0">
                  <a:latin typeface="Times New Roman" panose="02020603050405020304" pitchFamily="18" charset="0"/>
                  <a:ea typeface="Calibri" pitchFamily="34" charset="-122"/>
                  <a:cs typeface="Times New Roman" panose="02020603050405020304" pitchFamily="18" charset="0"/>
                </a:rPr>
                <a:t>Incoming</a:t>
              </a:r>
              <a:endParaRPr lang="en-US" sz="1200" dirty="0">
                <a:latin typeface="Times New Roman" panose="02020603050405020304" pitchFamily="18" charset="0"/>
                <a:cs typeface="Times New Roman" panose="02020603050405020304" pitchFamily="18" charset="0"/>
              </a:endParaRPr>
            </a:p>
            <a:p>
              <a:pPr marL="0" indent="0" algn="ctr">
                <a:buNone/>
              </a:pPr>
              <a:r>
                <a:rPr lang="en-US" sz="1200" b="1" dirty="0">
                  <a:latin typeface="Times New Roman" panose="02020603050405020304" pitchFamily="18" charset="0"/>
                  <a:ea typeface="Calibri" pitchFamily="34" charset="-122"/>
                  <a:cs typeface="Times New Roman" panose="02020603050405020304" pitchFamily="18" charset="0"/>
                </a:rPr>
                <a:t>.eml File</a:t>
              </a:r>
              <a:endParaRPr lang="en-US" sz="1200" dirty="0">
                <a:latin typeface="Times New Roman" panose="02020603050405020304" pitchFamily="18" charset="0"/>
                <a:cs typeface="Times New Roman" panose="02020603050405020304" pitchFamily="18" charset="0"/>
              </a:endParaRPr>
            </a:p>
          </p:txBody>
        </p:sp>
        <p:sp>
          <p:nvSpPr>
            <p:cNvPr id="114" name="Shape 10">
              <a:extLst>
                <a:ext uri="{FF2B5EF4-FFF2-40B4-BE49-F238E27FC236}">
                  <a16:creationId xmlns:a16="http://schemas.microsoft.com/office/drawing/2014/main" id="{948096C2-16B3-35D8-C896-D7D838A48A88}"/>
                </a:ext>
              </a:extLst>
            </p:cNvPr>
            <p:cNvSpPr/>
            <p:nvPr/>
          </p:nvSpPr>
          <p:spPr>
            <a:xfrm>
              <a:off x="1755648" y="1994990"/>
              <a:ext cx="201168" cy="138184"/>
            </a:xfrm>
            <a:prstGeom prst="rect">
              <a:avLst/>
            </a:prstGeom>
            <a:solidFill>
              <a:srgbClr val="00B4D8"/>
            </a:solidFill>
            <a:ln w="12700">
              <a:solidFill>
                <a:srgbClr val="00B4D8"/>
              </a:solidFill>
              <a:prstDash val="solid"/>
            </a:ln>
          </p:spPr>
        </p:sp>
        <p:sp>
          <p:nvSpPr>
            <p:cNvPr id="115" name="Shape 11">
              <a:extLst>
                <a:ext uri="{FF2B5EF4-FFF2-40B4-BE49-F238E27FC236}">
                  <a16:creationId xmlns:a16="http://schemas.microsoft.com/office/drawing/2014/main" id="{ECD72A2E-5C55-6347-C13E-9C8771F997A8}"/>
                </a:ext>
              </a:extLst>
            </p:cNvPr>
            <p:cNvSpPr/>
            <p:nvPr/>
          </p:nvSpPr>
          <p:spPr>
            <a:xfrm>
              <a:off x="1956816" y="1925898"/>
              <a:ext cx="0" cy="0"/>
            </a:xfrm>
            <a:prstGeom prst="rect">
              <a:avLst/>
            </a:prstGeom>
            <a:solidFill>
              <a:srgbClr val="00B4D8"/>
            </a:solidFill>
            <a:ln w="12700">
              <a:solidFill>
                <a:srgbClr val="00B4D8"/>
              </a:solidFill>
              <a:prstDash val="solid"/>
            </a:ln>
          </p:spPr>
        </p:sp>
        <p:sp>
          <p:nvSpPr>
            <p:cNvPr id="116" name="Text 14">
              <a:extLst>
                <a:ext uri="{FF2B5EF4-FFF2-40B4-BE49-F238E27FC236}">
                  <a16:creationId xmlns:a16="http://schemas.microsoft.com/office/drawing/2014/main" id="{EAFA47E0-7E18-3B7B-B958-2B976B514FCD}"/>
                </a:ext>
              </a:extLst>
            </p:cNvPr>
            <p:cNvSpPr/>
            <p:nvPr/>
          </p:nvSpPr>
          <p:spPr>
            <a:xfrm>
              <a:off x="1956816" y="1699556"/>
              <a:ext cx="2011680" cy="253337"/>
            </a:xfrm>
            <a:prstGeom prst="rect">
              <a:avLst/>
            </a:prstGeom>
            <a:noFill/>
            <a:ln/>
          </p:spPr>
          <p:txBody>
            <a:bodyPr wrap="square" lIns="0" tIns="0" rIns="0" bIns="0" rtlCol="0" anchor="ctr"/>
            <a:lstStyle/>
            <a:p>
              <a:pPr marL="0" indent="0" algn="ctr">
                <a:buNone/>
              </a:pPr>
              <a:r>
                <a:rPr lang="en-US" sz="1200" b="1" kern="0" spc="200" dirty="0">
                  <a:latin typeface="Times New Roman" panose="02020603050405020304" pitchFamily="18" charset="0"/>
                  <a:ea typeface="Calibri" pitchFamily="34" charset="-122"/>
                  <a:cs typeface="Times New Roman" panose="02020603050405020304" pitchFamily="18" charset="0"/>
                </a:rPr>
                <a:t>PARSE</a:t>
              </a:r>
              <a:endParaRPr lang="en-US" sz="1200" dirty="0">
                <a:latin typeface="Times New Roman" panose="02020603050405020304" pitchFamily="18" charset="0"/>
                <a:cs typeface="Times New Roman" panose="02020603050405020304" pitchFamily="18" charset="0"/>
              </a:endParaRPr>
            </a:p>
          </p:txBody>
        </p:sp>
        <p:sp>
          <p:nvSpPr>
            <p:cNvPr id="118" name="Text 16">
              <a:extLst>
                <a:ext uri="{FF2B5EF4-FFF2-40B4-BE49-F238E27FC236}">
                  <a16:creationId xmlns:a16="http://schemas.microsoft.com/office/drawing/2014/main" id="{82A4854D-E5B7-2CEE-81F2-F73B713E4EA1}"/>
                </a:ext>
              </a:extLst>
            </p:cNvPr>
            <p:cNvSpPr/>
            <p:nvPr/>
          </p:nvSpPr>
          <p:spPr>
            <a:xfrm>
              <a:off x="2066543" y="1945872"/>
              <a:ext cx="1760389" cy="253337"/>
            </a:xfrm>
            <a:prstGeom prst="rect">
              <a:avLst/>
            </a:prstGeom>
            <a:noFill/>
            <a:ln/>
          </p:spPr>
          <p:txBody>
            <a:bodyPr wrap="square" lIns="0" tIns="0" rIns="0" bIns="0" rtlCol="0" anchor="ctr"/>
            <a:lstStyle/>
            <a:p>
              <a:pPr marL="0" indent="0">
                <a:buNone/>
              </a:pPr>
              <a:r>
                <a:rPr lang="en-US" sz="1200" dirty="0">
                  <a:latin typeface="Times New Roman" panose="02020603050405020304" pitchFamily="18" charset="0"/>
                  <a:ea typeface="Calibri" pitchFamily="34" charset="-122"/>
                  <a:cs typeface="Times New Roman" panose="02020603050405020304" pitchFamily="18" charset="0"/>
                </a:rPr>
                <a:t>Sender / From field</a:t>
              </a:r>
              <a:endParaRPr lang="en-US" sz="1200" dirty="0">
                <a:latin typeface="Times New Roman" panose="02020603050405020304" pitchFamily="18" charset="0"/>
                <a:cs typeface="Times New Roman" panose="02020603050405020304" pitchFamily="18" charset="0"/>
              </a:endParaRPr>
            </a:p>
          </p:txBody>
        </p:sp>
        <p:sp>
          <p:nvSpPr>
            <p:cNvPr id="120" name="Text 18">
              <a:extLst>
                <a:ext uri="{FF2B5EF4-FFF2-40B4-BE49-F238E27FC236}">
                  <a16:creationId xmlns:a16="http://schemas.microsoft.com/office/drawing/2014/main" id="{6D04F5C7-1FE6-08DB-E846-39CD5F6F157E}"/>
                </a:ext>
              </a:extLst>
            </p:cNvPr>
            <p:cNvSpPr/>
            <p:nvPr/>
          </p:nvSpPr>
          <p:spPr>
            <a:xfrm>
              <a:off x="2066543" y="2130117"/>
              <a:ext cx="1760389" cy="253337"/>
            </a:xfrm>
            <a:prstGeom prst="rect">
              <a:avLst/>
            </a:prstGeom>
            <a:noFill/>
            <a:ln/>
          </p:spPr>
          <p:txBody>
            <a:bodyPr wrap="square" lIns="0" tIns="0" rIns="0" bIns="0" rtlCol="0" anchor="ctr"/>
            <a:lstStyle/>
            <a:p>
              <a:pPr marL="0" indent="0">
                <a:buNone/>
              </a:pPr>
              <a:r>
                <a:rPr lang="en-US" sz="1200" dirty="0">
                  <a:latin typeface="Times New Roman" panose="02020603050405020304" pitchFamily="18" charset="0"/>
                  <a:ea typeface="Calibri" pitchFamily="34" charset="-122"/>
                  <a:cs typeface="Times New Roman" panose="02020603050405020304" pitchFamily="18" charset="0"/>
                </a:rPr>
                <a:t>Subject &amp; Body</a:t>
              </a:r>
              <a:endParaRPr lang="en-US" sz="1200" dirty="0">
                <a:latin typeface="Times New Roman" panose="02020603050405020304" pitchFamily="18" charset="0"/>
                <a:cs typeface="Times New Roman" panose="02020603050405020304" pitchFamily="18" charset="0"/>
              </a:endParaRPr>
            </a:p>
          </p:txBody>
        </p:sp>
        <p:sp>
          <p:nvSpPr>
            <p:cNvPr id="122" name="Text 20">
              <a:extLst>
                <a:ext uri="{FF2B5EF4-FFF2-40B4-BE49-F238E27FC236}">
                  <a16:creationId xmlns:a16="http://schemas.microsoft.com/office/drawing/2014/main" id="{3919B227-3B48-79F0-249A-AC399A8745E3}"/>
                </a:ext>
              </a:extLst>
            </p:cNvPr>
            <p:cNvSpPr/>
            <p:nvPr/>
          </p:nvSpPr>
          <p:spPr>
            <a:xfrm>
              <a:off x="2066543" y="2314362"/>
              <a:ext cx="1760389" cy="253337"/>
            </a:xfrm>
            <a:prstGeom prst="rect">
              <a:avLst/>
            </a:prstGeom>
            <a:noFill/>
            <a:ln/>
          </p:spPr>
          <p:txBody>
            <a:bodyPr wrap="square" lIns="0" tIns="0" rIns="0" bIns="0" rtlCol="0" anchor="ctr"/>
            <a:lstStyle/>
            <a:p>
              <a:pPr marL="0" indent="0">
                <a:buNone/>
              </a:pPr>
              <a:r>
                <a:rPr lang="en-US" sz="1200" dirty="0">
                  <a:latin typeface="Times New Roman" panose="02020603050405020304" pitchFamily="18" charset="0"/>
                  <a:ea typeface="Calibri" pitchFamily="34" charset="-122"/>
                  <a:cs typeface="Times New Roman" panose="02020603050405020304" pitchFamily="18" charset="0"/>
                </a:rPr>
                <a:t>All URLs</a:t>
              </a:r>
              <a:endParaRPr lang="en-US" sz="1200" dirty="0">
                <a:latin typeface="Times New Roman" panose="02020603050405020304" pitchFamily="18" charset="0"/>
                <a:cs typeface="Times New Roman" panose="02020603050405020304" pitchFamily="18" charset="0"/>
              </a:endParaRPr>
            </a:p>
          </p:txBody>
        </p:sp>
        <p:sp>
          <p:nvSpPr>
            <p:cNvPr id="124" name="Text 22">
              <a:extLst>
                <a:ext uri="{FF2B5EF4-FFF2-40B4-BE49-F238E27FC236}">
                  <a16:creationId xmlns:a16="http://schemas.microsoft.com/office/drawing/2014/main" id="{63F1EC13-FDE9-0844-035E-0BA4031B5E9A}"/>
                </a:ext>
              </a:extLst>
            </p:cNvPr>
            <p:cNvSpPr/>
            <p:nvPr/>
          </p:nvSpPr>
          <p:spPr>
            <a:xfrm>
              <a:off x="2066543" y="2498607"/>
              <a:ext cx="1760389" cy="253337"/>
            </a:xfrm>
            <a:prstGeom prst="rect">
              <a:avLst/>
            </a:prstGeom>
            <a:noFill/>
            <a:ln/>
          </p:spPr>
          <p:txBody>
            <a:bodyPr wrap="square" lIns="0" tIns="0" rIns="0" bIns="0" rtlCol="0" anchor="ctr"/>
            <a:lstStyle/>
            <a:p>
              <a:pPr marL="0" indent="0">
                <a:buNone/>
              </a:pPr>
              <a:r>
                <a:rPr lang="en-US" sz="1200" dirty="0">
                  <a:latin typeface="Times New Roman" panose="02020603050405020304" pitchFamily="18" charset="0"/>
                  <a:ea typeface="Calibri" pitchFamily="34" charset="-122"/>
                  <a:cs typeface="Times New Roman" panose="02020603050405020304" pitchFamily="18" charset="0"/>
                </a:rPr>
                <a:t>Attachments</a:t>
              </a:r>
              <a:endParaRPr lang="en-US" sz="1200" dirty="0">
                <a:latin typeface="Times New Roman" panose="02020603050405020304" pitchFamily="18" charset="0"/>
                <a:cs typeface="Times New Roman" panose="02020603050405020304" pitchFamily="18" charset="0"/>
              </a:endParaRPr>
            </a:p>
          </p:txBody>
        </p:sp>
        <p:sp>
          <p:nvSpPr>
            <p:cNvPr id="126" name="Text 24">
              <a:extLst>
                <a:ext uri="{FF2B5EF4-FFF2-40B4-BE49-F238E27FC236}">
                  <a16:creationId xmlns:a16="http://schemas.microsoft.com/office/drawing/2014/main" id="{DB1BF2D8-E86D-677B-974C-8620F8BDD15E}"/>
                </a:ext>
              </a:extLst>
            </p:cNvPr>
            <p:cNvSpPr/>
            <p:nvPr/>
          </p:nvSpPr>
          <p:spPr>
            <a:xfrm>
              <a:off x="2066543" y="2682851"/>
              <a:ext cx="1760389" cy="253337"/>
            </a:xfrm>
            <a:prstGeom prst="rect">
              <a:avLst/>
            </a:prstGeom>
            <a:noFill/>
            <a:ln/>
          </p:spPr>
          <p:txBody>
            <a:bodyPr wrap="square" lIns="0" tIns="0" rIns="0" bIns="0" rtlCol="0" anchor="ctr"/>
            <a:lstStyle/>
            <a:p>
              <a:pPr marL="0" indent="0">
                <a:buNone/>
              </a:pPr>
              <a:r>
                <a:rPr lang="en-US" sz="1200" dirty="0">
                  <a:latin typeface="Times New Roman" panose="02020603050405020304" pitchFamily="18" charset="0"/>
                  <a:ea typeface="Calibri" pitchFamily="34" charset="-122"/>
                  <a:cs typeface="Times New Roman" panose="02020603050405020304" pitchFamily="18" charset="0"/>
                </a:rPr>
                <a:t>Auth Headers (SPF/DKIM)</a:t>
              </a:r>
              <a:endParaRPr lang="en-US" sz="1200" dirty="0">
                <a:latin typeface="Times New Roman" panose="02020603050405020304" pitchFamily="18" charset="0"/>
                <a:cs typeface="Times New Roman" panose="02020603050405020304" pitchFamily="18" charset="0"/>
              </a:endParaRPr>
            </a:p>
          </p:txBody>
        </p:sp>
        <p:sp>
          <p:nvSpPr>
            <p:cNvPr id="165" name="Shape 65">
              <a:extLst>
                <a:ext uri="{FF2B5EF4-FFF2-40B4-BE49-F238E27FC236}">
                  <a16:creationId xmlns:a16="http://schemas.microsoft.com/office/drawing/2014/main" id="{6A0049A1-FCE8-8F41-DC9E-E11F3F588A8A}"/>
                </a:ext>
              </a:extLst>
            </p:cNvPr>
            <p:cNvSpPr/>
            <p:nvPr/>
          </p:nvSpPr>
          <p:spPr>
            <a:xfrm>
              <a:off x="6632938" y="2049747"/>
              <a:ext cx="424327" cy="149462"/>
            </a:xfrm>
            <a:prstGeom prst="rect">
              <a:avLst/>
            </a:prstGeom>
            <a:solidFill>
              <a:srgbClr val="00B4D8"/>
            </a:solidFill>
            <a:ln w="12700">
              <a:solidFill>
                <a:srgbClr val="00B4D8"/>
              </a:solidFill>
              <a:prstDash val="solid"/>
            </a:ln>
          </p:spPr>
          <p:txBody>
            <a:bodyPr/>
            <a:lstStyle/>
            <a:p>
              <a:endParaRPr lang="en-GB" dirty="0"/>
            </a:p>
          </p:txBody>
        </p:sp>
        <p:sp>
          <p:nvSpPr>
            <p:cNvPr id="127" name="Shape 25">
              <a:extLst>
                <a:ext uri="{FF2B5EF4-FFF2-40B4-BE49-F238E27FC236}">
                  <a16:creationId xmlns:a16="http://schemas.microsoft.com/office/drawing/2014/main" id="{B993EED4-92CF-AE60-53A1-47DB6A1522BF}"/>
                </a:ext>
              </a:extLst>
            </p:cNvPr>
            <p:cNvSpPr/>
            <p:nvPr/>
          </p:nvSpPr>
          <p:spPr>
            <a:xfrm>
              <a:off x="3904485" y="1994990"/>
              <a:ext cx="201168" cy="138184"/>
            </a:xfrm>
            <a:prstGeom prst="rect">
              <a:avLst/>
            </a:prstGeom>
            <a:solidFill>
              <a:srgbClr val="00B4D8"/>
            </a:solidFill>
            <a:ln w="12700">
              <a:solidFill>
                <a:srgbClr val="00B4D8"/>
              </a:solidFill>
              <a:prstDash val="solid"/>
            </a:ln>
          </p:spPr>
        </p:sp>
        <p:sp>
          <p:nvSpPr>
            <p:cNvPr id="166" name="Text 68">
              <a:extLst>
                <a:ext uri="{FF2B5EF4-FFF2-40B4-BE49-F238E27FC236}">
                  <a16:creationId xmlns:a16="http://schemas.microsoft.com/office/drawing/2014/main" id="{566EBC2E-0098-D201-10B3-60E5418BC577}"/>
                </a:ext>
              </a:extLst>
            </p:cNvPr>
            <p:cNvSpPr/>
            <p:nvPr/>
          </p:nvSpPr>
          <p:spPr>
            <a:xfrm>
              <a:off x="7159620" y="1787264"/>
              <a:ext cx="1444752" cy="529704"/>
            </a:xfrm>
            <a:prstGeom prst="rect">
              <a:avLst/>
            </a:prstGeom>
            <a:noFill/>
            <a:ln/>
          </p:spPr>
          <p:txBody>
            <a:bodyPr wrap="square" lIns="0" tIns="0" rIns="0" bIns="0" rtlCol="0" anchor="ctr"/>
            <a:lstStyle/>
            <a:p>
              <a:pPr marL="0" indent="0" algn="ctr">
                <a:buNone/>
              </a:pPr>
              <a:r>
                <a:rPr lang="en-US" sz="1200" b="1" dirty="0">
                  <a:latin typeface="Times New Roman" panose="02020603050405020304" pitchFamily="18" charset="0"/>
                  <a:ea typeface="Calibri" pitchFamily="34" charset="-122"/>
                  <a:cs typeface="Times New Roman" panose="02020603050405020304" pitchFamily="18" charset="0"/>
                </a:rPr>
                <a:t>RISK</a:t>
              </a:r>
              <a:endParaRPr lang="en-US" sz="1200" dirty="0">
                <a:latin typeface="Times New Roman" panose="02020603050405020304" pitchFamily="18" charset="0"/>
                <a:cs typeface="Times New Roman" panose="02020603050405020304" pitchFamily="18" charset="0"/>
              </a:endParaRPr>
            </a:p>
            <a:p>
              <a:pPr marL="0" indent="0" algn="ctr">
                <a:buNone/>
              </a:pPr>
              <a:r>
                <a:rPr lang="en-US" sz="1200" b="1" dirty="0">
                  <a:latin typeface="Times New Roman" panose="02020603050405020304" pitchFamily="18" charset="0"/>
                  <a:ea typeface="Calibri" pitchFamily="34" charset="-122"/>
                  <a:cs typeface="Times New Roman" panose="02020603050405020304" pitchFamily="18" charset="0"/>
                </a:rPr>
                <a:t>SCORE</a:t>
              </a:r>
              <a:endParaRPr lang="en-US" sz="1200" dirty="0">
                <a:latin typeface="Times New Roman" panose="02020603050405020304" pitchFamily="18" charset="0"/>
                <a:cs typeface="Times New Roman" panose="02020603050405020304" pitchFamily="18" charset="0"/>
              </a:endParaRPr>
            </a:p>
          </p:txBody>
        </p:sp>
        <p:sp>
          <p:nvSpPr>
            <p:cNvPr id="167" name="Text 69">
              <a:extLst>
                <a:ext uri="{FF2B5EF4-FFF2-40B4-BE49-F238E27FC236}">
                  <a16:creationId xmlns:a16="http://schemas.microsoft.com/office/drawing/2014/main" id="{2DE3C235-3656-0EBF-6F01-406F29C46879}"/>
                </a:ext>
              </a:extLst>
            </p:cNvPr>
            <p:cNvSpPr/>
            <p:nvPr/>
          </p:nvSpPr>
          <p:spPr>
            <a:xfrm>
              <a:off x="7232772" y="2386059"/>
              <a:ext cx="1280160" cy="253337"/>
            </a:xfrm>
            <a:prstGeom prst="rect">
              <a:avLst/>
            </a:prstGeom>
            <a:noFill/>
            <a:ln/>
          </p:spPr>
          <p:txBody>
            <a:bodyPr wrap="square" lIns="0" tIns="0" rIns="0" bIns="0" rtlCol="0" anchor="ctr"/>
            <a:lstStyle/>
            <a:p>
              <a:pPr marL="0" indent="0">
                <a:buNone/>
              </a:pPr>
              <a:r>
                <a:rPr lang="en-US" sz="1200" dirty="0">
                  <a:latin typeface="Times New Roman" panose="02020603050405020304" pitchFamily="18" charset="0"/>
                  <a:ea typeface="Calibri" pitchFamily="34" charset="-122"/>
                  <a:cs typeface="Times New Roman" panose="02020603050405020304" pitchFamily="18" charset="0"/>
                </a:rPr>
                <a:t>Score =</a:t>
              </a:r>
              <a:endParaRPr lang="en-US" sz="1200" dirty="0">
                <a:latin typeface="Times New Roman" panose="02020603050405020304" pitchFamily="18" charset="0"/>
                <a:cs typeface="Times New Roman" panose="02020603050405020304" pitchFamily="18" charset="0"/>
              </a:endParaRPr>
            </a:p>
          </p:txBody>
        </p:sp>
        <p:sp>
          <p:nvSpPr>
            <p:cNvPr id="168" name="Text 70">
              <a:extLst>
                <a:ext uri="{FF2B5EF4-FFF2-40B4-BE49-F238E27FC236}">
                  <a16:creationId xmlns:a16="http://schemas.microsoft.com/office/drawing/2014/main" id="{40640F16-D240-EFD3-BEDB-7950E8C4E481}"/>
                </a:ext>
              </a:extLst>
            </p:cNvPr>
            <p:cNvSpPr/>
            <p:nvPr/>
          </p:nvSpPr>
          <p:spPr>
            <a:xfrm>
              <a:off x="7251060" y="2662427"/>
              <a:ext cx="1261872" cy="276367"/>
            </a:xfrm>
            <a:prstGeom prst="rect">
              <a:avLst/>
            </a:prstGeom>
            <a:noFill/>
            <a:ln/>
          </p:spPr>
          <p:txBody>
            <a:bodyPr wrap="square" lIns="0" tIns="0" rIns="0" bIns="0" rtlCol="0" anchor="ctr"/>
            <a:lstStyle/>
            <a:p>
              <a:pPr marL="0" indent="0">
                <a:buNone/>
              </a:pPr>
              <a:r>
                <a:rPr lang="en-US" sz="1200" b="1" dirty="0">
                  <a:latin typeface="Times New Roman" panose="02020603050405020304" pitchFamily="18" charset="0"/>
                  <a:ea typeface="Calibri" pitchFamily="34" charset="-122"/>
                  <a:cs typeface="Times New Roman" panose="02020603050405020304" pitchFamily="18" charset="0"/>
                </a:rPr>
                <a:t>Σ Indicator Weights</a:t>
              </a:r>
              <a:endParaRPr lang="en-US" sz="1200" dirty="0">
                <a:latin typeface="Times New Roman" panose="02020603050405020304" pitchFamily="18" charset="0"/>
                <a:cs typeface="Times New Roman" panose="02020603050405020304" pitchFamily="18" charset="0"/>
              </a:endParaRPr>
            </a:p>
          </p:txBody>
        </p:sp>
        <p:sp>
          <p:nvSpPr>
            <p:cNvPr id="169" name="Text 71">
              <a:extLst>
                <a:ext uri="{FF2B5EF4-FFF2-40B4-BE49-F238E27FC236}">
                  <a16:creationId xmlns:a16="http://schemas.microsoft.com/office/drawing/2014/main" id="{D92C21E6-2B41-BDE2-8F4A-2A99BC56B7F1}"/>
                </a:ext>
              </a:extLst>
            </p:cNvPr>
            <p:cNvSpPr/>
            <p:nvPr/>
          </p:nvSpPr>
          <p:spPr>
            <a:xfrm>
              <a:off x="7251060" y="2984855"/>
              <a:ext cx="1261872" cy="276367"/>
            </a:xfrm>
            <a:prstGeom prst="rect">
              <a:avLst/>
            </a:prstGeom>
            <a:noFill/>
            <a:ln/>
          </p:spPr>
          <p:txBody>
            <a:bodyPr wrap="square" lIns="0" tIns="0" rIns="0" bIns="0" rtlCol="0" anchor="ctr"/>
            <a:lstStyle/>
            <a:p>
              <a:pPr marL="0" indent="0">
                <a:buNone/>
              </a:pPr>
              <a:r>
                <a:rPr lang="en-US" sz="1200" dirty="0">
                  <a:latin typeface="Times New Roman" panose="02020603050405020304" pitchFamily="18" charset="0"/>
                  <a:ea typeface="Calibri" pitchFamily="34" charset="-122"/>
                  <a:cs typeface="Times New Roman" panose="02020603050405020304" pitchFamily="18" charset="0"/>
                </a:rPr>
                <a:t>+ Attachment Score</a:t>
              </a:r>
              <a:endParaRPr lang="en-US" sz="1200" dirty="0">
                <a:latin typeface="Times New Roman" panose="02020603050405020304" pitchFamily="18" charset="0"/>
                <a:cs typeface="Times New Roman" panose="02020603050405020304" pitchFamily="18" charset="0"/>
              </a:endParaRPr>
            </a:p>
          </p:txBody>
        </p:sp>
        <p:sp>
          <p:nvSpPr>
            <p:cNvPr id="170" name="Text 72">
              <a:extLst>
                <a:ext uri="{FF2B5EF4-FFF2-40B4-BE49-F238E27FC236}">
                  <a16:creationId xmlns:a16="http://schemas.microsoft.com/office/drawing/2014/main" id="{2E5DFCC5-3D5D-14C9-E377-BAA5DA3386E2}"/>
                </a:ext>
              </a:extLst>
            </p:cNvPr>
            <p:cNvSpPr/>
            <p:nvPr/>
          </p:nvSpPr>
          <p:spPr>
            <a:xfrm>
              <a:off x="7251060" y="3307283"/>
              <a:ext cx="1261872" cy="276367"/>
            </a:xfrm>
            <a:prstGeom prst="rect">
              <a:avLst/>
            </a:prstGeom>
            <a:noFill/>
            <a:ln/>
          </p:spPr>
          <p:txBody>
            <a:bodyPr wrap="square" lIns="0" tIns="0" rIns="0" bIns="0" rtlCol="0" anchor="ctr"/>
            <a:lstStyle/>
            <a:p>
              <a:pPr marL="0" indent="0">
                <a:buNone/>
              </a:pPr>
              <a:r>
                <a:rPr lang="en-US" sz="1200" dirty="0">
                  <a:latin typeface="Times New Roman" panose="02020603050405020304" pitchFamily="18" charset="0"/>
                  <a:ea typeface="Calibri" pitchFamily="34" charset="-122"/>
                  <a:cs typeface="Times New Roman" panose="02020603050405020304" pitchFamily="18" charset="0"/>
                </a:rPr>
                <a:t>+ SPF fail × 2</a:t>
              </a:r>
              <a:endParaRPr lang="en-US" sz="1200" dirty="0">
                <a:latin typeface="Times New Roman" panose="02020603050405020304" pitchFamily="18" charset="0"/>
                <a:cs typeface="Times New Roman" panose="02020603050405020304" pitchFamily="18" charset="0"/>
              </a:endParaRPr>
            </a:p>
          </p:txBody>
        </p:sp>
        <p:sp>
          <p:nvSpPr>
            <p:cNvPr id="171" name="Text 73">
              <a:extLst>
                <a:ext uri="{FF2B5EF4-FFF2-40B4-BE49-F238E27FC236}">
                  <a16:creationId xmlns:a16="http://schemas.microsoft.com/office/drawing/2014/main" id="{EC0EC528-ED5B-204E-7900-C7AC802E321B}"/>
                </a:ext>
              </a:extLst>
            </p:cNvPr>
            <p:cNvSpPr/>
            <p:nvPr/>
          </p:nvSpPr>
          <p:spPr>
            <a:xfrm>
              <a:off x="7251060" y="3629712"/>
              <a:ext cx="1261872" cy="276367"/>
            </a:xfrm>
            <a:prstGeom prst="rect">
              <a:avLst/>
            </a:prstGeom>
            <a:noFill/>
            <a:ln/>
          </p:spPr>
          <p:txBody>
            <a:bodyPr wrap="square" lIns="0" tIns="0" rIns="0" bIns="0" rtlCol="0" anchor="ctr"/>
            <a:lstStyle/>
            <a:p>
              <a:pPr marL="0" indent="0">
                <a:buNone/>
              </a:pPr>
              <a:r>
                <a:rPr lang="en-US" sz="1200" dirty="0">
                  <a:latin typeface="Times New Roman" panose="02020603050405020304" pitchFamily="18" charset="0"/>
                  <a:ea typeface="Calibri" pitchFamily="34" charset="-122"/>
                  <a:cs typeface="Times New Roman" panose="02020603050405020304" pitchFamily="18" charset="0"/>
                </a:rPr>
                <a:t>+ DKIM fail × 2</a:t>
              </a:r>
              <a:endParaRPr lang="en-US" sz="1200" dirty="0">
                <a:latin typeface="Times New Roman" panose="02020603050405020304" pitchFamily="18" charset="0"/>
                <a:cs typeface="Times New Roman" panose="02020603050405020304" pitchFamily="18" charset="0"/>
              </a:endParaRPr>
            </a:p>
          </p:txBody>
        </p:sp>
        <p:sp>
          <p:nvSpPr>
            <p:cNvPr id="174" name="Shape 76">
              <a:extLst>
                <a:ext uri="{FF2B5EF4-FFF2-40B4-BE49-F238E27FC236}">
                  <a16:creationId xmlns:a16="http://schemas.microsoft.com/office/drawing/2014/main" id="{6DAD8282-03E7-3365-0DAB-814AB9727623}"/>
                </a:ext>
              </a:extLst>
            </p:cNvPr>
            <p:cNvSpPr/>
            <p:nvPr/>
          </p:nvSpPr>
          <p:spPr>
            <a:xfrm>
              <a:off x="8528953" y="2176177"/>
              <a:ext cx="538842" cy="185013"/>
            </a:xfrm>
            <a:prstGeom prst="rect">
              <a:avLst/>
            </a:prstGeom>
            <a:solidFill>
              <a:srgbClr val="00B4D8"/>
            </a:solidFill>
            <a:ln w="12700">
              <a:solidFill>
                <a:srgbClr val="00B4D8"/>
              </a:solidFill>
              <a:prstDash val="solid"/>
            </a:ln>
          </p:spPr>
        </p:sp>
        <p:sp>
          <p:nvSpPr>
            <p:cNvPr id="175" name="Text 78">
              <a:extLst>
                <a:ext uri="{FF2B5EF4-FFF2-40B4-BE49-F238E27FC236}">
                  <a16:creationId xmlns:a16="http://schemas.microsoft.com/office/drawing/2014/main" id="{7EA23B34-B6F4-18DE-7B17-66CD9B2A9D2A}"/>
                </a:ext>
              </a:extLst>
            </p:cNvPr>
            <p:cNvSpPr/>
            <p:nvPr/>
          </p:nvSpPr>
          <p:spPr>
            <a:xfrm>
              <a:off x="9177523" y="1762263"/>
              <a:ext cx="1100179" cy="287485"/>
            </a:xfrm>
            <a:prstGeom prst="rect">
              <a:avLst/>
            </a:prstGeom>
            <a:noFill/>
            <a:ln/>
          </p:spPr>
          <p:txBody>
            <a:bodyPr wrap="square" lIns="0" tIns="0" rIns="0" bIns="0" rtlCol="0" anchor="ctr"/>
            <a:lstStyle/>
            <a:p>
              <a:pPr marL="0" indent="0" algn="ctr">
                <a:buNone/>
              </a:pPr>
              <a:r>
                <a:rPr lang="en-US" sz="1200" b="1" dirty="0">
                  <a:latin typeface="Times New Roman" panose="02020603050405020304" pitchFamily="18" charset="0"/>
                  <a:ea typeface="Calibri" pitchFamily="34" charset="-122"/>
                  <a:cs typeface="Times New Roman" panose="02020603050405020304" pitchFamily="18" charset="0"/>
                </a:rPr>
                <a:t>CRITICAL</a:t>
              </a:r>
              <a:endParaRPr lang="en-US" sz="1200" dirty="0">
                <a:latin typeface="Times New Roman" panose="02020603050405020304" pitchFamily="18" charset="0"/>
                <a:cs typeface="Times New Roman" panose="02020603050405020304" pitchFamily="18" charset="0"/>
              </a:endParaRPr>
            </a:p>
          </p:txBody>
        </p:sp>
        <p:sp>
          <p:nvSpPr>
            <p:cNvPr id="176" name="Text 79">
              <a:extLst>
                <a:ext uri="{FF2B5EF4-FFF2-40B4-BE49-F238E27FC236}">
                  <a16:creationId xmlns:a16="http://schemas.microsoft.com/office/drawing/2014/main" id="{D177C5E6-2BF4-CE76-F956-C3D1A3463B21}"/>
                </a:ext>
              </a:extLst>
            </p:cNvPr>
            <p:cNvSpPr/>
            <p:nvPr/>
          </p:nvSpPr>
          <p:spPr>
            <a:xfrm>
              <a:off x="9177523" y="2037770"/>
              <a:ext cx="1100179" cy="215614"/>
            </a:xfrm>
            <a:prstGeom prst="rect">
              <a:avLst/>
            </a:prstGeom>
            <a:noFill/>
            <a:ln/>
          </p:spPr>
          <p:txBody>
            <a:bodyPr wrap="square" lIns="0" tIns="0" rIns="0" bIns="0" rtlCol="0" anchor="ctr"/>
            <a:lstStyle/>
            <a:p>
              <a:pPr marL="0" indent="0" algn="ctr">
                <a:buNone/>
              </a:pPr>
              <a:r>
                <a:rPr lang="en-US" sz="1200" dirty="0">
                  <a:latin typeface="Times New Roman" panose="02020603050405020304" pitchFamily="18" charset="0"/>
                  <a:ea typeface="Calibri" pitchFamily="34" charset="-122"/>
                  <a:cs typeface="Times New Roman" panose="02020603050405020304" pitchFamily="18" charset="0"/>
                </a:rPr>
                <a:t>≥ 10</a:t>
              </a:r>
              <a:endParaRPr lang="en-US" sz="1200" dirty="0">
                <a:latin typeface="Times New Roman" panose="02020603050405020304" pitchFamily="18" charset="0"/>
                <a:cs typeface="Times New Roman" panose="02020603050405020304" pitchFamily="18" charset="0"/>
              </a:endParaRPr>
            </a:p>
          </p:txBody>
        </p:sp>
        <p:sp>
          <p:nvSpPr>
            <p:cNvPr id="177" name="Shape 80">
              <a:extLst>
                <a:ext uri="{FF2B5EF4-FFF2-40B4-BE49-F238E27FC236}">
                  <a16:creationId xmlns:a16="http://schemas.microsoft.com/office/drawing/2014/main" id="{4202114D-6178-1CC9-F1BF-19438022B31C}"/>
                </a:ext>
              </a:extLst>
            </p:cNvPr>
            <p:cNvSpPr/>
            <p:nvPr/>
          </p:nvSpPr>
          <p:spPr>
            <a:xfrm>
              <a:off x="9177523" y="2361191"/>
              <a:ext cx="1100179" cy="551014"/>
            </a:xfrm>
            <a:prstGeom prst="rect">
              <a:avLst/>
            </a:prstGeom>
            <a:solidFill>
              <a:srgbClr val="E76F51"/>
            </a:solidFill>
            <a:ln w="12700">
              <a:solidFill>
                <a:srgbClr val="E76F51"/>
              </a:solidFill>
              <a:prstDash val="solid"/>
            </a:ln>
          </p:spPr>
        </p:sp>
        <p:sp>
          <p:nvSpPr>
            <p:cNvPr id="178" name="Text 81">
              <a:extLst>
                <a:ext uri="{FF2B5EF4-FFF2-40B4-BE49-F238E27FC236}">
                  <a16:creationId xmlns:a16="http://schemas.microsoft.com/office/drawing/2014/main" id="{4B82F9E3-0E92-B197-9123-6F428C147E12}"/>
                </a:ext>
              </a:extLst>
            </p:cNvPr>
            <p:cNvSpPr/>
            <p:nvPr/>
          </p:nvSpPr>
          <p:spPr>
            <a:xfrm>
              <a:off x="9177523" y="2409105"/>
              <a:ext cx="1100179" cy="287485"/>
            </a:xfrm>
            <a:prstGeom prst="rect">
              <a:avLst/>
            </a:prstGeom>
            <a:noFill/>
            <a:ln/>
          </p:spPr>
          <p:txBody>
            <a:bodyPr wrap="square" lIns="0" tIns="0" rIns="0" bIns="0" rtlCol="0" anchor="ctr"/>
            <a:lstStyle/>
            <a:p>
              <a:pPr marL="0" indent="0" algn="ctr">
                <a:buNone/>
              </a:pPr>
              <a:r>
                <a:rPr lang="en-US" sz="1200" b="1" dirty="0">
                  <a:latin typeface="Times New Roman" panose="02020603050405020304" pitchFamily="18" charset="0"/>
                  <a:ea typeface="Calibri" pitchFamily="34" charset="-122"/>
                  <a:cs typeface="Times New Roman" panose="02020603050405020304" pitchFamily="18" charset="0"/>
                </a:rPr>
                <a:t>HIGH</a:t>
              </a:r>
              <a:endParaRPr lang="en-US" sz="1200" dirty="0">
                <a:latin typeface="Times New Roman" panose="02020603050405020304" pitchFamily="18" charset="0"/>
                <a:cs typeface="Times New Roman" panose="02020603050405020304" pitchFamily="18" charset="0"/>
              </a:endParaRPr>
            </a:p>
          </p:txBody>
        </p:sp>
        <p:sp>
          <p:nvSpPr>
            <p:cNvPr id="179" name="Text 82">
              <a:extLst>
                <a:ext uri="{FF2B5EF4-FFF2-40B4-BE49-F238E27FC236}">
                  <a16:creationId xmlns:a16="http://schemas.microsoft.com/office/drawing/2014/main" id="{A42E2B58-226A-D88E-57AB-1462C75D6B1E}"/>
                </a:ext>
              </a:extLst>
            </p:cNvPr>
            <p:cNvSpPr/>
            <p:nvPr/>
          </p:nvSpPr>
          <p:spPr>
            <a:xfrm>
              <a:off x="9177523" y="2684612"/>
              <a:ext cx="1100179" cy="215614"/>
            </a:xfrm>
            <a:prstGeom prst="rect">
              <a:avLst/>
            </a:prstGeom>
            <a:noFill/>
            <a:ln/>
          </p:spPr>
          <p:txBody>
            <a:bodyPr wrap="square" lIns="0" tIns="0" rIns="0" bIns="0" rtlCol="0" anchor="ctr"/>
            <a:lstStyle/>
            <a:p>
              <a:pPr marL="0" indent="0" algn="ctr">
                <a:buNone/>
              </a:pPr>
              <a:r>
                <a:rPr lang="en-US" sz="1200" dirty="0">
                  <a:latin typeface="Times New Roman" panose="02020603050405020304" pitchFamily="18" charset="0"/>
                  <a:ea typeface="Calibri" pitchFamily="34" charset="-122"/>
                  <a:cs typeface="Times New Roman" panose="02020603050405020304" pitchFamily="18" charset="0"/>
                </a:rPr>
                <a:t>≥ 5</a:t>
              </a:r>
              <a:endParaRPr lang="en-US" sz="1200" dirty="0">
                <a:latin typeface="Times New Roman" panose="02020603050405020304" pitchFamily="18" charset="0"/>
                <a:cs typeface="Times New Roman" panose="02020603050405020304" pitchFamily="18" charset="0"/>
              </a:endParaRPr>
            </a:p>
          </p:txBody>
        </p:sp>
        <p:sp>
          <p:nvSpPr>
            <p:cNvPr id="180" name="Shape 83">
              <a:extLst>
                <a:ext uri="{FF2B5EF4-FFF2-40B4-BE49-F238E27FC236}">
                  <a16:creationId xmlns:a16="http://schemas.microsoft.com/office/drawing/2014/main" id="{C9D8F7AA-11DC-11C2-07D0-68B6EB8BA1F7}"/>
                </a:ext>
              </a:extLst>
            </p:cNvPr>
            <p:cNvSpPr/>
            <p:nvPr/>
          </p:nvSpPr>
          <p:spPr>
            <a:xfrm>
              <a:off x="9177523" y="3008033"/>
              <a:ext cx="1100179" cy="551014"/>
            </a:xfrm>
            <a:prstGeom prst="rect">
              <a:avLst/>
            </a:prstGeom>
            <a:solidFill>
              <a:srgbClr val="F4A261"/>
            </a:solidFill>
            <a:ln w="12700">
              <a:solidFill>
                <a:srgbClr val="F4A261"/>
              </a:solidFill>
              <a:prstDash val="solid"/>
            </a:ln>
          </p:spPr>
        </p:sp>
        <p:sp>
          <p:nvSpPr>
            <p:cNvPr id="181" name="Text 84">
              <a:extLst>
                <a:ext uri="{FF2B5EF4-FFF2-40B4-BE49-F238E27FC236}">
                  <a16:creationId xmlns:a16="http://schemas.microsoft.com/office/drawing/2014/main" id="{0B23BD1F-7504-C6C7-FC39-7047F76FDEE2}"/>
                </a:ext>
              </a:extLst>
            </p:cNvPr>
            <p:cNvSpPr/>
            <p:nvPr/>
          </p:nvSpPr>
          <p:spPr>
            <a:xfrm>
              <a:off x="9177523" y="3055947"/>
              <a:ext cx="1100179" cy="287485"/>
            </a:xfrm>
            <a:prstGeom prst="rect">
              <a:avLst/>
            </a:prstGeom>
            <a:noFill/>
            <a:ln/>
          </p:spPr>
          <p:txBody>
            <a:bodyPr wrap="square" lIns="0" tIns="0" rIns="0" bIns="0" rtlCol="0" anchor="ctr"/>
            <a:lstStyle/>
            <a:p>
              <a:pPr marL="0" indent="0" algn="ctr">
                <a:buNone/>
              </a:pPr>
              <a:r>
                <a:rPr lang="en-US" sz="1200" b="1" dirty="0">
                  <a:latin typeface="Times New Roman" panose="02020603050405020304" pitchFamily="18" charset="0"/>
                  <a:ea typeface="Calibri" pitchFamily="34" charset="-122"/>
                  <a:cs typeface="Times New Roman" panose="02020603050405020304" pitchFamily="18" charset="0"/>
                </a:rPr>
                <a:t>MEDIUM</a:t>
              </a:r>
              <a:endParaRPr lang="en-US" sz="1200" dirty="0">
                <a:latin typeface="Times New Roman" panose="02020603050405020304" pitchFamily="18" charset="0"/>
                <a:cs typeface="Times New Roman" panose="02020603050405020304" pitchFamily="18" charset="0"/>
              </a:endParaRPr>
            </a:p>
          </p:txBody>
        </p:sp>
        <p:sp>
          <p:nvSpPr>
            <p:cNvPr id="182" name="Text 85">
              <a:extLst>
                <a:ext uri="{FF2B5EF4-FFF2-40B4-BE49-F238E27FC236}">
                  <a16:creationId xmlns:a16="http://schemas.microsoft.com/office/drawing/2014/main" id="{FB07AD69-3834-B24F-9722-7D5B5F606B25}"/>
                </a:ext>
              </a:extLst>
            </p:cNvPr>
            <p:cNvSpPr/>
            <p:nvPr/>
          </p:nvSpPr>
          <p:spPr>
            <a:xfrm>
              <a:off x="9177523" y="3331454"/>
              <a:ext cx="1100179" cy="215614"/>
            </a:xfrm>
            <a:prstGeom prst="rect">
              <a:avLst/>
            </a:prstGeom>
            <a:noFill/>
            <a:ln/>
          </p:spPr>
          <p:txBody>
            <a:bodyPr wrap="square" lIns="0" tIns="0" rIns="0" bIns="0" rtlCol="0" anchor="ctr"/>
            <a:lstStyle/>
            <a:p>
              <a:pPr marL="0" indent="0" algn="ctr">
                <a:buNone/>
              </a:pPr>
              <a:r>
                <a:rPr lang="en-US" sz="1200" dirty="0">
                  <a:latin typeface="Times New Roman" panose="02020603050405020304" pitchFamily="18" charset="0"/>
                  <a:ea typeface="Calibri" pitchFamily="34" charset="-122"/>
                  <a:cs typeface="Times New Roman" panose="02020603050405020304" pitchFamily="18" charset="0"/>
                </a:rPr>
                <a:t>≥ 2</a:t>
              </a:r>
              <a:endParaRPr lang="en-US" sz="1200" dirty="0">
                <a:latin typeface="Times New Roman" panose="02020603050405020304" pitchFamily="18" charset="0"/>
                <a:cs typeface="Times New Roman" panose="02020603050405020304" pitchFamily="18" charset="0"/>
              </a:endParaRPr>
            </a:p>
          </p:txBody>
        </p:sp>
        <p:sp>
          <p:nvSpPr>
            <p:cNvPr id="183" name="Shape 86">
              <a:extLst>
                <a:ext uri="{FF2B5EF4-FFF2-40B4-BE49-F238E27FC236}">
                  <a16:creationId xmlns:a16="http://schemas.microsoft.com/office/drawing/2014/main" id="{76FCFF2F-1202-2389-1E09-96210F9047A3}"/>
                </a:ext>
              </a:extLst>
            </p:cNvPr>
            <p:cNvSpPr/>
            <p:nvPr/>
          </p:nvSpPr>
          <p:spPr>
            <a:xfrm>
              <a:off x="9177523" y="3654875"/>
              <a:ext cx="1100179" cy="551014"/>
            </a:xfrm>
            <a:prstGeom prst="rect">
              <a:avLst/>
            </a:prstGeom>
            <a:solidFill>
              <a:srgbClr val="F4C842"/>
            </a:solidFill>
            <a:ln w="12700">
              <a:solidFill>
                <a:srgbClr val="F4C842"/>
              </a:solidFill>
              <a:prstDash val="solid"/>
            </a:ln>
          </p:spPr>
        </p:sp>
        <p:sp>
          <p:nvSpPr>
            <p:cNvPr id="184" name="Text 87">
              <a:extLst>
                <a:ext uri="{FF2B5EF4-FFF2-40B4-BE49-F238E27FC236}">
                  <a16:creationId xmlns:a16="http://schemas.microsoft.com/office/drawing/2014/main" id="{C5F1D9A5-E5EA-FF35-E524-8F2070C6AD8F}"/>
                </a:ext>
              </a:extLst>
            </p:cNvPr>
            <p:cNvSpPr/>
            <p:nvPr/>
          </p:nvSpPr>
          <p:spPr>
            <a:xfrm>
              <a:off x="9177523" y="3702789"/>
              <a:ext cx="1100179" cy="287485"/>
            </a:xfrm>
            <a:prstGeom prst="rect">
              <a:avLst/>
            </a:prstGeom>
            <a:noFill/>
            <a:ln/>
          </p:spPr>
          <p:txBody>
            <a:bodyPr wrap="square" lIns="0" tIns="0" rIns="0" bIns="0" rtlCol="0" anchor="ctr"/>
            <a:lstStyle/>
            <a:p>
              <a:pPr marL="0" indent="0" algn="ctr">
                <a:buNone/>
              </a:pPr>
              <a:r>
                <a:rPr lang="en-US" sz="1200" b="1" dirty="0">
                  <a:latin typeface="Times New Roman" panose="02020603050405020304" pitchFamily="18" charset="0"/>
                  <a:ea typeface="Calibri" pitchFamily="34" charset="-122"/>
                  <a:cs typeface="Times New Roman" panose="02020603050405020304" pitchFamily="18" charset="0"/>
                </a:rPr>
                <a:t>LOW</a:t>
              </a:r>
              <a:endParaRPr lang="en-US" sz="1200" dirty="0">
                <a:latin typeface="Times New Roman" panose="02020603050405020304" pitchFamily="18" charset="0"/>
                <a:cs typeface="Times New Roman" panose="02020603050405020304" pitchFamily="18" charset="0"/>
              </a:endParaRPr>
            </a:p>
          </p:txBody>
        </p:sp>
        <p:sp>
          <p:nvSpPr>
            <p:cNvPr id="185" name="Text 88">
              <a:extLst>
                <a:ext uri="{FF2B5EF4-FFF2-40B4-BE49-F238E27FC236}">
                  <a16:creationId xmlns:a16="http://schemas.microsoft.com/office/drawing/2014/main" id="{C17EACA0-BBC6-FC6F-81DF-F920681CD7BD}"/>
                </a:ext>
              </a:extLst>
            </p:cNvPr>
            <p:cNvSpPr/>
            <p:nvPr/>
          </p:nvSpPr>
          <p:spPr>
            <a:xfrm>
              <a:off x="9177523" y="3978296"/>
              <a:ext cx="1100179" cy="215614"/>
            </a:xfrm>
            <a:prstGeom prst="rect">
              <a:avLst/>
            </a:prstGeom>
            <a:noFill/>
            <a:ln/>
          </p:spPr>
          <p:txBody>
            <a:bodyPr wrap="square" lIns="0" tIns="0" rIns="0" bIns="0" rtlCol="0" anchor="ctr"/>
            <a:lstStyle/>
            <a:p>
              <a:pPr marL="0" indent="0" algn="ctr">
                <a:buNone/>
              </a:pPr>
              <a:r>
                <a:rPr lang="en-US" sz="1200" dirty="0">
                  <a:latin typeface="Times New Roman" panose="02020603050405020304" pitchFamily="18" charset="0"/>
                  <a:ea typeface="Calibri" pitchFamily="34" charset="-122"/>
                  <a:cs typeface="Times New Roman" panose="02020603050405020304" pitchFamily="18" charset="0"/>
                </a:rPr>
                <a:t>≥ 1</a:t>
              </a:r>
              <a:endParaRPr lang="en-US" sz="1200" dirty="0">
                <a:latin typeface="Times New Roman" panose="02020603050405020304" pitchFamily="18" charset="0"/>
                <a:cs typeface="Times New Roman" panose="02020603050405020304" pitchFamily="18" charset="0"/>
              </a:endParaRPr>
            </a:p>
          </p:txBody>
        </p:sp>
        <p:sp>
          <p:nvSpPr>
            <p:cNvPr id="186" name="Shape 89">
              <a:extLst>
                <a:ext uri="{FF2B5EF4-FFF2-40B4-BE49-F238E27FC236}">
                  <a16:creationId xmlns:a16="http://schemas.microsoft.com/office/drawing/2014/main" id="{6FD293F6-9996-2507-0091-9DD0900D4553}"/>
                </a:ext>
              </a:extLst>
            </p:cNvPr>
            <p:cNvSpPr/>
            <p:nvPr/>
          </p:nvSpPr>
          <p:spPr>
            <a:xfrm>
              <a:off x="9177523" y="4301717"/>
              <a:ext cx="1100179" cy="551014"/>
            </a:xfrm>
            <a:prstGeom prst="rect">
              <a:avLst/>
            </a:prstGeom>
            <a:solidFill>
              <a:srgbClr val="2DC653"/>
            </a:solidFill>
            <a:ln w="12700">
              <a:solidFill>
                <a:srgbClr val="2DC653"/>
              </a:solidFill>
              <a:prstDash val="solid"/>
            </a:ln>
          </p:spPr>
        </p:sp>
        <p:sp>
          <p:nvSpPr>
            <p:cNvPr id="187" name="Text 90">
              <a:extLst>
                <a:ext uri="{FF2B5EF4-FFF2-40B4-BE49-F238E27FC236}">
                  <a16:creationId xmlns:a16="http://schemas.microsoft.com/office/drawing/2014/main" id="{94A74F50-2F9A-6086-AFC0-68BCC9411F23}"/>
                </a:ext>
              </a:extLst>
            </p:cNvPr>
            <p:cNvSpPr/>
            <p:nvPr/>
          </p:nvSpPr>
          <p:spPr>
            <a:xfrm>
              <a:off x="9177523" y="4349631"/>
              <a:ext cx="1100179" cy="287485"/>
            </a:xfrm>
            <a:prstGeom prst="rect">
              <a:avLst/>
            </a:prstGeom>
            <a:noFill/>
            <a:ln/>
          </p:spPr>
          <p:txBody>
            <a:bodyPr wrap="square" lIns="0" tIns="0" rIns="0" bIns="0" rtlCol="0" anchor="ctr"/>
            <a:lstStyle/>
            <a:p>
              <a:pPr marL="0" indent="0" algn="ctr">
                <a:buNone/>
              </a:pPr>
              <a:r>
                <a:rPr lang="en-US" sz="1200" b="1" dirty="0">
                  <a:latin typeface="Times New Roman" panose="02020603050405020304" pitchFamily="18" charset="0"/>
                  <a:ea typeface="Calibri" pitchFamily="34" charset="-122"/>
                  <a:cs typeface="Times New Roman" panose="02020603050405020304" pitchFamily="18" charset="0"/>
                </a:rPr>
                <a:t>SAFE</a:t>
              </a:r>
              <a:endParaRPr lang="en-US" sz="1200" dirty="0">
                <a:latin typeface="Times New Roman" panose="02020603050405020304" pitchFamily="18" charset="0"/>
                <a:cs typeface="Times New Roman" panose="02020603050405020304" pitchFamily="18" charset="0"/>
              </a:endParaRPr>
            </a:p>
          </p:txBody>
        </p:sp>
        <p:sp>
          <p:nvSpPr>
            <p:cNvPr id="188" name="Text 91">
              <a:extLst>
                <a:ext uri="{FF2B5EF4-FFF2-40B4-BE49-F238E27FC236}">
                  <a16:creationId xmlns:a16="http://schemas.microsoft.com/office/drawing/2014/main" id="{29085F2F-2048-DA0F-4811-4E1B5CC48F0B}"/>
                </a:ext>
              </a:extLst>
            </p:cNvPr>
            <p:cNvSpPr/>
            <p:nvPr/>
          </p:nvSpPr>
          <p:spPr>
            <a:xfrm>
              <a:off x="9177523" y="4625138"/>
              <a:ext cx="1100179" cy="215614"/>
            </a:xfrm>
            <a:prstGeom prst="rect">
              <a:avLst/>
            </a:prstGeom>
            <a:noFill/>
            <a:ln/>
          </p:spPr>
          <p:txBody>
            <a:bodyPr wrap="square" lIns="0" tIns="0" rIns="0" bIns="0" rtlCol="0" anchor="ctr"/>
            <a:lstStyle/>
            <a:p>
              <a:pPr marL="0" indent="0" algn="ctr">
                <a:buNone/>
              </a:pPr>
              <a:r>
                <a:rPr lang="en-US" sz="1200" dirty="0">
                  <a:latin typeface="Times New Roman" panose="02020603050405020304" pitchFamily="18" charset="0"/>
                  <a:ea typeface="Calibri" pitchFamily="34" charset="-122"/>
                  <a:cs typeface="Times New Roman" panose="02020603050405020304" pitchFamily="18" charset="0"/>
                </a:rPr>
                <a:t>= 0</a:t>
              </a:r>
              <a:endParaRPr lang="en-US" sz="1200" dirty="0">
                <a:latin typeface="Times New Roman" panose="02020603050405020304" pitchFamily="18" charset="0"/>
                <a:cs typeface="Times New Roman" panose="02020603050405020304" pitchFamily="18" charset="0"/>
              </a:endParaRPr>
            </a:p>
          </p:txBody>
        </p:sp>
        <p:sp>
          <p:nvSpPr>
            <p:cNvPr id="191" name="Rectangle 190">
              <a:extLst>
                <a:ext uri="{FF2B5EF4-FFF2-40B4-BE49-F238E27FC236}">
                  <a16:creationId xmlns:a16="http://schemas.microsoft.com/office/drawing/2014/main" id="{7CEA958B-6E63-368B-8AA9-61ED18A8D166}"/>
                </a:ext>
              </a:extLst>
            </p:cNvPr>
            <p:cNvSpPr/>
            <p:nvPr/>
          </p:nvSpPr>
          <p:spPr>
            <a:xfrm>
              <a:off x="352425" y="1776199"/>
              <a:ext cx="1384935" cy="633342"/>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192" name="Rectangle 191">
              <a:extLst>
                <a:ext uri="{FF2B5EF4-FFF2-40B4-BE49-F238E27FC236}">
                  <a16:creationId xmlns:a16="http://schemas.microsoft.com/office/drawing/2014/main" id="{D9665B62-59E2-8E6B-EBAD-15B861E56CFC}"/>
                </a:ext>
              </a:extLst>
            </p:cNvPr>
            <p:cNvSpPr/>
            <p:nvPr/>
          </p:nvSpPr>
          <p:spPr>
            <a:xfrm>
              <a:off x="350330" y="1782850"/>
              <a:ext cx="1368742" cy="76957"/>
            </a:xfrm>
            <a:prstGeom prst="rect">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194" name="Rectangle 193">
              <a:extLst>
                <a:ext uri="{FF2B5EF4-FFF2-40B4-BE49-F238E27FC236}">
                  <a16:creationId xmlns:a16="http://schemas.microsoft.com/office/drawing/2014/main" id="{526A6961-8B99-A081-8238-619D8EFE35A2}"/>
                </a:ext>
              </a:extLst>
            </p:cNvPr>
            <p:cNvSpPr/>
            <p:nvPr/>
          </p:nvSpPr>
          <p:spPr>
            <a:xfrm>
              <a:off x="1953017" y="1591954"/>
              <a:ext cx="1942325" cy="1485474"/>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195" name="Rectangle 194">
              <a:extLst>
                <a:ext uri="{FF2B5EF4-FFF2-40B4-BE49-F238E27FC236}">
                  <a16:creationId xmlns:a16="http://schemas.microsoft.com/office/drawing/2014/main" id="{C803A043-45A7-FC71-4F6A-9635D4D4DA10}"/>
                </a:ext>
              </a:extLst>
            </p:cNvPr>
            <p:cNvSpPr/>
            <p:nvPr/>
          </p:nvSpPr>
          <p:spPr>
            <a:xfrm>
              <a:off x="1950922" y="1598606"/>
              <a:ext cx="1942325" cy="106101"/>
            </a:xfrm>
            <a:prstGeom prst="rect">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grpSp>
          <p:nvGrpSpPr>
            <p:cNvPr id="198" name="Group 197">
              <a:extLst>
                <a:ext uri="{FF2B5EF4-FFF2-40B4-BE49-F238E27FC236}">
                  <a16:creationId xmlns:a16="http://schemas.microsoft.com/office/drawing/2014/main" id="{DBC20237-AACC-B146-8327-2E0BB5280969}"/>
                </a:ext>
              </a:extLst>
            </p:cNvPr>
            <p:cNvGrpSpPr/>
            <p:nvPr/>
          </p:nvGrpSpPr>
          <p:grpSpPr>
            <a:xfrm>
              <a:off x="4215385" y="1534378"/>
              <a:ext cx="2313431" cy="3048458"/>
              <a:chOff x="4224528" y="1557409"/>
              <a:chExt cx="2114296" cy="2878824"/>
            </a:xfrm>
          </p:grpSpPr>
          <p:sp>
            <p:nvSpPr>
              <p:cNvPr id="128" name="Text 28">
                <a:extLst>
                  <a:ext uri="{FF2B5EF4-FFF2-40B4-BE49-F238E27FC236}">
                    <a16:creationId xmlns:a16="http://schemas.microsoft.com/office/drawing/2014/main" id="{9C77F4D9-528C-3174-B409-0014849592B2}"/>
                  </a:ext>
                </a:extLst>
              </p:cNvPr>
              <p:cNvSpPr/>
              <p:nvPr/>
            </p:nvSpPr>
            <p:spPr>
              <a:xfrm>
                <a:off x="4279392" y="1557409"/>
                <a:ext cx="2011680" cy="276367"/>
              </a:xfrm>
              <a:prstGeom prst="rect">
                <a:avLst/>
              </a:prstGeom>
              <a:noFill/>
              <a:ln/>
            </p:spPr>
            <p:txBody>
              <a:bodyPr wrap="square" lIns="0" tIns="0" rIns="0" bIns="0" rtlCol="0" anchor="ctr"/>
              <a:lstStyle/>
              <a:p>
                <a:pPr marL="0" indent="0" algn="ctr">
                  <a:buNone/>
                </a:pPr>
                <a:r>
                  <a:rPr lang="en-US" sz="1000" b="1" kern="0" spc="200" dirty="0">
                    <a:latin typeface="Times New Roman" panose="02020603050405020304" pitchFamily="18" charset="0"/>
                    <a:ea typeface="Calibri" pitchFamily="34" charset="-122"/>
                    <a:cs typeface="Times New Roman" panose="02020603050405020304" pitchFamily="18" charset="0"/>
                  </a:rPr>
                  <a:t>12 DETECTORS</a:t>
                </a:r>
                <a:endParaRPr lang="en-US" sz="1000" dirty="0">
                  <a:latin typeface="Times New Roman" panose="02020603050405020304" pitchFamily="18" charset="0"/>
                  <a:cs typeface="Times New Roman" panose="02020603050405020304" pitchFamily="18" charset="0"/>
                </a:endParaRPr>
              </a:p>
            </p:txBody>
          </p:sp>
          <p:sp>
            <p:nvSpPr>
              <p:cNvPr id="129" name="Shape 29">
                <a:extLst>
                  <a:ext uri="{FF2B5EF4-FFF2-40B4-BE49-F238E27FC236}">
                    <a16:creationId xmlns:a16="http://schemas.microsoft.com/office/drawing/2014/main" id="{D0B9C743-E0D4-2C2C-A458-91AB0BF5DC0A}"/>
                  </a:ext>
                </a:extLst>
              </p:cNvPr>
              <p:cNvSpPr/>
              <p:nvPr/>
            </p:nvSpPr>
            <p:spPr>
              <a:xfrm>
                <a:off x="4224528" y="1845292"/>
                <a:ext cx="969264" cy="403035"/>
              </a:xfrm>
              <a:prstGeom prst="rect">
                <a:avLst/>
              </a:prstGeom>
              <a:solidFill>
                <a:srgbClr val="E63946">
                  <a:alpha val="20000"/>
                </a:srgbClr>
              </a:solidFill>
              <a:ln w="12700">
                <a:solidFill>
                  <a:srgbClr val="E63946"/>
                </a:solidFill>
                <a:prstDash val="solid"/>
              </a:ln>
            </p:spPr>
          </p:sp>
          <p:sp>
            <p:nvSpPr>
              <p:cNvPr id="130" name="Text 30">
                <a:extLst>
                  <a:ext uri="{FF2B5EF4-FFF2-40B4-BE49-F238E27FC236}">
                    <a16:creationId xmlns:a16="http://schemas.microsoft.com/office/drawing/2014/main" id="{38E7A674-0E43-96CE-23AF-877ADCF59A51}"/>
                  </a:ext>
                </a:extLst>
              </p:cNvPr>
              <p:cNvSpPr/>
              <p:nvPr/>
            </p:nvSpPr>
            <p:spPr>
              <a:xfrm>
                <a:off x="4261104" y="1891353"/>
                <a:ext cx="807720" cy="295559"/>
              </a:xfrm>
              <a:prstGeom prst="rect">
                <a:avLst/>
              </a:prstGeom>
              <a:noFill/>
              <a:ln/>
            </p:spPr>
            <p:txBody>
              <a:bodyPr wrap="square" lIns="0" tIns="0" rIns="0" bIns="0" rtlCol="0" anchor="ctr"/>
              <a:lstStyle/>
              <a:p>
                <a:pPr marL="0" indent="0">
                  <a:buNone/>
                </a:pPr>
                <a:r>
                  <a:rPr lang="en-US" sz="900" dirty="0">
                    <a:latin typeface="Times New Roman" panose="02020603050405020304" pitchFamily="18" charset="0"/>
                    <a:ea typeface="Calibri" pitchFamily="34" charset="-122"/>
                    <a:cs typeface="Times New Roman" panose="02020603050405020304" pitchFamily="18" charset="0"/>
                  </a:rPr>
                  <a:t>HTML Form</a:t>
                </a:r>
                <a:endParaRPr lang="en-US" sz="900" dirty="0">
                  <a:latin typeface="Times New Roman" panose="02020603050405020304" pitchFamily="18" charset="0"/>
                  <a:cs typeface="Times New Roman" panose="02020603050405020304" pitchFamily="18" charset="0"/>
                </a:endParaRPr>
              </a:p>
            </p:txBody>
          </p:sp>
          <p:sp>
            <p:nvSpPr>
              <p:cNvPr id="131" name="Text 31">
                <a:extLst>
                  <a:ext uri="{FF2B5EF4-FFF2-40B4-BE49-F238E27FC236}">
                    <a16:creationId xmlns:a16="http://schemas.microsoft.com/office/drawing/2014/main" id="{C8665AED-9B25-E533-9559-9E7E1EBB54B9}"/>
                  </a:ext>
                </a:extLst>
              </p:cNvPr>
              <p:cNvSpPr/>
              <p:nvPr/>
            </p:nvSpPr>
            <p:spPr>
              <a:xfrm>
                <a:off x="4986528" y="1902867"/>
                <a:ext cx="201168" cy="276367"/>
              </a:xfrm>
              <a:prstGeom prst="rect">
                <a:avLst/>
              </a:prstGeom>
              <a:noFill/>
              <a:ln/>
            </p:spPr>
            <p:txBody>
              <a:bodyPr wrap="square" lIns="0" tIns="0" rIns="0" bIns="0" rtlCol="0" anchor="ctr"/>
              <a:lstStyle/>
              <a:p>
                <a:pPr marL="0" indent="0" algn="ctr">
                  <a:buNone/>
                </a:pPr>
                <a:r>
                  <a:rPr lang="en-US" sz="900" b="1" dirty="0">
                    <a:latin typeface="Times New Roman" panose="02020603050405020304" pitchFamily="18" charset="0"/>
                    <a:ea typeface="Calibri" pitchFamily="34" charset="-122"/>
                    <a:cs typeface="Times New Roman" panose="02020603050405020304" pitchFamily="18" charset="0"/>
                  </a:rPr>
                  <a:t>3</a:t>
                </a:r>
                <a:endParaRPr lang="en-US" sz="900" dirty="0">
                  <a:latin typeface="Times New Roman" panose="02020603050405020304" pitchFamily="18" charset="0"/>
                  <a:cs typeface="Times New Roman" panose="02020603050405020304" pitchFamily="18" charset="0"/>
                </a:endParaRPr>
              </a:p>
            </p:txBody>
          </p:sp>
          <p:sp>
            <p:nvSpPr>
              <p:cNvPr id="132" name="Shape 32">
                <a:extLst>
                  <a:ext uri="{FF2B5EF4-FFF2-40B4-BE49-F238E27FC236}">
                    <a16:creationId xmlns:a16="http://schemas.microsoft.com/office/drawing/2014/main" id="{36843FA5-912D-25FF-8535-B1315F4FA030}"/>
                  </a:ext>
                </a:extLst>
              </p:cNvPr>
              <p:cNvSpPr/>
              <p:nvPr/>
            </p:nvSpPr>
            <p:spPr>
              <a:xfrm>
                <a:off x="4224528" y="2282873"/>
                <a:ext cx="969264" cy="403035"/>
              </a:xfrm>
              <a:prstGeom prst="rect">
                <a:avLst/>
              </a:prstGeom>
              <a:solidFill>
                <a:srgbClr val="E63946">
                  <a:alpha val="20000"/>
                </a:srgbClr>
              </a:solidFill>
              <a:ln w="12700">
                <a:solidFill>
                  <a:srgbClr val="E63946"/>
                </a:solidFill>
                <a:prstDash val="solid"/>
              </a:ln>
            </p:spPr>
          </p:sp>
          <p:sp>
            <p:nvSpPr>
              <p:cNvPr id="133" name="Text 33">
                <a:extLst>
                  <a:ext uri="{FF2B5EF4-FFF2-40B4-BE49-F238E27FC236}">
                    <a16:creationId xmlns:a16="http://schemas.microsoft.com/office/drawing/2014/main" id="{F8117642-8450-8290-4334-E7AE92A73E40}"/>
                  </a:ext>
                </a:extLst>
              </p:cNvPr>
              <p:cNvSpPr/>
              <p:nvPr/>
            </p:nvSpPr>
            <p:spPr>
              <a:xfrm>
                <a:off x="4261104" y="2328934"/>
                <a:ext cx="807720" cy="295559"/>
              </a:xfrm>
              <a:prstGeom prst="rect">
                <a:avLst/>
              </a:prstGeom>
              <a:noFill/>
              <a:ln/>
            </p:spPr>
            <p:txBody>
              <a:bodyPr wrap="square" lIns="0" tIns="0" rIns="0" bIns="0" rtlCol="0" anchor="ctr"/>
              <a:lstStyle/>
              <a:p>
                <a:pPr marL="0" indent="0">
                  <a:buNone/>
                </a:pPr>
                <a:r>
                  <a:rPr lang="en-US" sz="900" dirty="0">
                    <a:latin typeface="Times New Roman" panose="02020603050405020304" pitchFamily="18" charset="0"/>
                    <a:ea typeface="Calibri" pitchFamily="34" charset="-122"/>
                    <a:cs typeface="Times New Roman" panose="02020603050405020304" pitchFamily="18" charset="0"/>
                  </a:rPr>
                  <a:t>Template Match</a:t>
                </a:r>
                <a:endParaRPr lang="en-US" sz="900" dirty="0">
                  <a:latin typeface="Times New Roman" panose="02020603050405020304" pitchFamily="18" charset="0"/>
                  <a:cs typeface="Times New Roman" panose="02020603050405020304" pitchFamily="18" charset="0"/>
                </a:endParaRPr>
              </a:p>
            </p:txBody>
          </p:sp>
          <p:sp>
            <p:nvSpPr>
              <p:cNvPr id="134" name="Text 34">
                <a:extLst>
                  <a:ext uri="{FF2B5EF4-FFF2-40B4-BE49-F238E27FC236}">
                    <a16:creationId xmlns:a16="http://schemas.microsoft.com/office/drawing/2014/main" id="{142ECC65-6878-626C-CC46-35F2B8E222C6}"/>
                  </a:ext>
                </a:extLst>
              </p:cNvPr>
              <p:cNvSpPr/>
              <p:nvPr/>
            </p:nvSpPr>
            <p:spPr>
              <a:xfrm>
                <a:off x="4986528" y="2340449"/>
                <a:ext cx="201168" cy="276367"/>
              </a:xfrm>
              <a:prstGeom prst="rect">
                <a:avLst/>
              </a:prstGeom>
              <a:noFill/>
              <a:ln/>
            </p:spPr>
            <p:txBody>
              <a:bodyPr wrap="square" lIns="0" tIns="0" rIns="0" bIns="0" rtlCol="0" anchor="ctr"/>
              <a:lstStyle/>
              <a:p>
                <a:pPr marL="0" indent="0" algn="ctr">
                  <a:buNone/>
                </a:pPr>
                <a:r>
                  <a:rPr lang="en-US" sz="900" b="1" dirty="0">
                    <a:latin typeface="Times New Roman" panose="02020603050405020304" pitchFamily="18" charset="0"/>
                    <a:ea typeface="Calibri" pitchFamily="34" charset="-122"/>
                    <a:cs typeface="Times New Roman" panose="02020603050405020304" pitchFamily="18" charset="0"/>
                  </a:rPr>
                  <a:t>3</a:t>
                </a:r>
                <a:endParaRPr lang="en-US" sz="900" dirty="0">
                  <a:latin typeface="Times New Roman" panose="02020603050405020304" pitchFamily="18" charset="0"/>
                  <a:cs typeface="Times New Roman" panose="02020603050405020304" pitchFamily="18" charset="0"/>
                </a:endParaRPr>
              </a:p>
            </p:txBody>
          </p:sp>
          <p:sp>
            <p:nvSpPr>
              <p:cNvPr id="135" name="Shape 35">
                <a:extLst>
                  <a:ext uri="{FF2B5EF4-FFF2-40B4-BE49-F238E27FC236}">
                    <a16:creationId xmlns:a16="http://schemas.microsoft.com/office/drawing/2014/main" id="{297E7093-3D6B-1981-3552-85CD804057F0}"/>
                  </a:ext>
                </a:extLst>
              </p:cNvPr>
              <p:cNvSpPr/>
              <p:nvPr/>
            </p:nvSpPr>
            <p:spPr>
              <a:xfrm>
                <a:off x="4224528" y="2720454"/>
                <a:ext cx="969264" cy="403035"/>
              </a:xfrm>
              <a:prstGeom prst="rect">
                <a:avLst/>
              </a:prstGeom>
              <a:solidFill>
                <a:srgbClr val="E63946">
                  <a:alpha val="20000"/>
                </a:srgbClr>
              </a:solidFill>
              <a:ln w="12700">
                <a:solidFill>
                  <a:srgbClr val="E63946"/>
                </a:solidFill>
                <a:prstDash val="solid"/>
              </a:ln>
            </p:spPr>
          </p:sp>
          <p:sp>
            <p:nvSpPr>
              <p:cNvPr id="136" name="Text 36">
                <a:extLst>
                  <a:ext uri="{FF2B5EF4-FFF2-40B4-BE49-F238E27FC236}">
                    <a16:creationId xmlns:a16="http://schemas.microsoft.com/office/drawing/2014/main" id="{94BD3170-00C3-3D1B-3620-CCF35CDEF004}"/>
                  </a:ext>
                </a:extLst>
              </p:cNvPr>
              <p:cNvSpPr/>
              <p:nvPr/>
            </p:nvSpPr>
            <p:spPr>
              <a:xfrm>
                <a:off x="4261104" y="2766515"/>
                <a:ext cx="807720" cy="295559"/>
              </a:xfrm>
              <a:prstGeom prst="rect">
                <a:avLst/>
              </a:prstGeom>
              <a:noFill/>
              <a:ln/>
            </p:spPr>
            <p:txBody>
              <a:bodyPr wrap="square" lIns="0" tIns="0" rIns="0" bIns="0" rtlCol="0" anchor="ctr"/>
              <a:lstStyle/>
              <a:p>
                <a:pPr marL="0" indent="0">
                  <a:buNone/>
                </a:pPr>
                <a:r>
                  <a:rPr lang="en-US" sz="900" dirty="0">
                    <a:latin typeface="Times New Roman" panose="02020603050405020304" pitchFamily="18" charset="0"/>
                    <a:ea typeface="Calibri" pitchFamily="34" charset="-122"/>
                    <a:cs typeface="Times New Roman" panose="02020603050405020304" pitchFamily="18" charset="0"/>
                  </a:rPr>
                  <a:t>Advance Fee</a:t>
                </a:r>
                <a:endParaRPr lang="en-US" sz="900" dirty="0">
                  <a:latin typeface="Times New Roman" panose="02020603050405020304" pitchFamily="18" charset="0"/>
                  <a:cs typeface="Times New Roman" panose="02020603050405020304" pitchFamily="18" charset="0"/>
                </a:endParaRPr>
              </a:p>
            </p:txBody>
          </p:sp>
          <p:sp>
            <p:nvSpPr>
              <p:cNvPr id="137" name="Text 37">
                <a:extLst>
                  <a:ext uri="{FF2B5EF4-FFF2-40B4-BE49-F238E27FC236}">
                    <a16:creationId xmlns:a16="http://schemas.microsoft.com/office/drawing/2014/main" id="{7C960315-0F1E-623E-FDF8-0D23275F555A}"/>
                  </a:ext>
                </a:extLst>
              </p:cNvPr>
              <p:cNvSpPr/>
              <p:nvPr/>
            </p:nvSpPr>
            <p:spPr>
              <a:xfrm>
                <a:off x="4986528" y="2778030"/>
                <a:ext cx="201168" cy="276367"/>
              </a:xfrm>
              <a:prstGeom prst="rect">
                <a:avLst/>
              </a:prstGeom>
              <a:noFill/>
              <a:ln/>
            </p:spPr>
            <p:txBody>
              <a:bodyPr wrap="square" lIns="0" tIns="0" rIns="0" bIns="0" rtlCol="0" anchor="ctr"/>
              <a:lstStyle/>
              <a:p>
                <a:pPr marL="0" indent="0" algn="ctr">
                  <a:buNone/>
                </a:pPr>
                <a:r>
                  <a:rPr lang="en-US" sz="900" b="1" dirty="0">
                    <a:latin typeface="Times New Roman" panose="02020603050405020304" pitchFamily="18" charset="0"/>
                    <a:ea typeface="Calibri" pitchFamily="34" charset="-122"/>
                    <a:cs typeface="Times New Roman" panose="02020603050405020304" pitchFamily="18" charset="0"/>
                  </a:rPr>
                  <a:t>3</a:t>
                </a:r>
                <a:endParaRPr lang="en-US" sz="900" dirty="0">
                  <a:latin typeface="Times New Roman" panose="02020603050405020304" pitchFamily="18" charset="0"/>
                  <a:cs typeface="Times New Roman" panose="02020603050405020304" pitchFamily="18" charset="0"/>
                </a:endParaRPr>
              </a:p>
            </p:txBody>
          </p:sp>
          <p:sp>
            <p:nvSpPr>
              <p:cNvPr id="138" name="Shape 38">
                <a:extLst>
                  <a:ext uri="{FF2B5EF4-FFF2-40B4-BE49-F238E27FC236}">
                    <a16:creationId xmlns:a16="http://schemas.microsoft.com/office/drawing/2014/main" id="{717D5D7E-464B-B228-0C3B-657591AE31AA}"/>
                  </a:ext>
                </a:extLst>
              </p:cNvPr>
              <p:cNvSpPr/>
              <p:nvPr/>
            </p:nvSpPr>
            <p:spPr>
              <a:xfrm>
                <a:off x="4224528" y="3158036"/>
                <a:ext cx="969264" cy="403035"/>
              </a:xfrm>
              <a:prstGeom prst="rect">
                <a:avLst/>
              </a:prstGeom>
              <a:solidFill>
                <a:srgbClr val="E63946">
                  <a:alpha val="20000"/>
                </a:srgbClr>
              </a:solidFill>
              <a:ln w="12700">
                <a:solidFill>
                  <a:srgbClr val="E63946"/>
                </a:solidFill>
                <a:prstDash val="solid"/>
              </a:ln>
            </p:spPr>
          </p:sp>
          <p:sp>
            <p:nvSpPr>
              <p:cNvPr id="139" name="Text 39">
                <a:extLst>
                  <a:ext uri="{FF2B5EF4-FFF2-40B4-BE49-F238E27FC236}">
                    <a16:creationId xmlns:a16="http://schemas.microsoft.com/office/drawing/2014/main" id="{201782AA-8E4C-BA73-FB94-A4274FDD9B97}"/>
                  </a:ext>
                </a:extLst>
              </p:cNvPr>
              <p:cNvSpPr/>
              <p:nvPr/>
            </p:nvSpPr>
            <p:spPr>
              <a:xfrm>
                <a:off x="4261104" y="3204097"/>
                <a:ext cx="807720" cy="295559"/>
              </a:xfrm>
              <a:prstGeom prst="rect">
                <a:avLst/>
              </a:prstGeom>
              <a:noFill/>
              <a:ln/>
            </p:spPr>
            <p:txBody>
              <a:bodyPr wrap="square" lIns="0" tIns="0" rIns="0" bIns="0" rtlCol="0" anchor="ctr"/>
              <a:lstStyle/>
              <a:p>
                <a:pPr marL="0" indent="0">
                  <a:buNone/>
                </a:pPr>
                <a:r>
                  <a:rPr lang="en-US" sz="900" dirty="0">
                    <a:latin typeface="Times New Roman" panose="02020603050405020304" pitchFamily="18" charset="0"/>
                    <a:ea typeface="Calibri" pitchFamily="34" charset="-122"/>
                    <a:cs typeface="Times New Roman" panose="02020603050405020304" pitchFamily="18" charset="0"/>
                  </a:rPr>
                  <a:t>Crypto Bait</a:t>
                </a:r>
                <a:endParaRPr lang="en-US" sz="900" dirty="0">
                  <a:latin typeface="Times New Roman" panose="02020603050405020304" pitchFamily="18" charset="0"/>
                  <a:cs typeface="Times New Roman" panose="02020603050405020304" pitchFamily="18" charset="0"/>
                </a:endParaRPr>
              </a:p>
            </p:txBody>
          </p:sp>
          <p:sp>
            <p:nvSpPr>
              <p:cNvPr id="140" name="Text 40">
                <a:extLst>
                  <a:ext uri="{FF2B5EF4-FFF2-40B4-BE49-F238E27FC236}">
                    <a16:creationId xmlns:a16="http://schemas.microsoft.com/office/drawing/2014/main" id="{4EEB6822-A353-E2B9-3042-F87137E4CDAC}"/>
                  </a:ext>
                </a:extLst>
              </p:cNvPr>
              <p:cNvSpPr/>
              <p:nvPr/>
            </p:nvSpPr>
            <p:spPr>
              <a:xfrm>
                <a:off x="4986528" y="3215611"/>
                <a:ext cx="201168" cy="276367"/>
              </a:xfrm>
              <a:prstGeom prst="rect">
                <a:avLst/>
              </a:prstGeom>
              <a:noFill/>
              <a:ln/>
            </p:spPr>
            <p:txBody>
              <a:bodyPr wrap="square" lIns="0" tIns="0" rIns="0" bIns="0" rtlCol="0" anchor="ctr"/>
              <a:lstStyle/>
              <a:p>
                <a:pPr marL="0" indent="0" algn="ctr">
                  <a:buNone/>
                </a:pPr>
                <a:r>
                  <a:rPr lang="en-US" sz="900" b="1" dirty="0">
                    <a:latin typeface="Times New Roman" panose="02020603050405020304" pitchFamily="18" charset="0"/>
                    <a:ea typeface="Calibri" pitchFamily="34" charset="-122"/>
                    <a:cs typeface="Times New Roman" panose="02020603050405020304" pitchFamily="18" charset="0"/>
                  </a:rPr>
                  <a:t>3</a:t>
                </a:r>
                <a:endParaRPr lang="en-US" sz="900" dirty="0">
                  <a:latin typeface="Times New Roman" panose="02020603050405020304" pitchFamily="18" charset="0"/>
                  <a:cs typeface="Times New Roman" panose="02020603050405020304" pitchFamily="18" charset="0"/>
                </a:endParaRPr>
              </a:p>
            </p:txBody>
          </p:sp>
          <p:sp>
            <p:nvSpPr>
              <p:cNvPr id="141" name="Shape 41">
                <a:extLst>
                  <a:ext uri="{FF2B5EF4-FFF2-40B4-BE49-F238E27FC236}">
                    <a16:creationId xmlns:a16="http://schemas.microsoft.com/office/drawing/2014/main" id="{945004E0-EC10-5BE3-9932-B9988EC93796}"/>
                  </a:ext>
                </a:extLst>
              </p:cNvPr>
              <p:cNvSpPr/>
              <p:nvPr/>
            </p:nvSpPr>
            <p:spPr>
              <a:xfrm>
                <a:off x="4224528" y="3595617"/>
                <a:ext cx="969264" cy="403035"/>
              </a:xfrm>
              <a:prstGeom prst="rect">
                <a:avLst/>
              </a:prstGeom>
              <a:solidFill>
                <a:srgbClr val="F4A261">
                  <a:alpha val="20000"/>
                </a:srgbClr>
              </a:solidFill>
              <a:ln w="12700">
                <a:solidFill>
                  <a:srgbClr val="F4A261"/>
                </a:solidFill>
                <a:prstDash val="solid"/>
              </a:ln>
            </p:spPr>
          </p:sp>
          <p:sp>
            <p:nvSpPr>
              <p:cNvPr id="142" name="Text 42">
                <a:extLst>
                  <a:ext uri="{FF2B5EF4-FFF2-40B4-BE49-F238E27FC236}">
                    <a16:creationId xmlns:a16="http://schemas.microsoft.com/office/drawing/2014/main" id="{ADD92398-14FE-1200-DD41-885E0326239F}"/>
                  </a:ext>
                </a:extLst>
              </p:cNvPr>
              <p:cNvSpPr/>
              <p:nvPr/>
            </p:nvSpPr>
            <p:spPr>
              <a:xfrm>
                <a:off x="4261104" y="3641678"/>
                <a:ext cx="807720" cy="295559"/>
              </a:xfrm>
              <a:prstGeom prst="rect">
                <a:avLst/>
              </a:prstGeom>
              <a:noFill/>
              <a:ln/>
            </p:spPr>
            <p:txBody>
              <a:bodyPr wrap="square" lIns="0" tIns="0" rIns="0" bIns="0" rtlCol="0" anchor="ctr"/>
              <a:lstStyle/>
              <a:p>
                <a:pPr marL="0" indent="0">
                  <a:buNone/>
                </a:pPr>
                <a:r>
                  <a:rPr lang="en-US" sz="900" dirty="0">
                    <a:latin typeface="Times New Roman" panose="02020603050405020304" pitchFamily="18" charset="0"/>
                    <a:ea typeface="Calibri" pitchFamily="34" charset="-122"/>
                    <a:cs typeface="Times New Roman" panose="02020603050405020304" pitchFamily="18" charset="0"/>
                  </a:rPr>
                  <a:t>Suspicious URL</a:t>
                </a:r>
                <a:endParaRPr lang="en-US" sz="900" dirty="0">
                  <a:latin typeface="Times New Roman" panose="02020603050405020304" pitchFamily="18" charset="0"/>
                  <a:cs typeface="Times New Roman" panose="02020603050405020304" pitchFamily="18" charset="0"/>
                </a:endParaRPr>
              </a:p>
            </p:txBody>
          </p:sp>
          <p:sp>
            <p:nvSpPr>
              <p:cNvPr id="143" name="Text 43">
                <a:extLst>
                  <a:ext uri="{FF2B5EF4-FFF2-40B4-BE49-F238E27FC236}">
                    <a16:creationId xmlns:a16="http://schemas.microsoft.com/office/drawing/2014/main" id="{2FD5992F-4F56-B24C-8C90-92E358421153}"/>
                  </a:ext>
                </a:extLst>
              </p:cNvPr>
              <p:cNvSpPr/>
              <p:nvPr/>
            </p:nvSpPr>
            <p:spPr>
              <a:xfrm>
                <a:off x="4986528" y="3653193"/>
                <a:ext cx="201168" cy="276367"/>
              </a:xfrm>
              <a:prstGeom prst="rect">
                <a:avLst/>
              </a:prstGeom>
              <a:noFill/>
              <a:ln/>
            </p:spPr>
            <p:txBody>
              <a:bodyPr wrap="square" lIns="0" tIns="0" rIns="0" bIns="0" rtlCol="0" anchor="ctr"/>
              <a:lstStyle/>
              <a:p>
                <a:pPr marL="0" indent="0" algn="ctr">
                  <a:buNone/>
                </a:pPr>
                <a:r>
                  <a:rPr lang="en-US" sz="900" b="1" dirty="0">
                    <a:latin typeface="Times New Roman" panose="02020603050405020304" pitchFamily="18" charset="0"/>
                    <a:ea typeface="Calibri" pitchFamily="34" charset="-122"/>
                    <a:cs typeface="Times New Roman" panose="02020603050405020304" pitchFamily="18" charset="0"/>
                  </a:rPr>
                  <a:t>2</a:t>
                </a:r>
                <a:endParaRPr lang="en-US" sz="900" dirty="0">
                  <a:latin typeface="Times New Roman" panose="02020603050405020304" pitchFamily="18" charset="0"/>
                  <a:cs typeface="Times New Roman" panose="02020603050405020304" pitchFamily="18" charset="0"/>
                </a:endParaRPr>
              </a:p>
            </p:txBody>
          </p:sp>
          <p:sp>
            <p:nvSpPr>
              <p:cNvPr id="144" name="Shape 44">
                <a:extLst>
                  <a:ext uri="{FF2B5EF4-FFF2-40B4-BE49-F238E27FC236}">
                    <a16:creationId xmlns:a16="http://schemas.microsoft.com/office/drawing/2014/main" id="{80A36945-038E-10DC-55BC-36E8B00EC270}"/>
                  </a:ext>
                </a:extLst>
              </p:cNvPr>
              <p:cNvSpPr/>
              <p:nvPr/>
            </p:nvSpPr>
            <p:spPr>
              <a:xfrm>
                <a:off x="4224528" y="4033198"/>
                <a:ext cx="969264" cy="403035"/>
              </a:xfrm>
              <a:prstGeom prst="rect">
                <a:avLst/>
              </a:prstGeom>
              <a:solidFill>
                <a:srgbClr val="F4A261">
                  <a:alpha val="20000"/>
                </a:srgbClr>
              </a:solidFill>
              <a:ln w="12700">
                <a:solidFill>
                  <a:srgbClr val="F4A261"/>
                </a:solidFill>
                <a:prstDash val="solid"/>
              </a:ln>
            </p:spPr>
          </p:sp>
          <p:sp>
            <p:nvSpPr>
              <p:cNvPr id="145" name="Text 45">
                <a:extLst>
                  <a:ext uri="{FF2B5EF4-FFF2-40B4-BE49-F238E27FC236}">
                    <a16:creationId xmlns:a16="http://schemas.microsoft.com/office/drawing/2014/main" id="{E19586CA-5552-DF29-812C-5BF1AD0EEEEC}"/>
                  </a:ext>
                </a:extLst>
              </p:cNvPr>
              <p:cNvSpPr/>
              <p:nvPr/>
            </p:nvSpPr>
            <p:spPr>
              <a:xfrm>
                <a:off x="4261104" y="4079259"/>
                <a:ext cx="807720" cy="295559"/>
              </a:xfrm>
              <a:prstGeom prst="rect">
                <a:avLst/>
              </a:prstGeom>
              <a:noFill/>
              <a:ln/>
            </p:spPr>
            <p:txBody>
              <a:bodyPr wrap="square" lIns="0" tIns="0" rIns="0" bIns="0" rtlCol="0" anchor="ctr"/>
              <a:lstStyle/>
              <a:p>
                <a:pPr marL="0" indent="0">
                  <a:buNone/>
                </a:pPr>
                <a:r>
                  <a:rPr lang="en-US" sz="900" dirty="0">
                    <a:latin typeface="Times New Roman" panose="02020603050405020304" pitchFamily="18" charset="0"/>
                    <a:ea typeface="Calibri" pitchFamily="34" charset="-122"/>
                    <a:cs typeface="Times New Roman" panose="02020603050405020304" pitchFamily="18" charset="0"/>
                  </a:rPr>
                  <a:t>Brand Spoofing</a:t>
                </a:r>
                <a:endParaRPr lang="en-US" sz="900" dirty="0">
                  <a:latin typeface="Times New Roman" panose="02020603050405020304" pitchFamily="18" charset="0"/>
                  <a:cs typeface="Times New Roman" panose="02020603050405020304" pitchFamily="18" charset="0"/>
                </a:endParaRPr>
              </a:p>
            </p:txBody>
          </p:sp>
          <p:sp>
            <p:nvSpPr>
              <p:cNvPr id="146" name="Text 46">
                <a:extLst>
                  <a:ext uri="{FF2B5EF4-FFF2-40B4-BE49-F238E27FC236}">
                    <a16:creationId xmlns:a16="http://schemas.microsoft.com/office/drawing/2014/main" id="{6A7C78B8-3E58-D7F6-8915-E0A37AECE975}"/>
                  </a:ext>
                </a:extLst>
              </p:cNvPr>
              <p:cNvSpPr/>
              <p:nvPr/>
            </p:nvSpPr>
            <p:spPr>
              <a:xfrm>
                <a:off x="4986528" y="4090774"/>
                <a:ext cx="201168" cy="276367"/>
              </a:xfrm>
              <a:prstGeom prst="rect">
                <a:avLst/>
              </a:prstGeom>
              <a:noFill/>
              <a:ln/>
            </p:spPr>
            <p:txBody>
              <a:bodyPr wrap="square" lIns="0" tIns="0" rIns="0" bIns="0" rtlCol="0" anchor="ctr"/>
              <a:lstStyle/>
              <a:p>
                <a:pPr marL="0" indent="0" algn="ctr">
                  <a:buNone/>
                </a:pPr>
                <a:r>
                  <a:rPr lang="en-US" sz="900" b="1" dirty="0">
                    <a:latin typeface="Times New Roman" panose="02020603050405020304" pitchFamily="18" charset="0"/>
                    <a:ea typeface="Calibri" pitchFamily="34" charset="-122"/>
                    <a:cs typeface="Times New Roman" panose="02020603050405020304" pitchFamily="18" charset="0"/>
                  </a:rPr>
                  <a:t>2</a:t>
                </a:r>
                <a:endParaRPr lang="en-US" sz="900" dirty="0">
                  <a:latin typeface="Times New Roman" panose="02020603050405020304" pitchFamily="18" charset="0"/>
                  <a:cs typeface="Times New Roman" panose="02020603050405020304" pitchFamily="18" charset="0"/>
                </a:endParaRPr>
              </a:p>
            </p:txBody>
          </p:sp>
          <p:sp>
            <p:nvSpPr>
              <p:cNvPr id="147" name="Shape 47">
                <a:extLst>
                  <a:ext uri="{FF2B5EF4-FFF2-40B4-BE49-F238E27FC236}">
                    <a16:creationId xmlns:a16="http://schemas.microsoft.com/office/drawing/2014/main" id="{50E9308E-7EFA-C6FD-AF29-9872A369CE3E}"/>
                  </a:ext>
                </a:extLst>
              </p:cNvPr>
              <p:cNvSpPr/>
              <p:nvPr/>
            </p:nvSpPr>
            <p:spPr>
              <a:xfrm>
                <a:off x="5340094" y="1850409"/>
                <a:ext cx="987554" cy="397918"/>
              </a:xfrm>
              <a:prstGeom prst="rect">
                <a:avLst/>
              </a:prstGeom>
              <a:solidFill>
                <a:srgbClr val="F4A261">
                  <a:alpha val="20000"/>
                </a:srgbClr>
              </a:solidFill>
              <a:ln w="12700">
                <a:solidFill>
                  <a:srgbClr val="F4A261"/>
                </a:solidFill>
                <a:prstDash val="solid"/>
              </a:ln>
            </p:spPr>
          </p:sp>
          <p:sp>
            <p:nvSpPr>
              <p:cNvPr id="148" name="Text 48">
                <a:extLst>
                  <a:ext uri="{FF2B5EF4-FFF2-40B4-BE49-F238E27FC236}">
                    <a16:creationId xmlns:a16="http://schemas.microsoft.com/office/drawing/2014/main" id="{A4ECAF23-9F59-FD74-A5D9-6DECB438344B}"/>
                  </a:ext>
                </a:extLst>
              </p:cNvPr>
              <p:cNvSpPr/>
              <p:nvPr/>
            </p:nvSpPr>
            <p:spPr>
              <a:xfrm>
                <a:off x="5376670" y="1896470"/>
                <a:ext cx="822962" cy="291807"/>
              </a:xfrm>
              <a:prstGeom prst="rect">
                <a:avLst/>
              </a:prstGeom>
              <a:noFill/>
              <a:ln/>
            </p:spPr>
            <p:txBody>
              <a:bodyPr wrap="square" lIns="0" tIns="0" rIns="0" bIns="0" rtlCol="0" anchor="ctr"/>
              <a:lstStyle/>
              <a:p>
                <a:pPr marL="0" indent="0">
                  <a:buNone/>
                </a:pPr>
                <a:r>
                  <a:rPr lang="en-US" sz="900" dirty="0">
                    <a:latin typeface="Times New Roman" panose="02020603050405020304" pitchFamily="18" charset="0"/>
                    <a:ea typeface="Calibri" pitchFamily="34" charset="-122"/>
                    <a:cs typeface="Times New Roman" panose="02020603050405020304" pitchFamily="18" charset="0"/>
                  </a:rPr>
                  <a:t>Sender Mismatch</a:t>
                </a:r>
                <a:endParaRPr lang="en-US" sz="900" dirty="0">
                  <a:latin typeface="Times New Roman" panose="02020603050405020304" pitchFamily="18" charset="0"/>
                  <a:cs typeface="Times New Roman" panose="02020603050405020304" pitchFamily="18" charset="0"/>
                </a:endParaRPr>
              </a:p>
            </p:txBody>
          </p:sp>
          <p:sp>
            <p:nvSpPr>
              <p:cNvPr id="149" name="Text 49">
                <a:extLst>
                  <a:ext uri="{FF2B5EF4-FFF2-40B4-BE49-F238E27FC236}">
                    <a16:creationId xmlns:a16="http://schemas.microsoft.com/office/drawing/2014/main" id="{DA0C2536-99A4-D6BF-8DF4-93639358312B}"/>
                  </a:ext>
                </a:extLst>
              </p:cNvPr>
              <p:cNvSpPr/>
              <p:nvPr/>
            </p:nvSpPr>
            <p:spPr>
              <a:xfrm>
                <a:off x="6137656" y="1910544"/>
                <a:ext cx="201168" cy="276367"/>
              </a:xfrm>
              <a:prstGeom prst="rect">
                <a:avLst/>
              </a:prstGeom>
              <a:noFill/>
              <a:ln/>
            </p:spPr>
            <p:txBody>
              <a:bodyPr wrap="square" lIns="0" tIns="0" rIns="0" bIns="0" rtlCol="0" anchor="ctr"/>
              <a:lstStyle/>
              <a:p>
                <a:pPr marL="0" indent="0" algn="ctr">
                  <a:buNone/>
                </a:pPr>
                <a:r>
                  <a:rPr lang="en-US" sz="900" b="1" dirty="0">
                    <a:latin typeface="Times New Roman" panose="02020603050405020304" pitchFamily="18" charset="0"/>
                    <a:ea typeface="Calibri" pitchFamily="34" charset="-122"/>
                    <a:cs typeface="Times New Roman" panose="02020603050405020304" pitchFamily="18" charset="0"/>
                  </a:rPr>
                  <a:t>2</a:t>
                </a:r>
                <a:endParaRPr lang="en-US" sz="900" dirty="0">
                  <a:latin typeface="Times New Roman" panose="02020603050405020304" pitchFamily="18" charset="0"/>
                  <a:cs typeface="Times New Roman" panose="02020603050405020304" pitchFamily="18" charset="0"/>
                </a:endParaRPr>
              </a:p>
            </p:txBody>
          </p:sp>
          <p:sp>
            <p:nvSpPr>
              <p:cNvPr id="150" name="Shape 50">
                <a:extLst>
                  <a:ext uri="{FF2B5EF4-FFF2-40B4-BE49-F238E27FC236}">
                    <a16:creationId xmlns:a16="http://schemas.microsoft.com/office/drawing/2014/main" id="{FE8E42E7-7459-9791-53F3-19467FDA338F}"/>
                  </a:ext>
                </a:extLst>
              </p:cNvPr>
              <p:cNvSpPr/>
              <p:nvPr/>
            </p:nvSpPr>
            <p:spPr>
              <a:xfrm>
                <a:off x="5340094" y="2287990"/>
                <a:ext cx="987554" cy="397918"/>
              </a:xfrm>
              <a:prstGeom prst="rect">
                <a:avLst/>
              </a:prstGeom>
              <a:solidFill>
                <a:srgbClr val="F4C842">
                  <a:alpha val="20000"/>
                </a:srgbClr>
              </a:solidFill>
              <a:ln w="12700">
                <a:solidFill>
                  <a:srgbClr val="F4C842"/>
                </a:solidFill>
                <a:prstDash val="solid"/>
              </a:ln>
            </p:spPr>
          </p:sp>
          <p:sp>
            <p:nvSpPr>
              <p:cNvPr id="151" name="Text 51">
                <a:extLst>
                  <a:ext uri="{FF2B5EF4-FFF2-40B4-BE49-F238E27FC236}">
                    <a16:creationId xmlns:a16="http://schemas.microsoft.com/office/drawing/2014/main" id="{DC7C43AE-3177-D2E9-FF25-9CD8FEB44A2F}"/>
                  </a:ext>
                </a:extLst>
              </p:cNvPr>
              <p:cNvSpPr/>
              <p:nvPr/>
            </p:nvSpPr>
            <p:spPr>
              <a:xfrm>
                <a:off x="5376670" y="2334051"/>
                <a:ext cx="822962" cy="291807"/>
              </a:xfrm>
              <a:prstGeom prst="rect">
                <a:avLst/>
              </a:prstGeom>
              <a:noFill/>
              <a:ln/>
            </p:spPr>
            <p:txBody>
              <a:bodyPr wrap="square" lIns="0" tIns="0" rIns="0" bIns="0" rtlCol="0" anchor="ctr"/>
              <a:lstStyle/>
              <a:p>
                <a:pPr marL="0" indent="0">
                  <a:buNone/>
                </a:pPr>
                <a:r>
                  <a:rPr lang="en-US" sz="900" dirty="0">
                    <a:latin typeface="Times New Roman" panose="02020603050405020304" pitchFamily="18" charset="0"/>
                    <a:ea typeface="Calibri" pitchFamily="34" charset="-122"/>
                    <a:cs typeface="Times New Roman" panose="02020603050405020304" pitchFamily="18" charset="0"/>
                  </a:rPr>
                  <a:t>SPF / DKIM Fail</a:t>
                </a:r>
                <a:endParaRPr lang="en-US" sz="900" dirty="0">
                  <a:latin typeface="Times New Roman" panose="02020603050405020304" pitchFamily="18" charset="0"/>
                  <a:cs typeface="Times New Roman" panose="02020603050405020304" pitchFamily="18" charset="0"/>
                </a:endParaRPr>
              </a:p>
            </p:txBody>
          </p:sp>
          <p:sp>
            <p:nvSpPr>
              <p:cNvPr id="152" name="Text 52">
                <a:extLst>
                  <a:ext uri="{FF2B5EF4-FFF2-40B4-BE49-F238E27FC236}">
                    <a16:creationId xmlns:a16="http://schemas.microsoft.com/office/drawing/2014/main" id="{D0663BBD-D359-2158-AAA7-020619A85D2C}"/>
                  </a:ext>
                </a:extLst>
              </p:cNvPr>
              <p:cNvSpPr/>
              <p:nvPr/>
            </p:nvSpPr>
            <p:spPr>
              <a:xfrm>
                <a:off x="6137656" y="2348126"/>
                <a:ext cx="201168" cy="276367"/>
              </a:xfrm>
              <a:prstGeom prst="rect">
                <a:avLst/>
              </a:prstGeom>
              <a:noFill/>
              <a:ln/>
            </p:spPr>
            <p:txBody>
              <a:bodyPr wrap="square" lIns="0" tIns="0" rIns="0" bIns="0" rtlCol="0" anchor="ctr"/>
              <a:lstStyle/>
              <a:p>
                <a:pPr marL="0" indent="0" algn="ctr">
                  <a:buNone/>
                </a:pPr>
                <a:r>
                  <a:rPr lang="en-US" sz="900" b="1" dirty="0">
                    <a:latin typeface="Times New Roman" panose="02020603050405020304" pitchFamily="18" charset="0"/>
                    <a:ea typeface="Calibri" pitchFamily="34" charset="-122"/>
                    <a:cs typeface="Times New Roman" panose="02020603050405020304" pitchFamily="18" charset="0"/>
                  </a:rPr>
                  <a:t>+2</a:t>
                </a:r>
                <a:endParaRPr lang="en-US" sz="900" dirty="0">
                  <a:latin typeface="Times New Roman" panose="02020603050405020304" pitchFamily="18" charset="0"/>
                  <a:cs typeface="Times New Roman" panose="02020603050405020304" pitchFamily="18" charset="0"/>
                </a:endParaRPr>
              </a:p>
            </p:txBody>
          </p:sp>
          <p:sp>
            <p:nvSpPr>
              <p:cNvPr id="153" name="Shape 53">
                <a:extLst>
                  <a:ext uri="{FF2B5EF4-FFF2-40B4-BE49-F238E27FC236}">
                    <a16:creationId xmlns:a16="http://schemas.microsoft.com/office/drawing/2014/main" id="{1D75BCD2-854B-507D-ADC3-46060B895592}"/>
                  </a:ext>
                </a:extLst>
              </p:cNvPr>
              <p:cNvSpPr/>
              <p:nvPr/>
            </p:nvSpPr>
            <p:spPr>
              <a:xfrm>
                <a:off x="5340094" y="2725571"/>
                <a:ext cx="987554" cy="397918"/>
              </a:xfrm>
              <a:prstGeom prst="rect">
                <a:avLst/>
              </a:prstGeom>
              <a:solidFill>
                <a:srgbClr val="00B4D8">
                  <a:alpha val="20000"/>
                </a:srgbClr>
              </a:solidFill>
              <a:ln w="12700">
                <a:solidFill>
                  <a:srgbClr val="00B4D8"/>
                </a:solidFill>
                <a:prstDash val="solid"/>
              </a:ln>
            </p:spPr>
          </p:sp>
          <p:sp>
            <p:nvSpPr>
              <p:cNvPr id="154" name="Text 54">
                <a:extLst>
                  <a:ext uri="{FF2B5EF4-FFF2-40B4-BE49-F238E27FC236}">
                    <a16:creationId xmlns:a16="http://schemas.microsoft.com/office/drawing/2014/main" id="{3914278E-02C0-13D6-2669-F1FC8D835C4D}"/>
                  </a:ext>
                </a:extLst>
              </p:cNvPr>
              <p:cNvSpPr/>
              <p:nvPr/>
            </p:nvSpPr>
            <p:spPr>
              <a:xfrm>
                <a:off x="5376670" y="2771632"/>
                <a:ext cx="822962" cy="291807"/>
              </a:xfrm>
              <a:prstGeom prst="rect">
                <a:avLst/>
              </a:prstGeom>
              <a:noFill/>
              <a:ln/>
            </p:spPr>
            <p:txBody>
              <a:bodyPr wrap="square" lIns="0" tIns="0" rIns="0" bIns="0" rtlCol="0" anchor="ctr"/>
              <a:lstStyle/>
              <a:p>
                <a:pPr marL="0" indent="0">
                  <a:buNone/>
                </a:pPr>
                <a:r>
                  <a:rPr lang="en-US" sz="900" dirty="0">
                    <a:latin typeface="Times New Roman" panose="02020603050405020304" pitchFamily="18" charset="0"/>
                    <a:ea typeface="Calibri" pitchFamily="34" charset="-122"/>
                    <a:cs typeface="Times New Roman" panose="02020603050405020304" pitchFamily="18" charset="0"/>
                  </a:rPr>
                  <a:t>Urgency Language</a:t>
                </a:r>
                <a:endParaRPr lang="en-US" sz="900" dirty="0">
                  <a:latin typeface="Times New Roman" panose="02020603050405020304" pitchFamily="18" charset="0"/>
                  <a:cs typeface="Times New Roman" panose="02020603050405020304" pitchFamily="18" charset="0"/>
                </a:endParaRPr>
              </a:p>
            </p:txBody>
          </p:sp>
          <p:sp>
            <p:nvSpPr>
              <p:cNvPr id="155" name="Text 55">
                <a:extLst>
                  <a:ext uri="{FF2B5EF4-FFF2-40B4-BE49-F238E27FC236}">
                    <a16:creationId xmlns:a16="http://schemas.microsoft.com/office/drawing/2014/main" id="{F0D47145-47B2-8642-C6B2-DBF1A1446A39}"/>
                  </a:ext>
                </a:extLst>
              </p:cNvPr>
              <p:cNvSpPr/>
              <p:nvPr/>
            </p:nvSpPr>
            <p:spPr>
              <a:xfrm>
                <a:off x="6137656" y="2785707"/>
                <a:ext cx="201168" cy="276367"/>
              </a:xfrm>
              <a:prstGeom prst="rect">
                <a:avLst/>
              </a:prstGeom>
              <a:noFill/>
              <a:ln/>
            </p:spPr>
            <p:txBody>
              <a:bodyPr wrap="square" lIns="0" tIns="0" rIns="0" bIns="0" rtlCol="0" anchor="ctr"/>
              <a:lstStyle/>
              <a:p>
                <a:pPr marL="0" indent="0" algn="ctr">
                  <a:buNone/>
                </a:pPr>
                <a:r>
                  <a:rPr lang="en-US" sz="900" b="1" dirty="0">
                    <a:latin typeface="Times New Roman" panose="02020603050405020304" pitchFamily="18" charset="0"/>
                    <a:ea typeface="Calibri" pitchFamily="34" charset="-122"/>
                    <a:cs typeface="Times New Roman" panose="02020603050405020304" pitchFamily="18" charset="0"/>
                  </a:rPr>
                  <a:t>1</a:t>
                </a:r>
                <a:endParaRPr lang="en-US" sz="900" dirty="0">
                  <a:latin typeface="Times New Roman" panose="02020603050405020304" pitchFamily="18" charset="0"/>
                  <a:cs typeface="Times New Roman" panose="02020603050405020304" pitchFamily="18" charset="0"/>
                </a:endParaRPr>
              </a:p>
            </p:txBody>
          </p:sp>
          <p:sp>
            <p:nvSpPr>
              <p:cNvPr id="156" name="Shape 56">
                <a:extLst>
                  <a:ext uri="{FF2B5EF4-FFF2-40B4-BE49-F238E27FC236}">
                    <a16:creationId xmlns:a16="http://schemas.microsoft.com/office/drawing/2014/main" id="{D644F6E3-6A7F-8952-9765-FA0C5FA058AE}"/>
                  </a:ext>
                </a:extLst>
              </p:cNvPr>
              <p:cNvSpPr/>
              <p:nvPr/>
            </p:nvSpPr>
            <p:spPr>
              <a:xfrm>
                <a:off x="5340094" y="3163153"/>
                <a:ext cx="987554" cy="397918"/>
              </a:xfrm>
              <a:prstGeom prst="rect">
                <a:avLst/>
              </a:prstGeom>
              <a:solidFill>
                <a:srgbClr val="00B4D8">
                  <a:alpha val="20000"/>
                </a:srgbClr>
              </a:solidFill>
              <a:ln w="12700">
                <a:solidFill>
                  <a:srgbClr val="00B4D8"/>
                </a:solidFill>
                <a:prstDash val="solid"/>
              </a:ln>
            </p:spPr>
          </p:sp>
          <p:sp>
            <p:nvSpPr>
              <p:cNvPr id="157" name="Text 57">
                <a:extLst>
                  <a:ext uri="{FF2B5EF4-FFF2-40B4-BE49-F238E27FC236}">
                    <a16:creationId xmlns:a16="http://schemas.microsoft.com/office/drawing/2014/main" id="{DE0A3BC3-8E8C-8CAD-D994-81A6C71738F0}"/>
                  </a:ext>
                </a:extLst>
              </p:cNvPr>
              <p:cNvSpPr/>
              <p:nvPr/>
            </p:nvSpPr>
            <p:spPr>
              <a:xfrm>
                <a:off x="5376670" y="3209214"/>
                <a:ext cx="822962" cy="291807"/>
              </a:xfrm>
              <a:prstGeom prst="rect">
                <a:avLst/>
              </a:prstGeom>
              <a:noFill/>
              <a:ln/>
            </p:spPr>
            <p:txBody>
              <a:bodyPr wrap="square" lIns="0" tIns="0" rIns="0" bIns="0" rtlCol="0" anchor="ctr"/>
              <a:lstStyle/>
              <a:p>
                <a:pPr marL="0" indent="0">
                  <a:buNone/>
                </a:pPr>
                <a:r>
                  <a:rPr lang="en-US" sz="900" dirty="0">
                    <a:latin typeface="Times New Roman" panose="02020603050405020304" pitchFamily="18" charset="0"/>
                    <a:ea typeface="Calibri" pitchFamily="34" charset="-122"/>
                    <a:cs typeface="Times New Roman" panose="02020603050405020304" pitchFamily="18" charset="0"/>
                  </a:rPr>
                  <a:t>Language Score</a:t>
                </a:r>
                <a:endParaRPr lang="en-US" sz="900" dirty="0">
                  <a:latin typeface="Times New Roman" panose="02020603050405020304" pitchFamily="18" charset="0"/>
                  <a:cs typeface="Times New Roman" panose="02020603050405020304" pitchFamily="18" charset="0"/>
                </a:endParaRPr>
              </a:p>
            </p:txBody>
          </p:sp>
          <p:sp>
            <p:nvSpPr>
              <p:cNvPr id="158" name="Text 58">
                <a:extLst>
                  <a:ext uri="{FF2B5EF4-FFF2-40B4-BE49-F238E27FC236}">
                    <a16:creationId xmlns:a16="http://schemas.microsoft.com/office/drawing/2014/main" id="{3115EB75-8945-0B6B-A0A9-22AA5E4B83A9}"/>
                  </a:ext>
                </a:extLst>
              </p:cNvPr>
              <p:cNvSpPr/>
              <p:nvPr/>
            </p:nvSpPr>
            <p:spPr>
              <a:xfrm>
                <a:off x="6137656" y="3223288"/>
                <a:ext cx="201168" cy="276367"/>
              </a:xfrm>
              <a:prstGeom prst="rect">
                <a:avLst/>
              </a:prstGeom>
              <a:noFill/>
              <a:ln/>
            </p:spPr>
            <p:txBody>
              <a:bodyPr wrap="square" lIns="0" tIns="0" rIns="0" bIns="0" rtlCol="0" anchor="ctr"/>
              <a:lstStyle/>
              <a:p>
                <a:pPr marL="0" indent="0" algn="ctr">
                  <a:buNone/>
                </a:pPr>
                <a:r>
                  <a:rPr lang="en-US" sz="900" b="1" dirty="0">
                    <a:latin typeface="Times New Roman" panose="02020603050405020304" pitchFamily="18" charset="0"/>
                    <a:ea typeface="Calibri" pitchFamily="34" charset="-122"/>
                    <a:cs typeface="Times New Roman" panose="02020603050405020304" pitchFamily="18" charset="0"/>
                  </a:rPr>
                  <a:t>1</a:t>
                </a:r>
                <a:endParaRPr lang="en-US" sz="900" dirty="0">
                  <a:latin typeface="Times New Roman" panose="02020603050405020304" pitchFamily="18" charset="0"/>
                  <a:cs typeface="Times New Roman" panose="02020603050405020304" pitchFamily="18" charset="0"/>
                </a:endParaRPr>
              </a:p>
            </p:txBody>
          </p:sp>
          <p:sp>
            <p:nvSpPr>
              <p:cNvPr id="159" name="Shape 59">
                <a:extLst>
                  <a:ext uri="{FF2B5EF4-FFF2-40B4-BE49-F238E27FC236}">
                    <a16:creationId xmlns:a16="http://schemas.microsoft.com/office/drawing/2014/main" id="{98F8CE5A-32DD-32D8-C5B3-DBC748EC92A1}"/>
                  </a:ext>
                </a:extLst>
              </p:cNvPr>
              <p:cNvSpPr/>
              <p:nvPr/>
            </p:nvSpPr>
            <p:spPr>
              <a:xfrm>
                <a:off x="5340094" y="3600734"/>
                <a:ext cx="987554" cy="397918"/>
              </a:xfrm>
              <a:prstGeom prst="rect">
                <a:avLst/>
              </a:prstGeom>
              <a:solidFill>
                <a:srgbClr val="00B4D8">
                  <a:alpha val="20000"/>
                </a:srgbClr>
              </a:solidFill>
              <a:ln w="12700">
                <a:solidFill>
                  <a:srgbClr val="00B4D8"/>
                </a:solidFill>
                <a:prstDash val="solid"/>
              </a:ln>
            </p:spPr>
          </p:sp>
          <p:sp>
            <p:nvSpPr>
              <p:cNvPr id="160" name="Text 60">
                <a:extLst>
                  <a:ext uri="{FF2B5EF4-FFF2-40B4-BE49-F238E27FC236}">
                    <a16:creationId xmlns:a16="http://schemas.microsoft.com/office/drawing/2014/main" id="{D539845A-754F-F82B-2AF9-BD5C8DE0FFB9}"/>
                  </a:ext>
                </a:extLst>
              </p:cNvPr>
              <p:cNvSpPr/>
              <p:nvPr/>
            </p:nvSpPr>
            <p:spPr>
              <a:xfrm>
                <a:off x="5376670" y="3646795"/>
                <a:ext cx="822962" cy="291807"/>
              </a:xfrm>
              <a:prstGeom prst="rect">
                <a:avLst/>
              </a:prstGeom>
              <a:noFill/>
              <a:ln/>
            </p:spPr>
            <p:txBody>
              <a:bodyPr wrap="square" lIns="0" tIns="0" rIns="0" bIns="0" rtlCol="0" anchor="ctr"/>
              <a:lstStyle/>
              <a:p>
                <a:pPr marL="0" indent="0">
                  <a:buNone/>
                </a:pPr>
                <a:r>
                  <a:rPr lang="en-US" sz="900" dirty="0">
                    <a:latin typeface="Times New Roman" panose="02020603050405020304" pitchFamily="18" charset="0"/>
                    <a:ea typeface="Calibri" pitchFamily="34" charset="-122"/>
                    <a:cs typeface="Times New Roman" panose="02020603050405020304" pitchFamily="18" charset="0"/>
                  </a:rPr>
                  <a:t>Sentiment</a:t>
                </a:r>
                <a:endParaRPr lang="en-US" sz="900" dirty="0">
                  <a:latin typeface="Times New Roman" panose="02020603050405020304" pitchFamily="18" charset="0"/>
                  <a:cs typeface="Times New Roman" panose="02020603050405020304" pitchFamily="18" charset="0"/>
                </a:endParaRPr>
              </a:p>
            </p:txBody>
          </p:sp>
          <p:sp>
            <p:nvSpPr>
              <p:cNvPr id="161" name="Text 61">
                <a:extLst>
                  <a:ext uri="{FF2B5EF4-FFF2-40B4-BE49-F238E27FC236}">
                    <a16:creationId xmlns:a16="http://schemas.microsoft.com/office/drawing/2014/main" id="{CEBC7172-25D2-9145-B169-262E2E924FEF}"/>
                  </a:ext>
                </a:extLst>
              </p:cNvPr>
              <p:cNvSpPr/>
              <p:nvPr/>
            </p:nvSpPr>
            <p:spPr>
              <a:xfrm>
                <a:off x="6137656" y="3660870"/>
                <a:ext cx="201168" cy="276367"/>
              </a:xfrm>
              <a:prstGeom prst="rect">
                <a:avLst/>
              </a:prstGeom>
              <a:noFill/>
              <a:ln/>
            </p:spPr>
            <p:txBody>
              <a:bodyPr wrap="square" lIns="0" tIns="0" rIns="0" bIns="0" rtlCol="0" anchor="ctr"/>
              <a:lstStyle/>
              <a:p>
                <a:pPr marL="0" indent="0" algn="ctr">
                  <a:buNone/>
                </a:pPr>
                <a:r>
                  <a:rPr lang="en-US" sz="900" b="1" dirty="0">
                    <a:latin typeface="Times New Roman" panose="02020603050405020304" pitchFamily="18" charset="0"/>
                    <a:ea typeface="Calibri" pitchFamily="34" charset="-122"/>
                    <a:cs typeface="Times New Roman" panose="02020603050405020304" pitchFamily="18" charset="0"/>
                  </a:rPr>
                  <a:t>1</a:t>
                </a:r>
                <a:endParaRPr lang="en-US" sz="900" dirty="0">
                  <a:latin typeface="Times New Roman" panose="02020603050405020304" pitchFamily="18" charset="0"/>
                  <a:cs typeface="Times New Roman" panose="02020603050405020304" pitchFamily="18" charset="0"/>
                </a:endParaRPr>
              </a:p>
            </p:txBody>
          </p:sp>
          <p:sp>
            <p:nvSpPr>
              <p:cNvPr id="162" name="Shape 62">
                <a:extLst>
                  <a:ext uri="{FF2B5EF4-FFF2-40B4-BE49-F238E27FC236}">
                    <a16:creationId xmlns:a16="http://schemas.microsoft.com/office/drawing/2014/main" id="{591CE814-3A22-D286-F3C2-7DAD7AB287E0}"/>
                  </a:ext>
                </a:extLst>
              </p:cNvPr>
              <p:cNvSpPr/>
              <p:nvPr/>
            </p:nvSpPr>
            <p:spPr>
              <a:xfrm>
                <a:off x="5340094" y="4038315"/>
                <a:ext cx="987554" cy="397918"/>
              </a:xfrm>
              <a:prstGeom prst="rect">
                <a:avLst/>
              </a:prstGeom>
              <a:solidFill>
                <a:srgbClr val="F4A261">
                  <a:alpha val="20000"/>
                </a:srgbClr>
              </a:solidFill>
              <a:ln w="12700">
                <a:solidFill>
                  <a:srgbClr val="F4A261"/>
                </a:solidFill>
                <a:prstDash val="solid"/>
              </a:ln>
            </p:spPr>
          </p:sp>
          <p:sp>
            <p:nvSpPr>
              <p:cNvPr id="163" name="Text 63">
                <a:extLst>
                  <a:ext uri="{FF2B5EF4-FFF2-40B4-BE49-F238E27FC236}">
                    <a16:creationId xmlns:a16="http://schemas.microsoft.com/office/drawing/2014/main" id="{AA26A35A-DD5C-0D7D-1FD1-DD90879BABBE}"/>
                  </a:ext>
                </a:extLst>
              </p:cNvPr>
              <p:cNvSpPr/>
              <p:nvPr/>
            </p:nvSpPr>
            <p:spPr>
              <a:xfrm>
                <a:off x="5376670" y="4084376"/>
                <a:ext cx="822962" cy="291807"/>
              </a:xfrm>
              <a:prstGeom prst="rect">
                <a:avLst/>
              </a:prstGeom>
              <a:noFill/>
              <a:ln/>
            </p:spPr>
            <p:txBody>
              <a:bodyPr wrap="square" lIns="0" tIns="0" rIns="0" bIns="0" rtlCol="0" anchor="ctr"/>
              <a:lstStyle/>
              <a:p>
                <a:pPr marL="0" indent="0">
                  <a:buNone/>
                </a:pPr>
                <a:r>
                  <a:rPr lang="en-US" sz="900" dirty="0">
                    <a:latin typeface="Times New Roman" panose="02020603050405020304" pitchFamily="18" charset="0"/>
                    <a:ea typeface="Calibri" pitchFamily="34" charset="-122"/>
                    <a:cs typeface="Times New Roman" panose="02020603050405020304" pitchFamily="18" charset="0"/>
                  </a:rPr>
                  <a:t>Free Email Abuse</a:t>
                </a:r>
                <a:endParaRPr lang="en-US" sz="900" dirty="0">
                  <a:latin typeface="Times New Roman" panose="02020603050405020304" pitchFamily="18" charset="0"/>
                  <a:cs typeface="Times New Roman" panose="02020603050405020304" pitchFamily="18" charset="0"/>
                </a:endParaRPr>
              </a:p>
            </p:txBody>
          </p:sp>
          <p:sp>
            <p:nvSpPr>
              <p:cNvPr id="164" name="Text 64">
                <a:extLst>
                  <a:ext uri="{FF2B5EF4-FFF2-40B4-BE49-F238E27FC236}">
                    <a16:creationId xmlns:a16="http://schemas.microsoft.com/office/drawing/2014/main" id="{A31CA625-D349-C423-6708-8A1F11E1FEF4}"/>
                  </a:ext>
                </a:extLst>
              </p:cNvPr>
              <p:cNvSpPr/>
              <p:nvPr/>
            </p:nvSpPr>
            <p:spPr>
              <a:xfrm>
                <a:off x="6137656" y="4098451"/>
                <a:ext cx="201168" cy="276367"/>
              </a:xfrm>
              <a:prstGeom prst="rect">
                <a:avLst/>
              </a:prstGeom>
              <a:noFill/>
              <a:ln/>
            </p:spPr>
            <p:txBody>
              <a:bodyPr wrap="square" lIns="0" tIns="0" rIns="0" bIns="0" rtlCol="0" anchor="ctr"/>
              <a:lstStyle/>
              <a:p>
                <a:pPr marL="0" indent="0" algn="ctr">
                  <a:buNone/>
                </a:pPr>
                <a:r>
                  <a:rPr lang="en-US" sz="900" b="1" dirty="0">
                    <a:latin typeface="Times New Roman" panose="02020603050405020304" pitchFamily="18" charset="0"/>
                    <a:ea typeface="Calibri" pitchFamily="34" charset="-122"/>
                    <a:cs typeface="Times New Roman" panose="02020603050405020304" pitchFamily="18" charset="0"/>
                  </a:rPr>
                  <a:t>2</a:t>
                </a:r>
                <a:endParaRPr lang="en-US" sz="900" dirty="0">
                  <a:latin typeface="Times New Roman" panose="02020603050405020304" pitchFamily="18" charset="0"/>
                  <a:cs typeface="Times New Roman" panose="02020603050405020304" pitchFamily="18" charset="0"/>
                </a:endParaRPr>
              </a:p>
            </p:txBody>
          </p:sp>
        </p:grpSp>
        <p:sp>
          <p:nvSpPr>
            <p:cNvPr id="199" name="Rectangle 198">
              <a:extLst>
                <a:ext uri="{FF2B5EF4-FFF2-40B4-BE49-F238E27FC236}">
                  <a16:creationId xmlns:a16="http://schemas.microsoft.com/office/drawing/2014/main" id="{8EA21C65-35A7-7956-F9BA-426D0E37EC5D}"/>
                </a:ext>
              </a:extLst>
            </p:cNvPr>
            <p:cNvSpPr/>
            <p:nvPr/>
          </p:nvSpPr>
          <p:spPr>
            <a:xfrm>
              <a:off x="4109994" y="1420414"/>
              <a:ext cx="2522945" cy="3304413"/>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245" name="Rectangle 244">
              <a:extLst>
                <a:ext uri="{FF2B5EF4-FFF2-40B4-BE49-F238E27FC236}">
                  <a16:creationId xmlns:a16="http://schemas.microsoft.com/office/drawing/2014/main" id="{ACCCE271-AA5D-723E-71CB-3056582B8156}"/>
                </a:ext>
              </a:extLst>
            </p:cNvPr>
            <p:cNvSpPr/>
            <p:nvPr/>
          </p:nvSpPr>
          <p:spPr>
            <a:xfrm>
              <a:off x="7065913" y="1598607"/>
              <a:ext cx="1463040" cy="2595303"/>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200" name="Rectangle 199">
              <a:extLst>
                <a:ext uri="{FF2B5EF4-FFF2-40B4-BE49-F238E27FC236}">
                  <a16:creationId xmlns:a16="http://schemas.microsoft.com/office/drawing/2014/main" id="{86199203-2FA1-F623-6F21-17DA3E57ADBE}"/>
                </a:ext>
              </a:extLst>
            </p:cNvPr>
            <p:cNvSpPr/>
            <p:nvPr/>
          </p:nvSpPr>
          <p:spPr>
            <a:xfrm>
              <a:off x="4104389" y="1430403"/>
              <a:ext cx="2515867" cy="103976"/>
            </a:xfrm>
            <a:prstGeom prst="rect">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203" name="Rectangle 202">
              <a:extLst>
                <a:ext uri="{FF2B5EF4-FFF2-40B4-BE49-F238E27FC236}">
                  <a16:creationId xmlns:a16="http://schemas.microsoft.com/office/drawing/2014/main" id="{222611A5-9EAF-A51B-EC2E-F575F17E1B0E}"/>
                </a:ext>
              </a:extLst>
            </p:cNvPr>
            <p:cNvSpPr/>
            <p:nvPr/>
          </p:nvSpPr>
          <p:spPr>
            <a:xfrm>
              <a:off x="9086083" y="1634359"/>
              <a:ext cx="1350269" cy="3301798"/>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204" name="Rectangle 203">
              <a:extLst>
                <a:ext uri="{FF2B5EF4-FFF2-40B4-BE49-F238E27FC236}">
                  <a16:creationId xmlns:a16="http://schemas.microsoft.com/office/drawing/2014/main" id="{227D5CA6-935B-9F62-FAD2-EC751F3E7FAD}"/>
                </a:ext>
              </a:extLst>
            </p:cNvPr>
            <p:cNvSpPr/>
            <p:nvPr/>
          </p:nvSpPr>
          <p:spPr>
            <a:xfrm>
              <a:off x="9102104" y="1650197"/>
              <a:ext cx="1342895" cy="112066"/>
            </a:xfrm>
            <a:prstGeom prst="rect">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latin typeface="Times New Roman" panose="02020603050405020304" pitchFamily="18" charset="0"/>
                <a:cs typeface="Times New Roman" panose="02020603050405020304" pitchFamily="18" charset="0"/>
              </a:endParaRPr>
            </a:p>
          </p:txBody>
        </p:sp>
        <p:sp>
          <p:nvSpPr>
            <p:cNvPr id="247" name="Rectangle 246">
              <a:extLst>
                <a:ext uri="{FF2B5EF4-FFF2-40B4-BE49-F238E27FC236}">
                  <a16:creationId xmlns:a16="http://schemas.microsoft.com/office/drawing/2014/main" id="{4CC72701-1F13-7FF5-FAD4-D7301332BAC9}"/>
                </a:ext>
              </a:extLst>
            </p:cNvPr>
            <p:cNvSpPr/>
            <p:nvPr/>
          </p:nvSpPr>
          <p:spPr>
            <a:xfrm>
              <a:off x="7079751" y="1606440"/>
              <a:ext cx="1433181" cy="134761"/>
            </a:xfrm>
            <a:prstGeom prst="rect">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latin typeface="Times New Roman" panose="02020603050405020304" pitchFamily="18" charset="0"/>
                <a:cs typeface="Times New Roman" panose="02020603050405020304" pitchFamily="18" charset="0"/>
              </a:endParaRPr>
            </a:p>
          </p:txBody>
        </p:sp>
      </p:grpSp>
      <p:cxnSp>
        <p:nvCxnSpPr>
          <p:cNvPr id="3" name="Straight Arrow Connector 2">
            <a:extLst>
              <a:ext uri="{FF2B5EF4-FFF2-40B4-BE49-F238E27FC236}">
                <a16:creationId xmlns:a16="http://schemas.microsoft.com/office/drawing/2014/main" id="{1AA3B3E8-F93C-DD00-7D48-E9D947F81A86}"/>
              </a:ext>
            </a:extLst>
          </p:cNvPr>
          <p:cNvCxnSpPr>
            <a:cxnSpLocks/>
          </p:cNvCxnSpPr>
          <p:nvPr/>
        </p:nvCxnSpPr>
        <p:spPr>
          <a:xfrm flipV="1">
            <a:off x="2936586" y="1322334"/>
            <a:ext cx="0" cy="28151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7BB19563-7C9A-ADEC-011E-FBCA6948C428}"/>
              </a:ext>
            </a:extLst>
          </p:cNvPr>
          <p:cNvCxnSpPr>
            <a:cxnSpLocks/>
          </p:cNvCxnSpPr>
          <p:nvPr/>
        </p:nvCxnSpPr>
        <p:spPr>
          <a:xfrm>
            <a:off x="2936586" y="1607563"/>
            <a:ext cx="1925884" cy="9705"/>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E4DB3107-DD8E-E3EC-28D3-6749706B248D}"/>
              </a:ext>
            </a:extLst>
          </p:cNvPr>
          <p:cNvCxnSpPr>
            <a:cxnSpLocks/>
          </p:cNvCxnSpPr>
          <p:nvPr/>
        </p:nvCxnSpPr>
        <p:spPr>
          <a:xfrm flipV="1">
            <a:off x="4862470" y="1620979"/>
            <a:ext cx="0" cy="516490"/>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1C4D9CFB-7D73-B0BA-AD8D-58FA8235F912}"/>
              </a:ext>
            </a:extLst>
          </p:cNvPr>
          <p:cNvCxnSpPr>
            <a:cxnSpLocks/>
          </p:cNvCxnSpPr>
          <p:nvPr/>
        </p:nvCxnSpPr>
        <p:spPr>
          <a:xfrm flipV="1">
            <a:off x="5832186" y="1347607"/>
            <a:ext cx="0" cy="28151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4" name="TextBox 13">
            <a:extLst>
              <a:ext uri="{FF2B5EF4-FFF2-40B4-BE49-F238E27FC236}">
                <a16:creationId xmlns:a16="http://schemas.microsoft.com/office/drawing/2014/main" id="{9767BA1A-5BC4-3B49-DDC3-1D835CF1BBF0}"/>
              </a:ext>
            </a:extLst>
          </p:cNvPr>
          <p:cNvSpPr txBox="1"/>
          <p:nvPr/>
        </p:nvSpPr>
        <p:spPr>
          <a:xfrm>
            <a:off x="5236625" y="1625454"/>
            <a:ext cx="1305888" cy="338554"/>
          </a:xfrm>
          <a:prstGeom prst="rect">
            <a:avLst/>
          </a:prstGeom>
          <a:noFill/>
        </p:spPr>
        <p:txBody>
          <a:bodyPr wrap="square" rtlCol="0">
            <a:spAutoFit/>
          </a:bodyPr>
          <a:lstStyle/>
          <a:p>
            <a:r>
              <a:rPr lang="en-IN" sz="1600" dirty="0">
                <a:latin typeface="Times New Roman" panose="02020603050405020304" pitchFamily="18" charset="0"/>
                <a:cs typeface="Times New Roman" panose="02020603050405020304" pitchFamily="18" charset="0"/>
              </a:rPr>
              <a:t>File attached</a:t>
            </a:r>
            <a:endParaRPr lang="en-GB"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0724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2DD8B-04E5-228F-701E-3590E497A3B9}"/>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2C61BD6F-9649-B61F-872E-3576DCEE1F2A}"/>
              </a:ext>
            </a:extLst>
          </p:cNvPr>
          <p:cNvSpPr txBox="1"/>
          <p:nvPr/>
        </p:nvSpPr>
        <p:spPr>
          <a:xfrm>
            <a:off x="139493" y="151684"/>
            <a:ext cx="10685951" cy="584775"/>
          </a:xfrm>
          <a:prstGeom prst="rect">
            <a:avLst/>
          </a:prstGeom>
          <a:noFill/>
        </p:spPr>
        <p:txBody>
          <a:bodyPr wrap="square">
            <a:spAutoFit/>
          </a:bodyPr>
          <a:lstStyle/>
          <a:p>
            <a:r>
              <a:rPr lang="en-US" sz="3200" b="1" dirty="0">
                <a:latin typeface="Times New Roman" panose="02020603050405020304" pitchFamily="18" charset="0"/>
                <a:ea typeface="Calibri" pitchFamily="34" charset="-122"/>
                <a:cs typeface="Times New Roman" panose="02020603050405020304" pitchFamily="18" charset="0"/>
              </a:rPr>
              <a:t>KEY TAKEAWAYS FOR SECURITY PRACTITIONERS</a:t>
            </a:r>
            <a:endParaRPr lang="en-US" sz="3200" dirty="0">
              <a:latin typeface="Times New Roman" panose="02020603050405020304" pitchFamily="18" charset="0"/>
              <a:cs typeface="Times New Roman" panose="02020603050405020304" pitchFamily="18" charset="0"/>
            </a:endParaRPr>
          </a:p>
        </p:txBody>
      </p:sp>
      <p:grpSp>
        <p:nvGrpSpPr>
          <p:cNvPr id="27" name="Group 26">
            <a:extLst>
              <a:ext uri="{FF2B5EF4-FFF2-40B4-BE49-F238E27FC236}">
                <a16:creationId xmlns:a16="http://schemas.microsoft.com/office/drawing/2014/main" id="{7CCB2435-D335-83BD-40FF-FA0649E43415}"/>
              </a:ext>
            </a:extLst>
          </p:cNvPr>
          <p:cNvGrpSpPr/>
          <p:nvPr/>
        </p:nvGrpSpPr>
        <p:grpSpPr>
          <a:xfrm>
            <a:off x="365760" y="1389888"/>
            <a:ext cx="10685950" cy="5316428"/>
            <a:chOff x="365760" y="1389888"/>
            <a:chExt cx="8412480" cy="3493008"/>
          </a:xfrm>
        </p:grpSpPr>
        <p:sp>
          <p:nvSpPr>
            <p:cNvPr id="2" name="Shape 6">
              <a:extLst>
                <a:ext uri="{FF2B5EF4-FFF2-40B4-BE49-F238E27FC236}">
                  <a16:creationId xmlns:a16="http://schemas.microsoft.com/office/drawing/2014/main" id="{90316F29-0BBE-769F-A123-5090F96A4337}"/>
                </a:ext>
              </a:extLst>
            </p:cNvPr>
            <p:cNvSpPr/>
            <p:nvPr/>
          </p:nvSpPr>
          <p:spPr>
            <a:xfrm>
              <a:off x="365760" y="1389888"/>
              <a:ext cx="4114800" cy="1682496"/>
            </a:xfrm>
            <a:prstGeom prst="rect">
              <a:avLst/>
            </a:prstGeom>
            <a:solidFill>
              <a:schemeClr val="bg1"/>
            </a:solidFill>
            <a:ln w="12700">
              <a:solidFill>
                <a:srgbClr val="00B4D8"/>
              </a:solidFill>
              <a:prstDash val="solid"/>
            </a:ln>
            <a:effectLst/>
          </p:spPr>
        </p:sp>
        <p:sp>
          <p:nvSpPr>
            <p:cNvPr id="3" name="Shape 7">
              <a:extLst>
                <a:ext uri="{FF2B5EF4-FFF2-40B4-BE49-F238E27FC236}">
                  <a16:creationId xmlns:a16="http://schemas.microsoft.com/office/drawing/2014/main" id="{CA2BE115-FF78-EFCA-7D9A-EE2F68CF9FC2}"/>
                </a:ext>
              </a:extLst>
            </p:cNvPr>
            <p:cNvSpPr/>
            <p:nvPr/>
          </p:nvSpPr>
          <p:spPr>
            <a:xfrm>
              <a:off x="365760" y="1389888"/>
              <a:ext cx="54864" cy="1682496"/>
            </a:xfrm>
            <a:prstGeom prst="rect">
              <a:avLst/>
            </a:prstGeom>
            <a:solidFill>
              <a:srgbClr val="00B4D8"/>
            </a:solidFill>
            <a:ln w="12700">
              <a:solidFill>
                <a:srgbClr val="00B4D8"/>
              </a:solidFill>
              <a:prstDash val="solid"/>
            </a:ln>
          </p:spPr>
        </p:sp>
        <p:sp>
          <p:nvSpPr>
            <p:cNvPr id="6" name="Text 10">
              <a:extLst>
                <a:ext uri="{FF2B5EF4-FFF2-40B4-BE49-F238E27FC236}">
                  <a16:creationId xmlns:a16="http://schemas.microsoft.com/office/drawing/2014/main" id="{702EBCC3-DF56-4BC0-20FC-2FB90B67ED1A}"/>
                </a:ext>
              </a:extLst>
            </p:cNvPr>
            <p:cNvSpPr/>
            <p:nvPr/>
          </p:nvSpPr>
          <p:spPr>
            <a:xfrm>
              <a:off x="512064" y="1490471"/>
              <a:ext cx="3822192" cy="329184"/>
            </a:xfrm>
            <a:prstGeom prst="rect">
              <a:avLst/>
            </a:prstGeom>
            <a:noFill/>
            <a:ln/>
          </p:spPr>
          <p:txBody>
            <a:bodyPr wrap="square" lIns="0" tIns="0" rIns="0" bIns="0" rtlCol="0" anchor="ctr"/>
            <a:lstStyle/>
            <a:p>
              <a:pPr marL="0" indent="0">
                <a:buNone/>
              </a:pPr>
              <a:r>
                <a:rPr lang="en-US" sz="2000" b="1" dirty="0">
                  <a:latin typeface="Times New Roman" panose="02020603050405020304" pitchFamily="18" charset="0"/>
                  <a:ea typeface="Calibri" pitchFamily="34" charset="-122"/>
                  <a:cs typeface="Times New Roman" panose="02020603050405020304" pitchFamily="18" charset="0"/>
                </a:rPr>
                <a:t>Rules Beat Black Boxes </a:t>
              </a:r>
              <a:endParaRPr lang="en-US" sz="2000" dirty="0">
                <a:latin typeface="Times New Roman" panose="02020603050405020304" pitchFamily="18" charset="0"/>
                <a:cs typeface="Times New Roman" panose="02020603050405020304" pitchFamily="18" charset="0"/>
              </a:endParaRPr>
            </a:p>
          </p:txBody>
        </p:sp>
        <p:sp>
          <p:nvSpPr>
            <p:cNvPr id="7" name="Text 11">
              <a:extLst>
                <a:ext uri="{FF2B5EF4-FFF2-40B4-BE49-F238E27FC236}">
                  <a16:creationId xmlns:a16="http://schemas.microsoft.com/office/drawing/2014/main" id="{2E5F276A-0696-0D57-1020-8D8D0A6B4105}"/>
                </a:ext>
              </a:extLst>
            </p:cNvPr>
            <p:cNvSpPr/>
            <p:nvPr/>
          </p:nvSpPr>
          <p:spPr>
            <a:xfrm>
              <a:off x="512064" y="1874068"/>
              <a:ext cx="3822192" cy="999497"/>
            </a:xfrm>
            <a:prstGeom prst="rect">
              <a:avLst/>
            </a:prstGeom>
            <a:noFill/>
            <a:ln/>
          </p:spPr>
          <p:txBody>
            <a:bodyPr wrap="square" rtlCol="0" anchor="t"/>
            <a:lstStyle/>
            <a:p>
              <a:pPr marL="0" indent="0">
                <a:buNone/>
              </a:pPr>
              <a:r>
                <a:rPr lang="en-US" dirty="0">
                  <a:latin typeface="Times New Roman" panose="02020603050405020304" pitchFamily="18" charset="0"/>
                  <a:ea typeface="Calibri" pitchFamily="34" charset="-122"/>
                  <a:cs typeface="Times New Roman" panose="02020603050405020304" pitchFamily="18" charset="0"/>
                </a:rPr>
                <a:t>Every PhishGuard decision maps to a named rule with a documented weight. Incident responders reconstruct exactly why an email was flagged — critical for forensic investigation and compliance reporting.</a:t>
              </a:r>
              <a:endParaRPr lang="en-US" dirty="0">
                <a:latin typeface="Times New Roman" panose="02020603050405020304" pitchFamily="18" charset="0"/>
                <a:cs typeface="Times New Roman" panose="02020603050405020304" pitchFamily="18" charset="0"/>
              </a:endParaRPr>
            </a:p>
          </p:txBody>
        </p:sp>
        <p:sp>
          <p:nvSpPr>
            <p:cNvPr id="9" name="Shape 12">
              <a:extLst>
                <a:ext uri="{FF2B5EF4-FFF2-40B4-BE49-F238E27FC236}">
                  <a16:creationId xmlns:a16="http://schemas.microsoft.com/office/drawing/2014/main" id="{8418D42A-612E-F1E0-297F-EE5AAE696B68}"/>
                </a:ext>
              </a:extLst>
            </p:cNvPr>
            <p:cNvSpPr/>
            <p:nvPr/>
          </p:nvSpPr>
          <p:spPr>
            <a:xfrm>
              <a:off x="365760" y="3200400"/>
              <a:ext cx="4114800" cy="1682496"/>
            </a:xfrm>
            <a:prstGeom prst="rect">
              <a:avLst/>
            </a:prstGeom>
            <a:solidFill>
              <a:schemeClr val="bg1"/>
            </a:solidFill>
            <a:ln w="12700">
              <a:solidFill>
                <a:srgbClr val="F4A261"/>
              </a:solidFill>
              <a:prstDash val="solid"/>
            </a:ln>
            <a:effectLst/>
          </p:spPr>
        </p:sp>
        <p:sp>
          <p:nvSpPr>
            <p:cNvPr id="10" name="Shape 13">
              <a:extLst>
                <a:ext uri="{FF2B5EF4-FFF2-40B4-BE49-F238E27FC236}">
                  <a16:creationId xmlns:a16="http://schemas.microsoft.com/office/drawing/2014/main" id="{D2000921-1EC3-0754-F0F5-B349641CE9C8}"/>
                </a:ext>
              </a:extLst>
            </p:cNvPr>
            <p:cNvSpPr/>
            <p:nvPr/>
          </p:nvSpPr>
          <p:spPr>
            <a:xfrm>
              <a:off x="365760" y="3200400"/>
              <a:ext cx="54864" cy="1682496"/>
            </a:xfrm>
            <a:prstGeom prst="rect">
              <a:avLst/>
            </a:prstGeom>
            <a:solidFill>
              <a:srgbClr val="F4A261"/>
            </a:solidFill>
            <a:ln w="12700">
              <a:solidFill>
                <a:srgbClr val="F4A261"/>
              </a:solidFill>
              <a:prstDash val="solid"/>
            </a:ln>
          </p:spPr>
        </p:sp>
        <p:sp>
          <p:nvSpPr>
            <p:cNvPr id="13" name="Text 16">
              <a:extLst>
                <a:ext uri="{FF2B5EF4-FFF2-40B4-BE49-F238E27FC236}">
                  <a16:creationId xmlns:a16="http://schemas.microsoft.com/office/drawing/2014/main" id="{E723799F-FE9D-596D-1F92-B8AC3B5A88F2}"/>
                </a:ext>
              </a:extLst>
            </p:cNvPr>
            <p:cNvSpPr/>
            <p:nvPr/>
          </p:nvSpPr>
          <p:spPr>
            <a:xfrm>
              <a:off x="539496" y="3300983"/>
              <a:ext cx="3822192" cy="329184"/>
            </a:xfrm>
            <a:prstGeom prst="rect">
              <a:avLst/>
            </a:prstGeom>
            <a:noFill/>
            <a:ln/>
          </p:spPr>
          <p:txBody>
            <a:bodyPr wrap="square" lIns="0" tIns="0" rIns="0" bIns="0" rtlCol="0" anchor="ctr"/>
            <a:lstStyle/>
            <a:p>
              <a:pPr marL="0" indent="0">
                <a:buNone/>
              </a:pPr>
              <a:r>
                <a:rPr lang="en-US" sz="2000" b="1" dirty="0">
                  <a:latin typeface="Times New Roman" panose="02020603050405020304" pitchFamily="18" charset="0"/>
                  <a:ea typeface="Calibri" pitchFamily="34" charset="-122"/>
                  <a:cs typeface="Times New Roman" panose="02020603050405020304" pitchFamily="18" charset="0"/>
                </a:rPr>
                <a:t>Authentication Is the Fastest First Filter</a:t>
              </a:r>
              <a:endParaRPr lang="en-US" sz="2000" dirty="0">
                <a:latin typeface="Times New Roman" panose="02020603050405020304" pitchFamily="18" charset="0"/>
                <a:cs typeface="Times New Roman" panose="02020603050405020304" pitchFamily="18" charset="0"/>
              </a:endParaRPr>
            </a:p>
          </p:txBody>
        </p:sp>
        <p:sp>
          <p:nvSpPr>
            <p:cNvPr id="14" name="Text 17">
              <a:extLst>
                <a:ext uri="{FF2B5EF4-FFF2-40B4-BE49-F238E27FC236}">
                  <a16:creationId xmlns:a16="http://schemas.microsoft.com/office/drawing/2014/main" id="{24A183E3-6C4F-B948-468D-0C51F89B3CAC}"/>
                </a:ext>
              </a:extLst>
            </p:cNvPr>
            <p:cNvSpPr/>
            <p:nvPr/>
          </p:nvSpPr>
          <p:spPr>
            <a:xfrm>
              <a:off x="512064" y="3715560"/>
              <a:ext cx="3822192" cy="749808"/>
            </a:xfrm>
            <a:prstGeom prst="rect">
              <a:avLst/>
            </a:prstGeom>
            <a:noFill/>
            <a:ln/>
          </p:spPr>
          <p:txBody>
            <a:bodyPr wrap="square" rtlCol="0" anchor="t"/>
            <a:lstStyle/>
            <a:p>
              <a:pPr marL="0" indent="0">
                <a:buNone/>
              </a:pPr>
              <a:r>
                <a:rPr lang="en-US" dirty="0">
                  <a:latin typeface="Times New Roman" panose="02020603050405020304" pitchFamily="18" charset="0"/>
                  <a:ea typeface="Calibri" pitchFamily="34" charset="-122"/>
                  <a:cs typeface="Times New Roman" panose="02020603050405020304" pitchFamily="18" charset="0"/>
                </a:rPr>
                <a:t>94% of phishing emails fail SPF or DKIM. Checking the Authentication-Results header costs zero compute and immediately eliminates most spoofed senders before any content analysis runs.</a:t>
              </a:r>
              <a:endParaRPr lang="en-US" dirty="0">
                <a:latin typeface="Times New Roman" panose="02020603050405020304" pitchFamily="18" charset="0"/>
                <a:cs typeface="Times New Roman" panose="02020603050405020304" pitchFamily="18" charset="0"/>
              </a:endParaRPr>
            </a:p>
          </p:txBody>
        </p:sp>
        <p:sp>
          <p:nvSpPr>
            <p:cNvPr id="15" name="Shape 18">
              <a:extLst>
                <a:ext uri="{FF2B5EF4-FFF2-40B4-BE49-F238E27FC236}">
                  <a16:creationId xmlns:a16="http://schemas.microsoft.com/office/drawing/2014/main" id="{68834B16-4B4A-48CA-684B-8353C3E8C70D}"/>
                </a:ext>
              </a:extLst>
            </p:cNvPr>
            <p:cNvSpPr/>
            <p:nvPr/>
          </p:nvSpPr>
          <p:spPr>
            <a:xfrm>
              <a:off x="4663440" y="1389888"/>
              <a:ext cx="4114800" cy="1682496"/>
            </a:xfrm>
            <a:prstGeom prst="rect">
              <a:avLst/>
            </a:prstGeom>
            <a:solidFill>
              <a:schemeClr val="bg1"/>
            </a:solidFill>
            <a:ln w="12700">
              <a:solidFill>
                <a:srgbClr val="2DC653"/>
              </a:solidFill>
              <a:prstDash val="solid"/>
            </a:ln>
            <a:effectLst/>
          </p:spPr>
        </p:sp>
        <p:sp>
          <p:nvSpPr>
            <p:cNvPr id="16" name="Shape 19">
              <a:extLst>
                <a:ext uri="{FF2B5EF4-FFF2-40B4-BE49-F238E27FC236}">
                  <a16:creationId xmlns:a16="http://schemas.microsoft.com/office/drawing/2014/main" id="{FB487C92-C890-3D5D-AD97-87878B2BA243}"/>
                </a:ext>
              </a:extLst>
            </p:cNvPr>
            <p:cNvSpPr/>
            <p:nvPr/>
          </p:nvSpPr>
          <p:spPr>
            <a:xfrm>
              <a:off x="4663440" y="1389888"/>
              <a:ext cx="54864" cy="1682496"/>
            </a:xfrm>
            <a:prstGeom prst="rect">
              <a:avLst/>
            </a:prstGeom>
            <a:solidFill>
              <a:srgbClr val="2DC653"/>
            </a:solidFill>
            <a:ln w="12700">
              <a:solidFill>
                <a:srgbClr val="2DC653"/>
              </a:solidFill>
              <a:prstDash val="solid"/>
            </a:ln>
          </p:spPr>
        </p:sp>
        <p:sp>
          <p:nvSpPr>
            <p:cNvPr id="19" name="Text 22">
              <a:extLst>
                <a:ext uri="{FF2B5EF4-FFF2-40B4-BE49-F238E27FC236}">
                  <a16:creationId xmlns:a16="http://schemas.microsoft.com/office/drawing/2014/main" id="{B8C7D9B2-2693-6A51-2A7C-67F8E8420034}"/>
                </a:ext>
              </a:extLst>
            </p:cNvPr>
            <p:cNvSpPr/>
            <p:nvPr/>
          </p:nvSpPr>
          <p:spPr>
            <a:xfrm>
              <a:off x="4876873" y="1490470"/>
              <a:ext cx="3822192" cy="329184"/>
            </a:xfrm>
            <a:prstGeom prst="rect">
              <a:avLst/>
            </a:prstGeom>
            <a:noFill/>
            <a:ln/>
          </p:spPr>
          <p:txBody>
            <a:bodyPr wrap="square" lIns="0" tIns="0" rIns="0" bIns="0" rtlCol="0" anchor="ctr"/>
            <a:lstStyle/>
            <a:p>
              <a:pPr marL="0" indent="0">
                <a:buNone/>
              </a:pPr>
              <a:r>
                <a:rPr lang="en-US" sz="2000" b="1" dirty="0">
                  <a:latin typeface="Times New Roman" panose="02020603050405020304" pitchFamily="18" charset="0"/>
                  <a:ea typeface="Calibri" pitchFamily="34" charset="-122"/>
                  <a:cs typeface="Times New Roman" panose="02020603050405020304" pitchFamily="18" charset="0"/>
                </a:rPr>
                <a:t>DLP Must Be Pre-Transmission, Not Post</a:t>
              </a:r>
              <a:endParaRPr lang="en-US" sz="2000" dirty="0">
                <a:latin typeface="Times New Roman" panose="02020603050405020304" pitchFamily="18" charset="0"/>
                <a:cs typeface="Times New Roman" panose="02020603050405020304" pitchFamily="18" charset="0"/>
              </a:endParaRPr>
            </a:p>
          </p:txBody>
        </p:sp>
        <p:sp>
          <p:nvSpPr>
            <p:cNvPr id="20" name="Text 23">
              <a:extLst>
                <a:ext uri="{FF2B5EF4-FFF2-40B4-BE49-F238E27FC236}">
                  <a16:creationId xmlns:a16="http://schemas.microsoft.com/office/drawing/2014/main" id="{72527F16-FE10-0E87-962F-E2A0146197D3}"/>
                </a:ext>
              </a:extLst>
            </p:cNvPr>
            <p:cNvSpPr/>
            <p:nvPr/>
          </p:nvSpPr>
          <p:spPr>
            <a:xfrm>
              <a:off x="4828032" y="1874068"/>
              <a:ext cx="3822192" cy="1080853"/>
            </a:xfrm>
            <a:prstGeom prst="rect">
              <a:avLst/>
            </a:prstGeom>
            <a:noFill/>
            <a:ln/>
          </p:spPr>
          <p:txBody>
            <a:bodyPr wrap="square" rtlCol="0" anchor="t"/>
            <a:lstStyle/>
            <a:p>
              <a:pPr marL="0" indent="0">
                <a:buNone/>
              </a:pPr>
              <a:r>
                <a:rPr lang="en-US" dirty="0">
                  <a:latin typeface="Times New Roman" panose="02020603050405020304" pitchFamily="18" charset="0"/>
                  <a:ea typeface="Calibri" pitchFamily="34" charset="-122"/>
                  <a:cs typeface="Times New Roman" panose="02020603050405020304" pitchFamily="18" charset="0"/>
                </a:rPr>
                <a:t>Post-transmission DLP is reactive — the data has already left. PhishGuard intercepts outgoing drafts before sending.</a:t>
              </a:r>
              <a:endParaRPr lang="en-US" dirty="0">
                <a:latin typeface="Times New Roman" panose="02020603050405020304" pitchFamily="18" charset="0"/>
                <a:cs typeface="Times New Roman" panose="02020603050405020304" pitchFamily="18" charset="0"/>
              </a:endParaRPr>
            </a:p>
          </p:txBody>
        </p:sp>
        <p:sp>
          <p:nvSpPr>
            <p:cNvPr id="21" name="Shape 24">
              <a:extLst>
                <a:ext uri="{FF2B5EF4-FFF2-40B4-BE49-F238E27FC236}">
                  <a16:creationId xmlns:a16="http://schemas.microsoft.com/office/drawing/2014/main" id="{0193A121-5412-FAE4-6988-884DF14C3D56}"/>
                </a:ext>
              </a:extLst>
            </p:cNvPr>
            <p:cNvSpPr/>
            <p:nvPr/>
          </p:nvSpPr>
          <p:spPr>
            <a:xfrm>
              <a:off x="4663440" y="3200400"/>
              <a:ext cx="4114800" cy="1682496"/>
            </a:xfrm>
            <a:prstGeom prst="rect">
              <a:avLst/>
            </a:prstGeom>
            <a:solidFill>
              <a:schemeClr val="bg1"/>
            </a:solidFill>
            <a:ln w="12700">
              <a:solidFill>
                <a:srgbClr val="E63946"/>
              </a:solidFill>
              <a:prstDash val="solid"/>
            </a:ln>
            <a:effectLst/>
          </p:spPr>
        </p:sp>
        <p:sp>
          <p:nvSpPr>
            <p:cNvPr id="22" name="Shape 25">
              <a:extLst>
                <a:ext uri="{FF2B5EF4-FFF2-40B4-BE49-F238E27FC236}">
                  <a16:creationId xmlns:a16="http://schemas.microsoft.com/office/drawing/2014/main" id="{852B29AA-CD58-E4F4-50F5-5081FD75AE39}"/>
                </a:ext>
              </a:extLst>
            </p:cNvPr>
            <p:cNvSpPr/>
            <p:nvPr/>
          </p:nvSpPr>
          <p:spPr>
            <a:xfrm>
              <a:off x="4663440" y="3200400"/>
              <a:ext cx="54864" cy="1682496"/>
            </a:xfrm>
            <a:prstGeom prst="rect">
              <a:avLst/>
            </a:prstGeom>
            <a:solidFill>
              <a:srgbClr val="E63946"/>
            </a:solidFill>
            <a:ln w="12700">
              <a:solidFill>
                <a:srgbClr val="E63946"/>
              </a:solidFill>
              <a:prstDash val="solid"/>
            </a:ln>
          </p:spPr>
        </p:sp>
        <p:sp>
          <p:nvSpPr>
            <p:cNvPr id="25" name="Text 28">
              <a:extLst>
                <a:ext uri="{FF2B5EF4-FFF2-40B4-BE49-F238E27FC236}">
                  <a16:creationId xmlns:a16="http://schemas.microsoft.com/office/drawing/2014/main" id="{DD626320-7836-651B-42D7-99A0572F8B88}"/>
                </a:ext>
              </a:extLst>
            </p:cNvPr>
            <p:cNvSpPr/>
            <p:nvPr/>
          </p:nvSpPr>
          <p:spPr>
            <a:xfrm>
              <a:off x="4828032" y="3300983"/>
              <a:ext cx="3822192" cy="329184"/>
            </a:xfrm>
            <a:prstGeom prst="rect">
              <a:avLst/>
            </a:prstGeom>
            <a:noFill/>
            <a:ln/>
          </p:spPr>
          <p:txBody>
            <a:bodyPr wrap="square" lIns="0" tIns="0" rIns="0" bIns="0" rtlCol="0" anchor="ctr"/>
            <a:lstStyle/>
            <a:p>
              <a:r>
                <a:rPr lang="en-GB" sz="2000" b="1" dirty="0">
                  <a:latin typeface="Times New Roman" panose="02020603050405020304" pitchFamily="18" charset="0"/>
                  <a:ea typeface="Calibri" pitchFamily="34" charset="-122"/>
                  <a:cs typeface="Times New Roman" panose="02020603050405020304" pitchFamily="18" charset="0"/>
                </a:rPr>
                <a:t>Bulk Email Analysis &gt; Per Email Analysis</a:t>
              </a:r>
              <a:endParaRPr lang="en-US" sz="2000" b="1" dirty="0">
                <a:latin typeface="Times New Roman" panose="02020603050405020304" pitchFamily="18" charset="0"/>
                <a:ea typeface="Calibri" pitchFamily="34" charset="-122"/>
                <a:cs typeface="Times New Roman" panose="02020603050405020304" pitchFamily="18" charset="0"/>
              </a:endParaRPr>
            </a:p>
          </p:txBody>
        </p:sp>
        <p:sp>
          <p:nvSpPr>
            <p:cNvPr id="26" name="Text 29">
              <a:extLst>
                <a:ext uri="{FF2B5EF4-FFF2-40B4-BE49-F238E27FC236}">
                  <a16:creationId xmlns:a16="http://schemas.microsoft.com/office/drawing/2014/main" id="{9EB39EDB-520A-52A5-E950-182A31FA7E45}"/>
                </a:ext>
              </a:extLst>
            </p:cNvPr>
            <p:cNvSpPr/>
            <p:nvPr/>
          </p:nvSpPr>
          <p:spPr>
            <a:xfrm>
              <a:off x="4809744" y="3707113"/>
              <a:ext cx="3822192" cy="749808"/>
            </a:xfrm>
            <a:prstGeom prst="rect">
              <a:avLst/>
            </a:prstGeom>
            <a:noFill/>
            <a:ln/>
          </p:spPr>
          <p:txBody>
            <a:bodyPr wrap="square" rtlCol="0" anchor="t"/>
            <a:lstStyle/>
            <a:p>
              <a:pPr marL="0" indent="0">
                <a:buNone/>
              </a:pPr>
              <a:r>
                <a:rPr lang="en-US" dirty="0">
                  <a:latin typeface="Times New Roman" panose="02020603050405020304" pitchFamily="18" charset="0"/>
                  <a:ea typeface="Calibri" pitchFamily="34" charset="-122"/>
                  <a:cs typeface="Times New Roman" panose="02020603050405020304" pitchFamily="18" charset="0"/>
                </a:rPr>
                <a:t>A single email scoring MEDIUM may pass. The same phishing URL in 50 emails within one hour is an unambiguous campaign. Batch Counter analysis turns individual noise into a high-confidence signal.</a:t>
              </a:r>
              <a:endParaRPr lang="en-US"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156106156"/>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TM03457515[[fn=View]]</Template>
  <TotalTime>262</TotalTime>
  <Words>1135</Words>
  <Application>Microsoft Office PowerPoint</Application>
  <PresentationFormat>Widescreen</PresentationFormat>
  <Paragraphs>212</Paragraphs>
  <Slides>9</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Century Schoolbook</vt:lpstr>
      <vt:lpstr>Times New Roman</vt:lpstr>
      <vt:lpstr>Wingdings</vt:lpstr>
      <vt:lpstr>Wingdings 2</vt:lpstr>
      <vt:lpstr>View</vt:lpstr>
      <vt:lpstr>PhishGuard  Rule Based Email Security Phishing Detection &amp; Data Loss Prevention “Detect. Defend. Prevent.”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Preet Amin</dc:creator>
  <cp:lastModifiedBy>Preet Amin</cp:lastModifiedBy>
  <cp:revision>61</cp:revision>
  <dcterms:created xsi:type="dcterms:W3CDTF">2026-04-12T06:16:11Z</dcterms:created>
  <dcterms:modified xsi:type="dcterms:W3CDTF">2026-05-14T10:19:15Z</dcterms:modified>
</cp:coreProperties>
</file>