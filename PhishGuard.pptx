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465" autoAdjust="0"/>
    <p:restoredTop sz="95020" autoAdjust="0"/>
  </p:normalViewPr>
  <p:slideViewPr>
    <p:cSldViewPr snapToGrid="0">
      <p:cViewPr varScale="1">
        <p:scale>
          <a:sx n="82" d="100"/>
          <a:sy n="82" d="100"/>
        </p:scale>
        <p:origin x="69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422D38-099D-4CB3-96FB-8395CF8B76A9}" type="datetimeFigureOut">
              <a:rPr lang="en-GB" smtClean="0"/>
              <a:t>25/04/2026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D07CF-CCD2-4BBE-9D05-93A1889B57FC}" type="slidenum">
              <a:rPr lang="en-GB" smtClean="0"/>
              <a:t>‹#›</a:t>
            </a:fld>
            <a:endParaRPr lang="en-GB"/>
          </a:p>
        </p:txBody>
      </p:sp>
    </p:spTree>
    <p:extLst>
      <p:ext uri="{BB962C8B-B14F-4D97-AF65-F5344CB8AC3E}">
        <p14:creationId xmlns:p14="http://schemas.microsoft.com/office/powerpoint/2010/main" val="235732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Phishing is a type of cyberattack where attackers trick people into revealing sensitive information or installing malware by pretending to be a trusted source.</a:t>
            </a:r>
            <a:endParaRPr lang="en-GB" dirty="0"/>
          </a:p>
        </p:txBody>
      </p:sp>
      <p:sp>
        <p:nvSpPr>
          <p:cNvPr id="4" name="Slide Number Placeholder 3"/>
          <p:cNvSpPr>
            <a:spLocks noGrp="1"/>
          </p:cNvSpPr>
          <p:nvPr>
            <p:ph type="sldNum" sz="quarter" idx="5"/>
          </p:nvPr>
        </p:nvSpPr>
        <p:spPr/>
        <p:txBody>
          <a:bodyPr/>
          <a:lstStyle/>
          <a:p>
            <a:fld id="{10AD07CF-CCD2-4BBE-9D05-93A1889B57FC}" type="slidenum">
              <a:rPr lang="en-GB" smtClean="0"/>
              <a:t>1</a:t>
            </a:fld>
            <a:endParaRPr lang="en-GB"/>
          </a:p>
        </p:txBody>
      </p:sp>
    </p:spTree>
    <p:extLst>
      <p:ext uri="{BB962C8B-B14F-4D97-AF65-F5344CB8AC3E}">
        <p14:creationId xmlns:p14="http://schemas.microsoft.com/office/powerpoint/2010/main" val="1749433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25/04/2026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25/04/2026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25/04/2026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25/04/2026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25/04/2026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25/04/2026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25/04/2026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25/04/2026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25/04/2026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Trap</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LIFECYCLE</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Targeted</a:t>
              </a:r>
              <a:r>
                <a:rPr lang="en-GB" sz="1600" dirty="0"/>
                <a:t> </a:t>
              </a:r>
              <a:r>
                <a:rPr lang="en-GB" sz="1600" b="1" dirty="0">
                  <a:latin typeface="Calibri" pitchFamily="34" charset="0"/>
                  <a:ea typeface="Calibri" pitchFamily="34" charset="-122"/>
                  <a:cs typeface="Calibri" pitchFamily="34" charset="-120"/>
                </a:rPr>
                <a:t>Attack</a:t>
              </a:r>
              <a:endParaRPr lang="en-US" sz="1600" b="1" dirty="0">
                <a:latin typeface="Calibri" pitchFamily="34" charset="0"/>
                <a:ea typeface="Calibri" pitchFamily="34" charset="-122"/>
                <a:cs typeface="Calibri" pitchFamily="34" charset="-120"/>
              </a:endParaRPr>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Highly targeted phishing aimed at a specific person or organization</a:t>
              </a:r>
              <a:endParaRPr lang="en-US" sz="1600" dirty="0">
                <a:latin typeface="Calibri" pitchFamily="34" charset="0"/>
                <a:ea typeface="Calibri" pitchFamily="34" charset="-122"/>
                <a:cs typeface="Calibri" pitchFamily="34" charset="-120"/>
              </a:endParaRPr>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Asking for a small payment upfront to receive a large reward later</a:t>
              </a:r>
              <a:endParaRPr lang="en-US" sz="1600" dirty="0">
                <a:latin typeface="Calibri" pitchFamily="34" charset="0"/>
                <a:ea typeface="Calibri" pitchFamily="34" charset="-122"/>
                <a:cs typeface="Calibri" pitchFamily="34" charset="-120"/>
              </a:endParaRPr>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Cryptocurrency</a:t>
              </a:r>
              <a:r>
                <a:rPr lang="en-GB" sz="1600" dirty="0"/>
                <a:t> </a:t>
              </a:r>
              <a:r>
                <a:rPr lang="en-GB" sz="1600" b="1" dirty="0">
                  <a:latin typeface="Calibri" pitchFamily="34" charset="0"/>
                  <a:ea typeface="Calibri" pitchFamily="34" charset="-122"/>
                  <a:cs typeface="Calibri" pitchFamily="34" charset="-120"/>
                </a:rPr>
                <a:t>Scam</a:t>
              </a:r>
              <a:endParaRPr lang="en-US" sz="1600" b="1" dirty="0">
                <a:latin typeface="Calibri" pitchFamily="34" charset="0"/>
                <a:ea typeface="Calibri" pitchFamily="34" charset="-122"/>
                <a:cs typeface="Calibri" pitchFamily="34" charset="-120"/>
              </a:endParaRPr>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4573510"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a:t>
            </a:r>
            <a:r>
              <a:rPr lang="en-GB"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CLASSIFICATION</a:t>
            </a:r>
            <a:r>
              <a:rPr lang="en-GB" sz="2000" dirty="0"/>
              <a:t> </a:t>
            </a:r>
            <a:endPar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endParaRP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a:t>
            </a:r>
            <a:endParaRPr lang="en-US" sz="3200" b="1" dirty="0">
              <a:latin typeface="Times New Roman" panose="02020603050405020304" pitchFamily="18" charset="0"/>
              <a:ea typeface="Calibri" pitchFamily="34" charset="-122"/>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349044" y="1143000"/>
            <a:ext cx="10547557" cy="5427717"/>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139493" y="856357"/>
            <a:ext cx="11087100" cy="6001643"/>
          </a:xfrm>
          <a:prstGeom prst="rect">
            <a:avLst/>
          </a:prstGeom>
          <a:noFill/>
        </p:spPr>
        <p:txBody>
          <a:bodyPr wrap="square">
            <a:spAutoFit/>
          </a:bodyPr>
          <a:lstStyle/>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1. Repeated Subject Line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identical or similar subject lines across multiple emails.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Indicates mass phishing attempts.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sz="2400" dirty="0">
              <a:latin typeface="Times New Roman" panose="02020603050405020304" pitchFamily="18" charset="0"/>
              <a:cs typeface="Times New Roman" panose="02020603050405020304" pitchFamily="18" charset="0"/>
            </a:endParaRPr>
          </a:p>
          <a:p>
            <a:r>
              <a:rPr lang="en-GB" sz="2400" b="1" dirty="0">
                <a:latin typeface="Times New Roman" panose="02020603050405020304" pitchFamily="18" charset="0"/>
                <a:cs typeface="Times New Roman" panose="02020603050405020304" pitchFamily="18" charset="0"/>
              </a:rPr>
              <a:t>2. Malicious URL Correlation</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Identifies reused phishing links and attacker-controlled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Highlights coordinated infrastructure. </a:t>
            </a:r>
          </a:p>
          <a:p>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http://secure-login-alert.com reused across several emails.</a:t>
            </a:r>
          </a:p>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3. Sender Infrastructure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repeated use of suspicious sender addresses or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Uncovers spoofed or compromised accounts.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security-alert@gmail.com appearing in multiple messages.</a:t>
            </a:r>
          </a:p>
          <a:p>
            <a:pPr>
              <a:buNone/>
            </a:pP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0"/>
            <a:ext cx="10788015" cy="5274889"/>
            <a:chOff x="365759" y="1164011"/>
            <a:chExt cx="10788015" cy="4543896"/>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939166"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Score ≥ </a:t>
              </a:r>
              <a:endParaRPr lang="en-US"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268668" y="3522959"/>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based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txBody>
            <a:bodyPr/>
            <a:lstStyle/>
            <a:p>
              <a:endParaRPr lang="en-GB" dirty="0"/>
            </a:p>
          </p:txBody>
        </p:sp>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
        <p:nvSpPr>
          <p:cNvPr id="3" name="TextBox 2">
            <a:extLst>
              <a:ext uri="{FF2B5EF4-FFF2-40B4-BE49-F238E27FC236}">
                <a16:creationId xmlns:a16="http://schemas.microsoft.com/office/drawing/2014/main" id="{3804D52D-93B9-5532-70FB-A628BB894720}"/>
              </a:ext>
            </a:extLst>
          </p:cNvPr>
          <p:cNvSpPr txBox="1"/>
          <p:nvPr/>
        </p:nvSpPr>
        <p:spPr>
          <a:xfrm>
            <a:off x="5646049" y="3305700"/>
            <a:ext cx="5198482" cy="3293209"/>
          </a:xfrm>
          <a:prstGeom prst="rect">
            <a:avLst/>
          </a:prstGeom>
          <a:noFill/>
        </p:spPr>
        <p:txBody>
          <a:bodyPr wrap="square">
            <a:spAutoFit/>
          </a:bodyPr>
          <a:lstStyle/>
          <a:p>
            <a:pPr>
              <a:buNone/>
            </a:pPr>
            <a:r>
              <a:rPr lang="en-GB" sz="1600" b="1" dirty="0"/>
              <a:t>Example : 4539 1488 0343 6467</a:t>
            </a:r>
          </a:p>
          <a:p>
            <a:pPr>
              <a:buNone/>
            </a:pPr>
            <a:endParaRPr lang="en-GB" sz="1600" b="1" dirty="0"/>
          </a:p>
          <a:p>
            <a:pPr>
              <a:buNone/>
            </a:pPr>
            <a:r>
              <a:rPr lang="en-GB" sz="1600" dirty="0"/>
              <a:t>Step 1: 7 6 4 6 3 4 3 0 8 8 4 1 9 3 5 4</a:t>
            </a:r>
          </a:p>
          <a:p>
            <a:pPr>
              <a:buNone/>
            </a:pPr>
            <a:endParaRPr lang="en-GB" sz="1600" dirty="0"/>
          </a:p>
          <a:p>
            <a:pPr>
              <a:buNone/>
            </a:pPr>
            <a:r>
              <a:rPr lang="en-GB" sz="1600" dirty="0"/>
              <a:t>Step 2: </a:t>
            </a:r>
          </a:p>
          <a:p>
            <a:pPr>
              <a:buNone/>
            </a:pPr>
            <a:r>
              <a:rPr lang="en-GB" sz="1600" dirty="0"/>
              <a:t>	</a:t>
            </a:r>
            <a:r>
              <a:rPr lang="fr-FR" sz="1600" dirty="0"/>
              <a:t>Original: 7 6 4 6 3 4 3 0 8 8 4 1 9 3 5 4</a:t>
            </a:r>
            <a:br>
              <a:rPr lang="fr-FR" sz="1600" dirty="0"/>
            </a:br>
            <a:r>
              <a:rPr lang="fr-FR" sz="1600" dirty="0"/>
              <a:t>	Double: - 12 - 12 - 8 - 0 - 16 - 2 - 6 – 8</a:t>
            </a:r>
          </a:p>
          <a:p>
            <a:pPr>
              <a:buNone/>
            </a:pPr>
            <a:endParaRPr lang="en-GB" sz="1600" dirty="0"/>
          </a:p>
          <a:p>
            <a:pPr>
              <a:buNone/>
            </a:pPr>
            <a:r>
              <a:rPr lang="en-GB" sz="1600" dirty="0"/>
              <a:t>Step 3: 7 3 4 3 3 8 3 0 8 7 4 2 9 6 5 8</a:t>
            </a:r>
          </a:p>
          <a:p>
            <a:pPr>
              <a:buNone/>
            </a:pPr>
            <a:endParaRPr lang="en-GB" sz="1600" dirty="0"/>
          </a:p>
          <a:p>
            <a:pPr>
              <a:buNone/>
            </a:pPr>
            <a:r>
              <a:rPr lang="en-GB" sz="1600" dirty="0"/>
              <a:t>Step 4: 80</a:t>
            </a:r>
          </a:p>
          <a:p>
            <a:pPr>
              <a:buNone/>
            </a:pPr>
            <a:endParaRPr lang="en-GB" sz="1600" dirty="0"/>
          </a:p>
          <a:p>
            <a:pPr>
              <a:buNone/>
            </a:pPr>
            <a:r>
              <a:rPr lang="en-GB" sz="1600" dirty="0"/>
              <a:t>Step 5: 80 % 10 = 0 [Valid card number]</a:t>
            </a:r>
            <a:endParaRPr lang="fr-FR" sz="1600" dirty="0"/>
          </a:p>
        </p:txBody>
      </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RULE-BASED DECISION MAKING</a:t>
            </a:r>
          </a:p>
        </p:txBody>
      </p:sp>
      <p:sp>
        <p:nvSpPr>
          <p:cNvPr id="34" name="TextBox 33">
            <a:extLst>
              <a:ext uri="{FF2B5EF4-FFF2-40B4-BE49-F238E27FC236}">
                <a16:creationId xmlns:a16="http://schemas.microsoft.com/office/drawing/2014/main" id="{09590341-D180-8860-F298-5FB694CD835E}"/>
              </a:ext>
            </a:extLst>
          </p:cNvPr>
          <p:cNvSpPr txBox="1"/>
          <p:nvPr/>
        </p:nvSpPr>
        <p:spPr>
          <a:xfrm>
            <a:off x="139493" y="1010335"/>
            <a:ext cx="11033332" cy="849472"/>
          </a:xfrm>
          <a:prstGeom prst="rect">
            <a:avLst/>
          </a:prstGeom>
          <a:noFill/>
        </p:spPr>
        <p:txBody>
          <a:bodyPr wrap="square">
            <a:spAutoFit/>
          </a:bodyPr>
          <a:lstStyle/>
          <a:p>
            <a:pPr>
              <a:spcBef>
                <a:spcPts val="300"/>
              </a:spcBef>
              <a:spcAft>
                <a:spcPts val="400"/>
              </a:spcAft>
              <a:buNone/>
            </a:pPr>
            <a:r>
              <a:rPr lang="en-GB" sz="1800" dirty="0">
                <a:solidFill>
                  <a:srgbClr val="374151"/>
                </a:solidFill>
                <a:effectLst/>
                <a:latin typeface="Times New Roman" panose="02020603050405020304" pitchFamily="18" charset="0"/>
                <a:ea typeface="Arial" panose="020B0604020202020204" pitchFamily="34" charset="0"/>
              </a:rPr>
              <a:t>Risk Score = Sum of triggered indicator weights + attachment score + (SPF fail × 2) + (DKIM fail × 2)</a:t>
            </a:r>
          </a:p>
          <a:p>
            <a:pPr>
              <a:spcBef>
                <a:spcPts val="300"/>
              </a:spcBef>
              <a:spcAft>
                <a:spcPts val="400"/>
              </a:spcAft>
              <a:buNone/>
            </a:pPr>
            <a:endParaRPr lang="en-GB" sz="1400" dirty="0">
              <a:effectLst/>
              <a:latin typeface="Arial" panose="020B0604020202020204" pitchFamily="34" charset="0"/>
              <a:ea typeface="Arial" panose="020B0604020202020204" pitchFamily="34" charset="0"/>
            </a:endParaRPr>
          </a:p>
        </p:txBody>
      </p:sp>
      <p:grpSp>
        <p:nvGrpSpPr>
          <p:cNvPr id="248" name="Group 247">
            <a:extLst>
              <a:ext uri="{FF2B5EF4-FFF2-40B4-BE49-F238E27FC236}">
                <a16:creationId xmlns:a16="http://schemas.microsoft.com/office/drawing/2014/main" id="{7E862960-5D67-74D3-7C8A-820BE5F6BDBF}"/>
              </a:ext>
            </a:extLst>
          </p:cNvPr>
          <p:cNvGrpSpPr/>
          <p:nvPr/>
        </p:nvGrpSpPr>
        <p:grpSpPr>
          <a:xfrm>
            <a:off x="334923" y="1623614"/>
            <a:ext cx="10697144" cy="3896653"/>
            <a:chOff x="334923" y="1420414"/>
            <a:chExt cx="10110076" cy="3515743"/>
          </a:xfrm>
        </p:grpSpPr>
        <p:sp>
          <p:nvSpPr>
            <p:cNvPr id="113" name="Text 9">
              <a:extLst>
                <a:ext uri="{FF2B5EF4-FFF2-40B4-BE49-F238E27FC236}">
                  <a16:creationId xmlns:a16="http://schemas.microsoft.com/office/drawing/2014/main" id="{C0BE5E2F-CC2C-4FF8-F503-9322DE482A7F}"/>
                </a:ext>
              </a:extLst>
            </p:cNvPr>
            <p:cNvSpPr/>
            <p:nvPr/>
          </p:nvSpPr>
          <p:spPr>
            <a:xfrm>
              <a:off x="334923" y="1899211"/>
              <a:ext cx="1389888" cy="483643"/>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Incoming</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.eml File</a:t>
              </a:r>
              <a:endParaRPr lang="en-US" sz="1200" dirty="0">
                <a:latin typeface="Times New Roman" panose="02020603050405020304" pitchFamily="18" charset="0"/>
                <a:cs typeface="Times New Roman" panose="02020603050405020304" pitchFamily="18" charset="0"/>
              </a:endParaRPr>
            </a:p>
          </p:txBody>
        </p:sp>
        <p:sp>
          <p:nvSpPr>
            <p:cNvPr id="114" name="Shape 10">
              <a:extLst>
                <a:ext uri="{FF2B5EF4-FFF2-40B4-BE49-F238E27FC236}">
                  <a16:creationId xmlns:a16="http://schemas.microsoft.com/office/drawing/2014/main" id="{948096C2-16B3-35D8-C896-D7D838A48A88}"/>
                </a:ext>
              </a:extLst>
            </p:cNvPr>
            <p:cNvSpPr/>
            <p:nvPr/>
          </p:nvSpPr>
          <p:spPr>
            <a:xfrm>
              <a:off x="1755648" y="1994990"/>
              <a:ext cx="201168" cy="138184"/>
            </a:xfrm>
            <a:prstGeom prst="rect">
              <a:avLst/>
            </a:prstGeom>
            <a:solidFill>
              <a:srgbClr val="00B4D8"/>
            </a:solidFill>
            <a:ln w="12700">
              <a:solidFill>
                <a:srgbClr val="00B4D8"/>
              </a:solidFill>
              <a:prstDash val="solid"/>
            </a:ln>
          </p:spPr>
        </p:sp>
        <p:sp>
          <p:nvSpPr>
            <p:cNvPr id="115" name="Shape 11">
              <a:extLst>
                <a:ext uri="{FF2B5EF4-FFF2-40B4-BE49-F238E27FC236}">
                  <a16:creationId xmlns:a16="http://schemas.microsoft.com/office/drawing/2014/main" id="{ECD72A2E-5C55-6347-C13E-9C8771F997A8}"/>
                </a:ext>
              </a:extLst>
            </p:cNvPr>
            <p:cNvSpPr/>
            <p:nvPr/>
          </p:nvSpPr>
          <p:spPr>
            <a:xfrm>
              <a:off x="1956816" y="1925898"/>
              <a:ext cx="0" cy="0"/>
            </a:xfrm>
            <a:prstGeom prst="rect">
              <a:avLst/>
            </a:prstGeom>
            <a:solidFill>
              <a:srgbClr val="00B4D8"/>
            </a:solidFill>
            <a:ln w="12700">
              <a:solidFill>
                <a:srgbClr val="00B4D8"/>
              </a:solidFill>
              <a:prstDash val="solid"/>
            </a:ln>
          </p:spPr>
        </p:sp>
        <p:sp>
          <p:nvSpPr>
            <p:cNvPr id="116" name="Text 14">
              <a:extLst>
                <a:ext uri="{FF2B5EF4-FFF2-40B4-BE49-F238E27FC236}">
                  <a16:creationId xmlns:a16="http://schemas.microsoft.com/office/drawing/2014/main" id="{EAFA47E0-7E18-3B7B-B958-2B976B514FCD}"/>
                </a:ext>
              </a:extLst>
            </p:cNvPr>
            <p:cNvSpPr/>
            <p:nvPr/>
          </p:nvSpPr>
          <p:spPr>
            <a:xfrm>
              <a:off x="1956816" y="1699556"/>
              <a:ext cx="2011680" cy="253337"/>
            </a:xfrm>
            <a:prstGeom prst="rect">
              <a:avLst/>
            </a:prstGeom>
            <a:noFill/>
            <a:ln/>
          </p:spPr>
          <p:txBody>
            <a:bodyPr wrap="square" lIns="0" tIns="0" rIns="0" bIns="0" rtlCol="0" anchor="ctr"/>
            <a:lstStyle/>
            <a:p>
              <a:pPr marL="0" indent="0" algn="ctr">
                <a:buNone/>
              </a:pPr>
              <a:r>
                <a:rPr lang="en-US" sz="1200" b="1" kern="0" spc="200" dirty="0">
                  <a:latin typeface="Times New Roman" panose="02020603050405020304" pitchFamily="18" charset="0"/>
                  <a:ea typeface="Calibri" pitchFamily="34" charset="-122"/>
                  <a:cs typeface="Times New Roman" panose="02020603050405020304" pitchFamily="18" charset="0"/>
                </a:rPr>
                <a:t>PARSE</a:t>
              </a:r>
              <a:endParaRPr lang="en-US" sz="1200" dirty="0">
                <a:latin typeface="Times New Roman" panose="02020603050405020304" pitchFamily="18" charset="0"/>
                <a:cs typeface="Times New Roman" panose="02020603050405020304" pitchFamily="18" charset="0"/>
              </a:endParaRPr>
            </a:p>
          </p:txBody>
        </p:sp>
        <p:sp>
          <p:nvSpPr>
            <p:cNvPr id="118" name="Text 16">
              <a:extLst>
                <a:ext uri="{FF2B5EF4-FFF2-40B4-BE49-F238E27FC236}">
                  <a16:creationId xmlns:a16="http://schemas.microsoft.com/office/drawing/2014/main" id="{82A4854D-E5B7-2CEE-81F2-F73B713E4EA1}"/>
                </a:ext>
              </a:extLst>
            </p:cNvPr>
            <p:cNvSpPr/>
            <p:nvPr/>
          </p:nvSpPr>
          <p:spPr>
            <a:xfrm>
              <a:off x="2066543" y="194587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Sender / From field</a:t>
              </a:r>
              <a:endParaRPr lang="en-US" sz="1200" dirty="0">
                <a:latin typeface="Times New Roman" panose="02020603050405020304" pitchFamily="18" charset="0"/>
                <a:cs typeface="Times New Roman" panose="02020603050405020304" pitchFamily="18" charset="0"/>
              </a:endParaRPr>
            </a:p>
          </p:txBody>
        </p:sp>
        <p:sp>
          <p:nvSpPr>
            <p:cNvPr id="120" name="Text 18">
              <a:extLst>
                <a:ext uri="{FF2B5EF4-FFF2-40B4-BE49-F238E27FC236}">
                  <a16:creationId xmlns:a16="http://schemas.microsoft.com/office/drawing/2014/main" id="{6D04F5C7-1FE6-08DB-E846-39CD5F6F157E}"/>
                </a:ext>
              </a:extLst>
            </p:cNvPr>
            <p:cNvSpPr/>
            <p:nvPr/>
          </p:nvSpPr>
          <p:spPr>
            <a:xfrm>
              <a:off x="2066543" y="213011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Subject &amp; Body</a:t>
              </a:r>
              <a:endParaRPr lang="en-US" sz="1200" dirty="0">
                <a:latin typeface="Times New Roman" panose="02020603050405020304" pitchFamily="18" charset="0"/>
                <a:cs typeface="Times New Roman" panose="02020603050405020304" pitchFamily="18" charset="0"/>
              </a:endParaRPr>
            </a:p>
          </p:txBody>
        </p:sp>
        <p:sp>
          <p:nvSpPr>
            <p:cNvPr id="122" name="Text 20">
              <a:extLst>
                <a:ext uri="{FF2B5EF4-FFF2-40B4-BE49-F238E27FC236}">
                  <a16:creationId xmlns:a16="http://schemas.microsoft.com/office/drawing/2014/main" id="{3919B227-3B48-79F0-249A-AC399A8745E3}"/>
                </a:ext>
              </a:extLst>
            </p:cNvPr>
            <p:cNvSpPr/>
            <p:nvPr/>
          </p:nvSpPr>
          <p:spPr>
            <a:xfrm>
              <a:off x="2066543" y="231436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All URLs</a:t>
              </a:r>
              <a:endParaRPr lang="en-US" sz="1200" dirty="0">
                <a:latin typeface="Times New Roman" panose="02020603050405020304" pitchFamily="18" charset="0"/>
                <a:cs typeface="Times New Roman" panose="02020603050405020304" pitchFamily="18" charset="0"/>
              </a:endParaRPr>
            </a:p>
          </p:txBody>
        </p:sp>
        <p:sp>
          <p:nvSpPr>
            <p:cNvPr id="124" name="Text 22">
              <a:extLst>
                <a:ext uri="{FF2B5EF4-FFF2-40B4-BE49-F238E27FC236}">
                  <a16:creationId xmlns:a16="http://schemas.microsoft.com/office/drawing/2014/main" id="{63F1EC13-FDE9-0844-035E-0BA4031B5E9A}"/>
                </a:ext>
              </a:extLst>
            </p:cNvPr>
            <p:cNvSpPr/>
            <p:nvPr/>
          </p:nvSpPr>
          <p:spPr>
            <a:xfrm>
              <a:off x="2066543" y="249860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Attachments</a:t>
              </a:r>
              <a:endParaRPr lang="en-US" sz="1200" dirty="0">
                <a:latin typeface="Times New Roman" panose="02020603050405020304" pitchFamily="18" charset="0"/>
                <a:cs typeface="Times New Roman" panose="02020603050405020304" pitchFamily="18" charset="0"/>
              </a:endParaRPr>
            </a:p>
          </p:txBody>
        </p:sp>
        <p:sp>
          <p:nvSpPr>
            <p:cNvPr id="126" name="Text 24">
              <a:extLst>
                <a:ext uri="{FF2B5EF4-FFF2-40B4-BE49-F238E27FC236}">
                  <a16:creationId xmlns:a16="http://schemas.microsoft.com/office/drawing/2014/main" id="{DB1BF2D8-E86D-677B-974C-8620F8BDD15E}"/>
                </a:ext>
              </a:extLst>
            </p:cNvPr>
            <p:cNvSpPr/>
            <p:nvPr/>
          </p:nvSpPr>
          <p:spPr>
            <a:xfrm>
              <a:off x="2066543" y="2682851"/>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Auth Headers (SPF/DKIM)</a:t>
              </a:r>
              <a:endParaRPr lang="en-US" sz="1200" dirty="0">
                <a:latin typeface="Times New Roman" panose="02020603050405020304" pitchFamily="18" charset="0"/>
                <a:cs typeface="Times New Roman" panose="02020603050405020304" pitchFamily="18" charset="0"/>
              </a:endParaRPr>
            </a:p>
          </p:txBody>
        </p:sp>
        <p:sp>
          <p:nvSpPr>
            <p:cNvPr id="165" name="Shape 65">
              <a:extLst>
                <a:ext uri="{FF2B5EF4-FFF2-40B4-BE49-F238E27FC236}">
                  <a16:creationId xmlns:a16="http://schemas.microsoft.com/office/drawing/2014/main" id="{6A0049A1-FCE8-8F41-DC9E-E11F3F588A8A}"/>
                </a:ext>
              </a:extLst>
            </p:cNvPr>
            <p:cNvSpPr/>
            <p:nvPr/>
          </p:nvSpPr>
          <p:spPr>
            <a:xfrm>
              <a:off x="6632938" y="2049747"/>
              <a:ext cx="424327" cy="149462"/>
            </a:xfrm>
            <a:prstGeom prst="rect">
              <a:avLst/>
            </a:prstGeom>
            <a:solidFill>
              <a:srgbClr val="00B4D8"/>
            </a:solidFill>
            <a:ln w="12700">
              <a:solidFill>
                <a:srgbClr val="00B4D8"/>
              </a:solidFill>
              <a:prstDash val="solid"/>
            </a:ln>
          </p:spPr>
          <p:txBody>
            <a:bodyPr/>
            <a:lstStyle/>
            <a:p>
              <a:endParaRPr lang="en-GB" dirty="0"/>
            </a:p>
          </p:txBody>
        </p:sp>
        <p:sp>
          <p:nvSpPr>
            <p:cNvPr id="127" name="Shape 25">
              <a:extLst>
                <a:ext uri="{FF2B5EF4-FFF2-40B4-BE49-F238E27FC236}">
                  <a16:creationId xmlns:a16="http://schemas.microsoft.com/office/drawing/2014/main" id="{B993EED4-92CF-AE60-53A1-47DB6A1522BF}"/>
                </a:ext>
              </a:extLst>
            </p:cNvPr>
            <p:cNvSpPr/>
            <p:nvPr/>
          </p:nvSpPr>
          <p:spPr>
            <a:xfrm>
              <a:off x="3904485" y="1994990"/>
              <a:ext cx="201168" cy="138184"/>
            </a:xfrm>
            <a:prstGeom prst="rect">
              <a:avLst/>
            </a:prstGeom>
            <a:solidFill>
              <a:srgbClr val="00B4D8"/>
            </a:solidFill>
            <a:ln w="12700">
              <a:solidFill>
                <a:srgbClr val="00B4D8"/>
              </a:solidFill>
              <a:prstDash val="solid"/>
            </a:ln>
          </p:spPr>
        </p:sp>
        <p:sp>
          <p:nvSpPr>
            <p:cNvPr id="166" name="Text 68">
              <a:extLst>
                <a:ext uri="{FF2B5EF4-FFF2-40B4-BE49-F238E27FC236}">
                  <a16:creationId xmlns:a16="http://schemas.microsoft.com/office/drawing/2014/main" id="{566EBC2E-0098-D201-10B3-60E5418BC577}"/>
                </a:ext>
              </a:extLst>
            </p:cNvPr>
            <p:cNvSpPr/>
            <p:nvPr/>
          </p:nvSpPr>
          <p:spPr>
            <a:xfrm>
              <a:off x="7159620" y="1787264"/>
              <a:ext cx="1444752" cy="529704"/>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RISK</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SCORE</a:t>
              </a:r>
              <a:endParaRPr lang="en-US" sz="1200" dirty="0">
                <a:latin typeface="Times New Roman" panose="02020603050405020304" pitchFamily="18" charset="0"/>
                <a:cs typeface="Times New Roman" panose="02020603050405020304" pitchFamily="18" charset="0"/>
              </a:endParaRPr>
            </a:p>
          </p:txBody>
        </p:sp>
        <p:sp>
          <p:nvSpPr>
            <p:cNvPr id="167" name="Text 69">
              <a:extLst>
                <a:ext uri="{FF2B5EF4-FFF2-40B4-BE49-F238E27FC236}">
                  <a16:creationId xmlns:a16="http://schemas.microsoft.com/office/drawing/2014/main" id="{2DE3C235-3656-0EBF-6F01-406F29C46879}"/>
                </a:ext>
              </a:extLst>
            </p:cNvPr>
            <p:cNvSpPr/>
            <p:nvPr/>
          </p:nvSpPr>
          <p:spPr>
            <a:xfrm>
              <a:off x="7232772" y="2386059"/>
              <a:ext cx="1280160"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168" name="Text 70">
              <a:extLst>
                <a:ext uri="{FF2B5EF4-FFF2-40B4-BE49-F238E27FC236}">
                  <a16:creationId xmlns:a16="http://schemas.microsoft.com/office/drawing/2014/main" id="{40640F16-D240-EFD3-BEDB-7950E8C4E481}"/>
                </a:ext>
              </a:extLst>
            </p:cNvPr>
            <p:cNvSpPr/>
            <p:nvPr/>
          </p:nvSpPr>
          <p:spPr>
            <a:xfrm>
              <a:off x="7251060" y="2662427"/>
              <a:ext cx="1261872" cy="276367"/>
            </a:xfrm>
            <a:prstGeom prst="rect">
              <a:avLst/>
            </a:prstGeom>
            <a:noFill/>
            <a:ln/>
          </p:spPr>
          <p:txBody>
            <a:bodyPr wrap="square" lIns="0" tIns="0" rIns="0" bIns="0" rtlCol="0" anchor="ctr"/>
            <a:lstStyle/>
            <a:p>
              <a:pPr marL="0" indent="0">
                <a:buNone/>
              </a:pPr>
              <a:r>
                <a:rPr lang="en-US" sz="1200" b="1" dirty="0">
                  <a:latin typeface="Times New Roman" panose="02020603050405020304" pitchFamily="18" charset="0"/>
                  <a:ea typeface="Calibri" pitchFamily="34" charset="-122"/>
                  <a:cs typeface="Times New Roman" panose="02020603050405020304" pitchFamily="18" charset="0"/>
                </a:rPr>
                <a:t>Σ Indicator Weights</a:t>
              </a:r>
              <a:endParaRPr lang="en-US" sz="1200" dirty="0">
                <a:latin typeface="Times New Roman" panose="02020603050405020304" pitchFamily="18" charset="0"/>
                <a:cs typeface="Times New Roman" panose="02020603050405020304" pitchFamily="18" charset="0"/>
              </a:endParaRPr>
            </a:p>
          </p:txBody>
        </p:sp>
        <p:sp>
          <p:nvSpPr>
            <p:cNvPr id="169" name="Text 71">
              <a:extLst>
                <a:ext uri="{FF2B5EF4-FFF2-40B4-BE49-F238E27FC236}">
                  <a16:creationId xmlns:a16="http://schemas.microsoft.com/office/drawing/2014/main" id="{D92C21E6-2B41-BDE2-8F4A-2A99BC56B7F1}"/>
                </a:ext>
              </a:extLst>
            </p:cNvPr>
            <p:cNvSpPr/>
            <p:nvPr/>
          </p:nvSpPr>
          <p:spPr>
            <a:xfrm>
              <a:off x="7251060" y="2984855"/>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Attachment Score</a:t>
              </a:r>
              <a:endParaRPr lang="en-US" sz="1200" dirty="0">
                <a:latin typeface="Times New Roman" panose="02020603050405020304" pitchFamily="18" charset="0"/>
                <a:cs typeface="Times New Roman" panose="02020603050405020304" pitchFamily="18" charset="0"/>
              </a:endParaRPr>
            </a:p>
          </p:txBody>
        </p:sp>
        <p:sp>
          <p:nvSpPr>
            <p:cNvPr id="170" name="Text 72">
              <a:extLst>
                <a:ext uri="{FF2B5EF4-FFF2-40B4-BE49-F238E27FC236}">
                  <a16:creationId xmlns:a16="http://schemas.microsoft.com/office/drawing/2014/main" id="{2E5DFCC5-3D5D-14C9-E377-BAA5DA3386E2}"/>
                </a:ext>
              </a:extLst>
            </p:cNvPr>
            <p:cNvSpPr/>
            <p:nvPr/>
          </p:nvSpPr>
          <p:spPr>
            <a:xfrm>
              <a:off x="7251060" y="3307283"/>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SPF fail × 2</a:t>
              </a:r>
              <a:endParaRPr lang="en-US" sz="1200" dirty="0">
                <a:latin typeface="Times New Roman" panose="02020603050405020304" pitchFamily="18" charset="0"/>
                <a:cs typeface="Times New Roman" panose="02020603050405020304" pitchFamily="18" charset="0"/>
              </a:endParaRPr>
            </a:p>
          </p:txBody>
        </p:sp>
        <p:sp>
          <p:nvSpPr>
            <p:cNvPr id="171" name="Text 73">
              <a:extLst>
                <a:ext uri="{FF2B5EF4-FFF2-40B4-BE49-F238E27FC236}">
                  <a16:creationId xmlns:a16="http://schemas.microsoft.com/office/drawing/2014/main" id="{EC0EC528-ED5B-204E-7900-C7AC802E321B}"/>
                </a:ext>
              </a:extLst>
            </p:cNvPr>
            <p:cNvSpPr/>
            <p:nvPr/>
          </p:nvSpPr>
          <p:spPr>
            <a:xfrm>
              <a:off x="7251060" y="3629712"/>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DKIM fail × 2</a:t>
              </a:r>
              <a:endParaRPr lang="en-US" sz="1200" dirty="0">
                <a:latin typeface="Times New Roman" panose="02020603050405020304" pitchFamily="18" charset="0"/>
                <a:cs typeface="Times New Roman" panose="02020603050405020304" pitchFamily="18" charset="0"/>
              </a:endParaRPr>
            </a:p>
          </p:txBody>
        </p:sp>
        <p:sp>
          <p:nvSpPr>
            <p:cNvPr id="174" name="Shape 76">
              <a:extLst>
                <a:ext uri="{FF2B5EF4-FFF2-40B4-BE49-F238E27FC236}">
                  <a16:creationId xmlns:a16="http://schemas.microsoft.com/office/drawing/2014/main" id="{6DAD8282-03E7-3365-0DAB-814AB9727623}"/>
                </a:ext>
              </a:extLst>
            </p:cNvPr>
            <p:cNvSpPr/>
            <p:nvPr/>
          </p:nvSpPr>
          <p:spPr>
            <a:xfrm>
              <a:off x="8528953" y="2176177"/>
              <a:ext cx="538842" cy="185013"/>
            </a:xfrm>
            <a:prstGeom prst="rect">
              <a:avLst/>
            </a:prstGeom>
            <a:solidFill>
              <a:srgbClr val="00B4D8"/>
            </a:solidFill>
            <a:ln w="12700">
              <a:solidFill>
                <a:srgbClr val="00B4D8"/>
              </a:solidFill>
              <a:prstDash val="solid"/>
            </a:ln>
          </p:spPr>
        </p:sp>
        <p:sp>
          <p:nvSpPr>
            <p:cNvPr id="175" name="Text 78">
              <a:extLst>
                <a:ext uri="{FF2B5EF4-FFF2-40B4-BE49-F238E27FC236}">
                  <a16:creationId xmlns:a16="http://schemas.microsoft.com/office/drawing/2014/main" id="{7EA23B34-B6F4-18DE-7B17-66CD9B2A9D2A}"/>
                </a:ext>
              </a:extLst>
            </p:cNvPr>
            <p:cNvSpPr/>
            <p:nvPr/>
          </p:nvSpPr>
          <p:spPr>
            <a:xfrm>
              <a:off x="9177523" y="1762263"/>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176" name="Text 79">
              <a:extLst>
                <a:ext uri="{FF2B5EF4-FFF2-40B4-BE49-F238E27FC236}">
                  <a16:creationId xmlns:a16="http://schemas.microsoft.com/office/drawing/2014/main" id="{D177C5E6-2BF4-CE76-F956-C3D1A3463B21}"/>
                </a:ext>
              </a:extLst>
            </p:cNvPr>
            <p:cNvSpPr/>
            <p:nvPr/>
          </p:nvSpPr>
          <p:spPr>
            <a:xfrm>
              <a:off x="9177523" y="2037770"/>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10</a:t>
              </a:r>
              <a:endParaRPr lang="en-US" sz="1200" dirty="0">
                <a:latin typeface="Times New Roman" panose="02020603050405020304" pitchFamily="18" charset="0"/>
                <a:cs typeface="Times New Roman" panose="02020603050405020304" pitchFamily="18" charset="0"/>
              </a:endParaRPr>
            </a:p>
          </p:txBody>
        </p:sp>
        <p:sp>
          <p:nvSpPr>
            <p:cNvPr id="177" name="Shape 80">
              <a:extLst>
                <a:ext uri="{FF2B5EF4-FFF2-40B4-BE49-F238E27FC236}">
                  <a16:creationId xmlns:a16="http://schemas.microsoft.com/office/drawing/2014/main" id="{4202114D-6178-1CC9-F1BF-19438022B31C}"/>
                </a:ext>
              </a:extLst>
            </p:cNvPr>
            <p:cNvSpPr/>
            <p:nvPr/>
          </p:nvSpPr>
          <p:spPr>
            <a:xfrm>
              <a:off x="9177523" y="2361191"/>
              <a:ext cx="1100179" cy="551014"/>
            </a:xfrm>
            <a:prstGeom prst="rect">
              <a:avLst/>
            </a:prstGeom>
            <a:solidFill>
              <a:srgbClr val="E76F51"/>
            </a:solidFill>
            <a:ln w="12700">
              <a:solidFill>
                <a:srgbClr val="E76F51"/>
              </a:solidFill>
              <a:prstDash val="solid"/>
            </a:ln>
          </p:spPr>
        </p:sp>
        <p:sp>
          <p:nvSpPr>
            <p:cNvPr id="178" name="Text 81">
              <a:extLst>
                <a:ext uri="{FF2B5EF4-FFF2-40B4-BE49-F238E27FC236}">
                  <a16:creationId xmlns:a16="http://schemas.microsoft.com/office/drawing/2014/main" id="{4B82F9E3-0E92-B197-9123-6F428C147E12}"/>
                </a:ext>
              </a:extLst>
            </p:cNvPr>
            <p:cNvSpPr/>
            <p:nvPr/>
          </p:nvSpPr>
          <p:spPr>
            <a:xfrm>
              <a:off x="9177523" y="2409105"/>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179" name="Text 82">
              <a:extLst>
                <a:ext uri="{FF2B5EF4-FFF2-40B4-BE49-F238E27FC236}">
                  <a16:creationId xmlns:a16="http://schemas.microsoft.com/office/drawing/2014/main" id="{A42E2B58-226A-D88E-57AB-1462C75D6B1E}"/>
                </a:ext>
              </a:extLst>
            </p:cNvPr>
            <p:cNvSpPr/>
            <p:nvPr/>
          </p:nvSpPr>
          <p:spPr>
            <a:xfrm>
              <a:off x="9177523" y="2684612"/>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5</a:t>
              </a:r>
              <a:endParaRPr lang="en-US" sz="1200" dirty="0">
                <a:latin typeface="Times New Roman" panose="02020603050405020304" pitchFamily="18" charset="0"/>
                <a:cs typeface="Times New Roman" panose="02020603050405020304" pitchFamily="18" charset="0"/>
              </a:endParaRPr>
            </a:p>
          </p:txBody>
        </p:sp>
        <p:sp>
          <p:nvSpPr>
            <p:cNvPr id="180" name="Shape 83">
              <a:extLst>
                <a:ext uri="{FF2B5EF4-FFF2-40B4-BE49-F238E27FC236}">
                  <a16:creationId xmlns:a16="http://schemas.microsoft.com/office/drawing/2014/main" id="{C9D8F7AA-11DC-11C2-07D0-68B6EB8BA1F7}"/>
                </a:ext>
              </a:extLst>
            </p:cNvPr>
            <p:cNvSpPr/>
            <p:nvPr/>
          </p:nvSpPr>
          <p:spPr>
            <a:xfrm>
              <a:off x="9177523" y="3008033"/>
              <a:ext cx="1100179" cy="551014"/>
            </a:xfrm>
            <a:prstGeom prst="rect">
              <a:avLst/>
            </a:prstGeom>
            <a:solidFill>
              <a:srgbClr val="F4A261"/>
            </a:solidFill>
            <a:ln w="12700">
              <a:solidFill>
                <a:srgbClr val="F4A261"/>
              </a:solidFill>
              <a:prstDash val="solid"/>
            </a:ln>
          </p:spPr>
        </p:sp>
        <p:sp>
          <p:nvSpPr>
            <p:cNvPr id="181" name="Text 84">
              <a:extLst>
                <a:ext uri="{FF2B5EF4-FFF2-40B4-BE49-F238E27FC236}">
                  <a16:creationId xmlns:a16="http://schemas.microsoft.com/office/drawing/2014/main" id="{0B23BD1F-7504-C6C7-FC39-7047F76FDEE2}"/>
                </a:ext>
              </a:extLst>
            </p:cNvPr>
            <p:cNvSpPr/>
            <p:nvPr/>
          </p:nvSpPr>
          <p:spPr>
            <a:xfrm>
              <a:off x="9177523" y="3055947"/>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182" name="Text 85">
              <a:extLst>
                <a:ext uri="{FF2B5EF4-FFF2-40B4-BE49-F238E27FC236}">
                  <a16:creationId xmlns:a16="http://schemas.microsoft.com/office/drawing/2014/main" id="{FB07AD69-3834-B24F-9722-7D5B5F606B25}"/>
                </a:ext>
              </a:extLst>
            </p:cNvPr>
            <p:cNvSpPr/>
            <p:nvPr/>
          </p:nvSpPr>
          <p:spPr>
            <a:xfrm>
              <a:off x="9177523" y="3331454"/>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2</a:t>
              </a:r>
              <a:endParaRPr lang="en-US" sz="1200" dirty="0">
                <a:latin typeface="Times New Roman" panose="02020603050405020304" pitchFamily="18" charset="0"/>
                <a:cs typeface="Times New Roman" panose="02020603050405020304" pitchFamily="18" charset="0"/>
              </a:endParaRPr>
            </a:p>
          </p:txBody>
        </p:sp>
        <p:sp>
          <p:nvSpPr>
            <p:cNvPr id="183" name="Shape 86">
              <a:extLst>
                <a:ext uri="{FF2B5EF4-FFF2-40B4-BE49-F238E27FC236}">
                  <a16:creationId xmlns:a16="http://schemas.microsoft.com/office/drawing/2014/main" id="{76FCFF2F-1202-2389-1E09-96210F9047A3}"/>
                </a:ext>
              </a:extLst>
            </p:cNvPr>
            <p:cNvSpPr/>
            <p:nvPr/>
          </p:nvSpPr>
          <p:spPr>
            <a:xfrm>
              <a:off x="9177523" y="3654875"/>
              <a:ext cx="1100179" cy="551014"/>
            </a:xfrm>
            <a:prstGeom prst="rect">
              <a:avLst/>
            </a:prstGeom>
            <a:solidFill>
              <a:srgbClr val="F4C842"/>
            </a:solidFill>
            <a:ln w="12700">
              <a:solidFill>
                <a:srgbClr val="F4C842"/>
              </a:solidFill>
              <a:prstDash val="solid"/>
            </a:ln>
          </p:spPr>
        </p:sp>
        <p:sp>
          <p:nvSpPr>
            <p:cNvPr id="184" name="Text 87">
              <a:extLst>
                <a:ext uri="{FF2B5EF4-FFF2-40B4-BE49-F238E27FC236}">
                  <a16:creationId xmlns:a16="http://schemas.microsoft.com/office/drawing/2014/main" id="{C5F1D9A5-E5EA-FF35-E524-8F2070C6AD8F}"/>
                </a:ext>
              </a:extLst>
            </p:cNvPr>
            <p:cNvSpPr/>
            <p:nvPr/>
          </p:nvSpPr>
          <p:spPr>
            <a:xfrm>
              <a:off x="9177523" y="3702789"/>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185" name="Text 88">
              <a:extLst>
                <a:ext uri="{FF2B5EF4-FFF2-40B4-BE49-F238E27FC236}">
                  <a16:creationId xmlns:a16="http://schemas.microsoft.com/office/drawing/2014/main" id="{C17EACA0-BBC6-FC6F-81DF-F920681CD7BD}"/>
                </a:ext>
              </a:extLst>
            </p:cNvPr>
            <p:cNvSpPr/>
            <p:nvPr/>
          </p:nvSpPr>
          <p:spPr>
            <a:xfrm>
              <a:off x="9177523" y="3978296"/>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a:t>
              </a:r>
              <a:endParaRPr lang="en-US" sz="1200" dirty="0">
                <a:latin typeface="Times New Roman" panose="02020603050405020304" pitchFamily="18" charset="0"/>
                <a:cs typeface="Times New Roman" panose="02020603050405020304" pitchFamily="18" charset="0"/>
              </a:endParaRPr>
            </a:p>
          </p:txBody>
        </p:sp>
        <p:sp>
          <p:nvSpPr>
            <p:cNvPr id="186" name="Shape 89">
              <a:extLst>
                <a:ext uri="{FF2B5EF4-FFF2-40B4-BE49-F238E27FC236}">
                  <a16:creationId xmlns:a16="http://schemas.microsoft.com/office/drawing/2014/main" id="{6FD293F6-9996-2507-0091-9DD0900D4553}"/>
                </a:ext>
              </a:extLst>
            </p:cNvPr>
            <p:cNvSpPr/>
            <p:nvPr/>
          </p:nvSpPr>
          <p:spPr>
            <a:xfrm>
              <a:off x="9177523" y="4301717"/>
              <a:ext cx="1100179" cy="551014"/>
            </a:xfrm>
            <a:prstGeom prst="rect">
              <a:avLst/>
            </a:prstGeom>
            <a:solidFill>
              <a:srgbClr val="2DC653"/>
            </a:solidFill>
            <a:ln w="12700">
              <a:solidFill>
                <a:srgbClr val="2DC653"/>
              </a:solidFill>
              <a:prstDash val="solid"/>
            </a:ln>
          </p:spPr>
        </p:sp>
        <p:sp>
          <p:nvSpPr>
            <p:cNvPr id="187" name="Text 90">
              <a:extLst>
                <a:ext uri="{FF2B5EF4-FFF2-40B4-BE49-F238E27FC236}">
                  <a16:creationId xmlns:a16="http://schemas.microsoft.com/office/drawing/2014/main" id="{94A74F50-2F9A-6086-AFC0-68BCC9411F23}"/>
                </a:ext>
              </a:extLst>
            </p:cNvPr>
            <p:cNvSpPr/>
            <p:nvPr/>
          </p:nvSpPr>
          <p:spPr>
            <a:xfrm>
              <a:off x="9177523" y="4349631"/>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188" name="Text 91">
              <a:extLst>
                <a:ext uri="{FF2B5EF4-FFF2-40B4-BE49-F238E27FC236}">
                  <a16:creationId xmlns:a16="http://schemas.microsoft.com/office/drawing/2014/main" id="{29085F2F-2048-DA0F-4811-4E1B5CC48F0B}"/>
                </a:ext>
              </a:extLst>
            </p:cNvPr>
            <p:cNvSpPr/>
            <p:nvPr/>
          </p:nvSpPr>
          <p:spPr>
            <a:xfrm>
              <a:off x="9177523" y="4625138"/>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0</a:t>
              </a:r>
              <a:endParaRPr lang="en-US" sz="1200" dirty="0">
                <a:latin typeface="Times New Roman" panose="02020603050405020304" pitchFamily="18" charset="0"/>
                <a:cs typeface="Times New Roman" panose="02020603050405020304" pitchFamily="18" charset="0"/>
              </a:endParaRPr>
            </a:p>
          </p:txBody>
        </p:sp>
        <p:sp>
          <p:nvSpPr>
            <p:cNvPr id="191" name="Rectangle 190">
              <a:extLst>
                <a:ext uri="{FF2B5EF4-FFF2-40B4-BE49-F238E27FC236}">
                  <a16:creationId xmlns:a16="http://schemas.microsoft.com/office/drawing/2014/main" id="{7CEA958B-6E63-368B-8AA9-61ED18A8D166}"/>
                </a:ext>
              </a:extLst>
            </p:cNvPr>
            <p:cNvSpPr/>
            <p:nvPr/>
          </p:nvSpPr>
          <p:spPr>
            <a:xfrm>
              <a:off x="352425" y="1776199"/>
              <a:ext cx="1384935" cy="633342"/>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2" name="Rectangle 191">
              <a:extLst>
                <a:ext uri="{FF2B5EF4-FFF2-40B4-BE49-F238E27FC236}">
                  <a16:creationId xmlns:a16="http://schemas.microsoft.com/office/drawing/2014/main" id="{D9665B62-59E2-8E6B-EBAD-15B861E56CFC}"/>
                </a:ext>
              </a:extLst>
            </p:cNvPr>
            <p:cNvSpPr/>
            <p:nvPr/>
          </p:nvSpPr>
          <p:spPr>
            <a:xfrm>
              <a:off x="350330" y="1782850"/>
              <a:ext cx="1368742" cy="76957"/>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4" name="Rectangle 193">
              <a:extLst>
                <a:ext uri="{FF2B5EF4-FFF2-40B4-BE49-F238E27FC236}">
                  <a16:creationId xmlns:a16="http://schemas.microsoft.com/office/drawing/2014/main" id="{526A6961-8B99-A081-8238-619D8EFE35A2}"/>
                </a:ext>
              </a:extLst>
            </p:cNvPr>
            <p:cNvSpPr/>
            <p:nvPr/>
          </p:nvSpPr>
          <p:spPr>
            <a:xfrm>
              <a:off x="1953017" y="1591954"/>
              <a:ext cx="1942325" cy="1485474"/>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5" name="Rectangle 194">
              <a:extLst>
                <a:ext uri="{FF2B5EF4-FFF2-40B4-BE49-F238E27FC236}">
                  <a16:creationId xmlns:a16="http://schemas.microsoft.com/office/drawing/2014/main" id="{C803A043-45A7-FC71-4F6A-9635D4D4DA10}"/>
                </a:ext>
              </a:extLst>
            </p:cNvPr>
            <p:cNvSpPr/>
            <p:nvPr/>
          </p:nvSpPr>
          <p:spPr>
            <a:xfrm>
              <a:off x="1950922" y="1598606"/>
              <a:ext cx="1942325" cy="10610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grpSp>
          <p:nvGrpSpPr>
            <p:cNvPr id="198" name="Group 197">
              <a:extLst>
                <a:ext uri="{FF2B5EF4-FFF2-40B4-BE49-F238E27FC236}">
                  <a16:creationId xmlns:a16="http://schemas.microsoft.com/office/drawing/2014/main" id="{DBC20237-AACC-B146-8327-2E0BB5280969}"/>
                </a:ext>
              </a:extLst>
            </p:cNvPr>
            <p:cNvGrpSpPr/>
            <p:nvPr/>
          </p:nvGrpSpPr>
          <p:grpSpPr>
            <a:xfrm>
              <a:off x="4215385" y="1534378"/>
              <a:ext cx="2313431" cy="3048458"/>
              <a:chOff x="4224528" y="1557409"/>
              <a:chExt cx="2114296" cy="2878824"/>
            </a:xfrm>
          </p:grpSpPr>
          <p:sp>
            <p:nvSpPr>
              <p:cNvPr id="128" name="Text 28">
                <a:extLst>
                  <a:ext uri="{FF2B5EF4-FFF2-40B4-BE49-F238E27FC236}">
                    <a16:creationId xmlns:a16="http://schemas.microsoft.com/office/drawing/2014/main" id="{9C77F4D9-528C-3174-B409-0014849592B2}"/>
                  </a:ext>
                </a:extLst>
              </p:cNvPr>
              <p:cNvSpPr/>
              <p:nvPr/>
            </p:nvSpPr>
            <p:spPr>
              <a:xfrm>
                <a:off x="4279392" y="1557409"/>
                <a:ext cx="2011680" cy="276367"/>
              </a:xfrm>
              <a:prstGeom prst="rect">
                <a:avLst/>
              </a:prstGeom>
              <a:noFill/>
              <a:ln/>
            </p:spPr>
            <p:txBody>
              <a:bodyPr wrap="square" lIns="0" tIns="0" rIns="0" bIns="0" rtlCol="0" anchor="ctr"/>
              <a:lstStyle/>
              <a:p>
                <a:pPr marL="0" indent="0" algn="ctr">
                  <a:buNone/>
                </a:pPr>
                <a:r>
                  <a:rPr lang="en-US" sz="1000" b="1" kern="0" spc="200" dirty="0">
                    <a:latin typeface="Times New Roman" panose="02020603050405020304" pitchFamily="18" charset="0"/>
                    <a:ea typeface="Calibri" pitchFamily="34" charset="-122"/>
                    <a:cs typeface="Times New Roman" panose="02020603050405020304" pitchFamily="18" charset="0"/>
                  </a:rPr>
                  <a:t>12 DETECTORS</a:t>
                </a:r>
                <a:endParaRPr lang="en-US" sz="1000" dirty="0">
                  <a:latin typeface="Times New Roman" panose="02020603050405020304" pitchFamily="18" charset="0"/>
                  <a:cs typeface="Times New Roman" panose="02020603050405020304" pitchFamily="18" charset="0"/>
                </a:endParaRPr>
              </a:p>
            </p:txBody>
          </p:sp>
          <p:sp>
            <p:nvSpPr>
              <p:cNvPr id="129" name="Shape 29">
                <a:extLst>
                  <a:ext uri="{FF2B5EF4-FFF2-40B4-BE49-F238E27FC236}">
                    <a16:creationId xmlns:a16="http://schemas.microsoft.com/office/drawing/2014/main" id="{D0B9C743-E0D4-2C2C-A458-91AB0BF5DC0A}"/>
                  </a:ext>
                </a:extLst>
              </p:cNvPr>
              <p:cNvSpPr/>
              <p:nvPr/>
            </p:nvSpPr>
            <p:spPr>
              <a:xfrm>
                <a:off x="4224528" y="1845292"/>
                <a:ext cx="969264" cy="403035"/>
              </a:xfrm>
              <a:prstGeom prst="rect">
                <a:avLst/>
              </a:prstGeom>
              <a:solidFill>
                <a:srgbClr val="E63946">
                  <a:alpha val="20000"/>
                </a:srgbClr>
              </a:solidFill>
              <a:ln w="12700">
                <a:solidFill>
                  <a:srgbClr val="E63946"/>
                </a:solidFill>
                <a:prstDash val="solid"/>
              </a:ln>
            </p:spPr>
          </p:sp>
          <p:sp>
            <p:nvSpPr>
              <p:cNvPr id="130" name="Text 30">
                <a:extLst>
                  <a:ext uri="{FF2B5EF4-FFF2-40B4-BE49-F238E27FC236}">
                    <a16:creationId xmlns:a16="http://schemas.microsoft.com/office/drawing/2014/main" id="{38E7A674-0E43-96CE-23AF-877ADCF59A51}"/>
                  </a:ext>
                </a:extLst>
              </p:cNvPr>
              <p:cNvSpPr/>
              <p:nvPr/>
            </p:nvSpPr>
            <p:spPr>
              <a:xfrm>
                <a:off x="4261104" y="1891353"/>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HTML Form</a:t>
                </a:r>
                <a:endParaRPr lang="en-US" sz="900" dirty="0">
                  <a:latin typeface="Times New Roman" panose="02020603050405020304" pitchFamily="18" charset="0"/>
                  <a:cs typeface="Times New Roman" panose="02020603050405020304" pitchFamily="18" charset="0"/>
                </a:endParaRPr>
              </a:p>
            </p:txBody>
          </p:sp>
          <p:sp>
            <p:nvSpPr>
              <p:cNvPr id="131" name="Text 31">
                <a:extLst>
                  <a:ext uri="{FF2B5EF4-FFF2-40B4-BE49-F238E27FC236}">
                    <a16:creationId xmlns:a16="http://schemas.microsoft.com/office/drawing/2014/main" id="{C8665AED-9B25-E533-9559-9E7E1EBB54B9}"/>
                  </a:ext>
                </a:extLst>
              </p:cNvPr>
              <p:cNvSpPr/>
              <p:nvPr/>
            </p:nvSpPr>
            <p:spPr>
              <a:xfrm>
                <a:off x="4986528" y="190286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2" name="Shape 32">
                <a:extLst>
                  <a:ext uri="{FF2B5EF4-FFF2-40B4-BE49-F238E27FC236}">
                    <a16:creationId xmlns:a16="http://schemas.microsoft.com/office/drawing/2014/main" id="{36843FA5-912D-25FF-8535-B1315F4FA030}"/>
                  </a:ext>
                </a:extLst>
              </p:cNvPr>
              <p:cNvSpPr/>
              <p:nvPr/>
            </p:nvSpPr>
            <p:spPr>
              <a:xfrm>
                <a:off x="4224528" y="2282873"/>
                <a:ext cx="969264" cy="403035"/>
              </a:xfrm>
              <a:prstGeom prst="rect">
                <a:avLst/>
              </a:prstGeom>
              <a:solidFill>
                <a:srgbClr val="E63946">
                  <a:alpha val="20000"/>
                </a:srgbClr>
              </a:solidFill>
              <a:ln w="12700">
                <a:solidFill>
                  <a:srgbClr val="E63946"/>
                </a:solidFill>
                <a:prstDash val="solid"/>
              </a:ln>
            </p:spPr>
          </p:sp>
          <p:sp>
            <p:nvSpPr>
              <p:cNvPr id="133" name="Text 33">
                <a:extLst>
                  <a:ext uri="{FF2B5EF4-FFF2-40B4-BE49-F238E27FC236}">
                    <a16:creationId xmlns:a16="http://schemas.microsoft.com/office/drawing/2014/main" id="{F8117642-8450-8290-4334-E7AE92A73E40}"/>
                  </a:ext>
                </a:extLst>
              </p:cNvPr>
              <p:cNvSpPr/>
              <p:nvPr/>
            </p:nvSpPr>
            <p:spPr>
              <a:xfrm>
                <a:off x="4261104" y="2328934"/>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Template Match</a:t>
                </a:r>
                <a:endParaRPr lang="en-US" sz="900" dirty="0">
                  <a:latin typeface="Times New Roman" panose="02020603050405020304" pitchFamily="18" charset="0"/>
                  <a:cs typeface="Times New Roman" panose="02020603050405020304" pitchFamily="18" charset="0"/>
                </a:endParaRPr>
              </a:p>
            </p:txBody>
          </p:sp>
          <p:sp>
            <p:nvSpPr>
              <p:cNvPr id="134" name="Text 34">
                <a:extLst>
                  <a:ext uri="{FF2B5EF4-FFF2-40B4-BE49-F238E27FC236}">
                    <a16:creationId xmlns:a16="http://schemas.microsoft.com/office/drawing/2014/main" id="{142ECC65-6878-626C-CC46-35F2B8E222C6}"/>
                  </a:ext>
                </a:extLst>
              </p:cNvPr>
              <p:cNvSpPr/>
              <p:nvPr/>
            </p:nvSpPr>
            <p:spPr>
              <a:xfrm>
                <a:off x="4986528" y="2340449"/>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5" name="Shape 35">
                <a:extLst>
                  <a:ext uri="{FF2B5EF4-FFF2-40B4-BE49-F238E27FC236}">
                    <a16:creationId xmlns:a16="http://schemas.microsoft.com/office/drawing/2014/main" id="{297E7093-3D6B-1981-3552-85CD804057F0}"/>
                  </a:ext>
                </a:extLst>
              </p:cNvPr>
              <p:cNvSpPr/>
              <p:nvPr/>
            </p:nvSpPr>
            <p:spPr>
              <a:xfrm>
                <a:off x="4224528" y="2720454"/>
                <a:ext cx="969264" cy="403035"/>
              </a:xfrm>
              <a:prstGeom prst="rect">
                <a:avLst/>
              </a:prstGeom>
              <a:solidFill>
                <a:srgbClr val="E63946">
                  <a:alpha val="20000"/>
                </a:srgbClr>
              </a:solidFill>
              <a:ln w="12700">
                <a:solidFill>
                  <a:srgbClr val="E63946"/>
                </a:solidFill>
                <a:prstDash val="solid"/>
              </a:ln>
            </p:spPr>
          </p:sp>
          <p:sp>
            <p:nvSpPr>
              <p:cNvPr id="136" name="Text 36">
                <a:extLst>
                  <a:ext uri="{FF2B5EF4-FFF2-40B4-BE49-F238E27FC236}">
                    <a16:creationId xmlns:a16="http://schemas.microsoft.com/office/drawing/2014/main" id="{94BD3170-00C3-3D1B-3620-CCF35CDEF004}"/>
                  </a:ext>
                </a:extLst>
              </p:cNvPr>
              <p:cNvSpPr/>
              <p:nvPr/>
            </p:nvSpPr>
            <p:spPr>
              <a:xfrm>
                <a:off x="4261104" y="2766515"/>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Advance Fee</a:t>
                </a:r>
                <a:endParaRPr lang="en-US" sz="900" dirty="0">
                  <a:latin typeface="Times New Roman" panose="02020603050405020304" pitchFamily="18" charset="0"/>
                  <a:cs typeface="Times New Roman" panose="02020603050405020304" pitchFamily="18" charset="0"/>
                </a:endParaRPr>
              </a:p>
            </p:txBody>
          </p:sp>
          <p:sp>
            <p:nvSpPr>
              <p:cNvPr id="137" name="Text 37">
                <a:extLst>
                  <a:ext uri="{FF2B5EF4-FFF2-40B4-BE49-F238E27FC236}">
                    <a16:creationId xmlns:a16="http://schemas.microsoft.com/office/drawing/2014/main" id="{7C960315-0F1E-623E-FDF8-0D23275F555A}"/>
                  </a:ext>
                </a:extLst>
              </p:cNvPr>
              <p:cNvSpPr/>
              <p:nvPr/>
            </p:nvSpPr>
            <p:spPr>
              <a:xfrm>
                <a:off x="4986528" y="277803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8" name="Shape 38">
                <a:extLst>
                  <a:ext uri="{FF2B5EF4-FFF2-40B4-BE49-F238E27FC236}">
                    <a16:creationId xmlns:a16="http://schemas.microsoft.com/office/drawing/2014/main" id="{717D5D7E-464B-B228-0C3B-657591AE31AA}"/>
                  </a:ext>
                </a:extLst>
              </p:cNvPr>
              <p:cNvSpPr/>
              <p:nvPr/>
            </p:nvSpPr>
            <p:spPr>
              <a:xfrm>
                <a:off x="4224528" y="3158036"/>
                <a:ext cx="969264" cy="403035"/>
              </a:xfrm>
              <a:prstGeom prst="rect">
                <a:avLst/>
              </a:prstGeom>
              <a:solidFill>
                <a:srgbClr val="E63946">
                  <a:alpha val="20000"/>
                </a:srgbClr>
              </a:solidFill>
              <a:ln w="12700">
                <a:solidFill>
                  <a:srgbClr val="E63946"/>
                </a:solidFill>
                <a:prstDash val="solid"/>
              </a:ln>
            </p:spPr>
          </p:sp>
          <p:sp>
            <p:nvSpPr>
              <p:cNvPr id="139" name="Text 39">
                <a:extLst>
                  <a:ext uri="{FF2B5EF4-FFF2-40B4-BE49-F238E27FC236}">
                    <a16:creationId xmlns:a16="http://schemas.microsoft.com/office/drawing/2014/main" id="{201782AA-8E4C-BA73-FB94-A4274FDD9B97}"/>
                  </a:ext>
                </a:extLst>
              </p:cNvPr>
              <p:cNvSpPr/>
              <p:nvPr/>
            </p:nvSpPr>
            <p:spPr>
              <a:xfrm>
                <a:off x="4261104" y="3204097"/>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Crypto Bait</a:t>
                </a:r>
                <a:endParaRPr lang="en-US" sz="900" dirty="0">
                  <a:latin typeface="Times New Roman" panose="02020603050405020304" pitchFamily="18" charset="0"/>
                  <a:cs typeface="Times New Roman" panose="02020603050405020304" pitchFamily="18" charset="0"/>
                </a:endParaRPr>
              </a:p>
            </p:txBody>
          </p:sp>
          <p:sp>
            <p:nvSpPr>
              <p:cNvPr id="140" name="Text 40">
                <a:extLst>
                  <a:ext uri="{FF2B5EF4-FFF2-40B4-BE49-F238E27FC236}">
                    <a16:creationId xmlns:a16="http://schemas.microsoft.com/office/drawing/2014/main" id="{4EEB6822-A353-E2B9-3042-F87137E4CDAC}"/>
                  </a:ext>
                </a:extLst>
              </p:cNvPr>
              <p:cNvSpPr/>
              <p:nvPr/>
            </p:nvSpPr>
            <p:spPr>
              <a:xfrm>
                <a:off x="4986528" y="321561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41" name="Shape 41">
                <a:extLst>
                  <a:ext uri="{FF2B5EF4-FFF2-40B4-BE49-F238E27FC236}">
                    <a16:creationId xmlns:a16="http://schemas.microsoft.com/office/drawing/2014/main" id="{945004E0-EC10-5BE3-9932-B9988EC93796}"/>
                  </a:ext>
                </a:extLst>
              </p:cNvPr>
              <p:cNvSpPr/>
              <p:nvPr/>
            </p:nvSpPr>
            <p:spPr>
              <a:xfrm>
                <a:off x="4224528" y="3595617"/>
                <a:ext cx="969264" cy="403035"/>
              </a:xfrm>
              <a:prstGeom prst="rect">
                <a:avLst/>
              </a:prstGeom>
              <a:solidFill>
                <a:srgbClr val="F4A261">
                  <a:alpha val="20000"/>
                </a:srgbClr>
              </a:solidFill>
              <a:ln w="12700">
                <a:solidFill>
                  <a:srgbClr val="F4A261"/>
                </a:solidFill>
                <a:prstDash val="solid"/>
              </a:ln>
            </p:spPr>
          </p:sp>
          <p:sp>
            <p:nvSpPr>
              <p:cNvPr id="142" name="Text 42">
                <a:extLst>
                  <a:ext uri="{FF2B5EF4-FFF2-40B4-BE49-F238E27FC236}">
                    <a16:creationId xmlns:a16="http://schemas.microsoft.com/office/drawing/2014/main" id="{ADD92398-14FE-1200-DD41-885E0326239F}"/>
                  </a:ext>
                </a:extLst>
              </p:cNvPr>
              <p:cNvSpPr/>
              <p:nvPr/>
            </p:nvSpPr>
            <p:spPr>
              <a:xfrm>
                <a:off x="4261104" y="3641678"/>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Suspicious URL</a:t>
                </a:r>
                <a:endParaRPr lang="en-US" sz="900" dirty="0">
                  <a:latin typeface="Times New Roman" panose="02020603050405020304" pitchFamily="18" charset="0"/>
                  <a:cs typeface="Times New Roman" panose="02020603050405020304" pitchFamily="18" charset="0"/>
                </a:endParaRPr>
              </a:p>
            </p:txBody>
          </p:sp>
          <p:sp>
            <p:nvSpPr>
              <p:cNvPr id="143" name="Text 43">
                <a:extLst>
                  <a:ext uri="{FF2B5EF4-FFF2-40B4-BE49-F238E27FC236}">
                    <a16:creationId xmlns:a16="http://schemas.microsoft.com/office/drawing/2014/main" id="{2FD5992F-4F56-B24C-8C90-92E358421153}"/>
                  </a:ext>
                </a:extLst>
              </p:cNvPr>
              <p:cNvSpPr/>
              <p:nvPr/>
            </p:nvSpPr>
            <p:spPr>
              <a:xfrm>
                <a:off x="4986528" y="3653193"/>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4" name="Shape 44">
                <a:extLst>
                  <a:ext uri="{FF2B5EF4-FFF2-40B4-BE49-F238E27FC236}">
                    <a16:creationId xmlns:a16="http://schemas.microsoft.com/office/drawing/2014/main" id="{80A36945-038E-10DC-55BC-36E8B00EC270}"/>
                  </a:ext>
                </a:extLst>
              </p:cNvPr>
              <p:cNvSpPr/>
              <p:nvPr/>
            </p:nvSpPr>
            <p:spPr>
              <a:xfrm>
                <a:off x="4224528" y="4033198"/>
                <a:ext cx="969264" cy="403035"/>
              </a:xfrm>
              <a:prstGeom prst="rect">
                <a:avLst/>
              </a:prstGeom>
              <a:solidFill>
                <a:srgbClr val="F4A261">
                  <a:alpha val="20000"/>
                </a:srgbClr>
              </a:solidFill>
              <a:ln w="12700">
                <a:solidFill>
                  <a:srgbClr val="F4A261"/>
                </a:solidFill>
                <a:prstDash val="solid"/>
              </a:ln>
            </p:spPr>
          </p:sp>
          <p:sp>
            <p:nvSpPr>
              <p:cNvPr id="145" name="Text 45">
                <a:extLst>
                  <a:ext uri="{FF2B5EF4-FFF2-40B4-BE49-F238E27FC236}">
                    <a16:creationId xmlns:a16="http://schemas.microsoft.com/office/drawing/2014/main" id="{E19586CA-5552-DF29-812C-5BF1AD0EEEEC}"/>
                  </a:ext>
                </a:extLst>
              </p:cNvPr>
              <p:cNvSpPr/>
              <p:nvPr/>
            </p:nvSpPr>
            <p:spPr>
              <a:xfrm>
                <a:off x="4261104" y="4079259"/>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Brand Spoofing</a:t>
                </a:r>
                <a:endParaRPr lang="en-US" sz="900" dirty="0">
                  <a:latin typeface="Times New Roman" panose="02020603050405020304" pitchFamily="18" charset="0"/>
                  <a:cs typeface="Times New Roman" panose="02020603050405020304" pitchFamily="18" charset="0"/>
                </a:endParaRPr>
              </a:p>
            </p:txBody>
          </p:sp>
          <p:sp>
            <p:nvSpPr>
              <p:cNvPr id="146" name="Text 46">
                <a:extLst>
                  <a:ext uri="{FF2B5EF4-FFF2-40B4-BE49-F238E27FC236}">
                    <a16:creationId xmlns:a16="http://schemas.microsoft.com/office/drawing/2014/main" id="{6A7C78B8-3E58-D7F6-8915-E0A37AECE975}"/>
                  </a:ext>
                </a:extLst>
              </p:cNvPr>
              <p:cNvSpPr/>
              <p:nvPr/>
            </p:nvSpPr>
            <p:spPr>
              <a:xfrm>
                <a:off x="4986528" y="409077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7" name="Shape 47">
                <a:extLst>
                  <a:ext uri="{FF2B5EF4-FFF2-40B4-BE49-F238E27FC236}">
                    <a16:creationId xmlns:a16="http://schemas.microsoft.com/office/drawing/2014/main" id="{50E9308E-7EFA-C6FD-AF29-9872A369CE3E}"/>
                  </a:ext>
                </a:extLst>
              </p:cNvPr>
              <p:cNvSpPr/>
              <p:nvPr/>
            </p:nvSpPr>
            <p:spPr>
              <a:xfrm>
                <a:off x="5340094" y="1850409"/>
                <a:ext cx="987554" cy="397918"/>
              </a:xfrm>
              <a:prstGeom prst="rect">
                <a:avLst/>
              </a:prstGeom>
              <a:solidFill>
                <a:srgbClr val="F4A261">
                  <a:alpha val="20000"/>
                </a:srgbClr>
              </a:solidFill>
              <a:ln w="12700">
                <a:solidFill>
                  <a:srgbClr val="F4A261"/>
                </a:solidFill>
                <a:prstDash val="solid"/>
              </a:ln>
            </p:spPr>
          </p:sp>
          <p:sp>
            <p:nvSpPr>
              <p:cNvPr id="148" name="Text 48">
                <a:extLst>
                  <a:ext uri="{FF2B5EF4-FFF2-40B4-BE49-F238E27FC236}">
                    <a16:creationId xmlns:a16="http://schemas.microsoft.com/office/drawing/2014/main" id="{A4ECAF23-9F59-FD74-A5D9-6DECB438344B}"/>
                  </a:ext>
                </a:extLst>
              </p:cNvPr>
              <p:cNvSpPr/>
              <p:nvPr/>
            </p:nvSpPr>
            <p:spPr>
              <a:xfrm>
                <a:off x="5376670" y="1896470"/>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Sender Mismatch</a:t>
                </a:r>
                <a:endParaRPr lang="en-US" sz="900" dirty="0">
                  <a:latin typeface="Times New Roman" panose="02020603050405020304" pitchFamily="18" charset="0"/>
                  <a:cs typeface="Times New Roman" panose="02020603050405020304" pitchFamily="18" charset="0"/>
                </a:endParaRPr>
              </a:p>
            </p:txBody>
          </p:sp>
          <p:sp>
            <p:nvSpPr>
              <p:cNvPr id="149" name="Text 49">
                <a:extLst>
                  <a:ext uri="{FF2B5EF4-FFF2-40B4-BE49-F238E27FC236}">
                    <a16:creationId xmlns:a16="http://schemas.microsoft.com/office/drawing/2014/main" id="{DA0C2536-99A4-D6BF-8DF4-93639358312B}"/>
                  </a:ext>
                </a:extLst>
              </p:cNvPr>
              <p:cNvSpPr/>
              <p:nvPr/>
            </p:nvSpPr>
            <p:spPr>
              <a:xfrm>
                <a:off x="6137656" y="191054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0" name="Shape 50">
                <a:extLst>
                  <a:ext uri="{FF2B5EF4-FFF2-40B4-BE49-F238E27FC236}">
                    <a16:creationId xmlns:a16="http://schemas.microsoft.com/office/drawing/2014/main" id="{FE8E42E7-7459-9791-53F3-19467FDA338F}"/>
                  </a:ext>
                </a:extLst>
              </p:cNvPr>
              <p:cNvSpPr/>
              <p:nvPr/>
            </p:nvSpPr>
            <p:spPr>
              <a:xfrm>
                <a:off x="5340094" y="2287990"/>
                <a:ext cx="987554" cy="397918"/>
              </a:xfrm>
              <a:prstGeom prst="rect">
                <a:avLst/>
              </a:prstGeom>
              <a:solidFill>
                <a:srgbClr val="F4C842">
                  <a:alpha val="20000"/>
                </a:srgbClr>
              </a:solidFill>
              <a:ln w="12700">
                <a:solidFill>
                  <a:srgbClr val="F4C842"/>
                </a:solidFill>
                <a:prstDash val="solid"/>
              </a:ln>
            </p:spPr>
          </p:sp>
          <p:sp>
            <p:nvSpPr>
              <p:cNvPr id="151" name="Text 51">
                <a:extLst>
                  <a:ext uri="{FF2B5EF4-FFF2-40B4-BE49-F238E27FC236}">
                    <a16:creationId xmlns:a16="http://schemas.microsoft.com/office/drawing/2014/main" id="{DC7C43AE-3177-D2E9-FF25-9CD8FEB44A2F}"/>
                  </a:ext>
                </a:extLst>
              </p:cNvPr>
              <p:cNvSpPr/>
              <p:nvPr/>
            </p:nvSpPr>
            <p:spPr>
              <a:xfrm>
                <a:off x="5376670" y="2334051"/>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SPF / DKIM Fail</a:t>
                </a:r>
                <a:endParaRPr lang="en-US" sz="900" dirty="0">
                  <a:latin typeface="Times New Roman" panose="02020603050405020304" pitchFamily="18" charset="0"/>
                  <a:cs typeface="Times New Roman" panose="02020603050405020304" pitchFamily="18" charset="0"/>
                </a:endParaRPr>
              </a:p>
            </p:txBody>
          </p:sp>
          <p:sp>
            <p:nvSpPr>
              <p:cNvPr id="152" name="Text 52">
                <a:extLst>
                  <a:ext uri="{FF2B5EF4-FFF2-40B4-BE49-F238E27FC236}">
                    <a16:creationId xmlns:a16="http://schemas.microsoft.com/office/drawing/2014/main" id="{D0663BBD-D359-2158-AAA7-020619A85D2C}"/>
                  </a:ext>
                </a:extLst>
              </p:cNvPr>
              <p:cNvSpPr/>
              <p:nvPr/>
            </p:nvSpPr>
            <p:spPr>
              <a:xfrm>
                <a:off x="6137656" y="2348126"/>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3" name="Shape 53">
                <a:extLst>
                  <a:ext uri="{FF2B5EF4-FFF2-40B4-BE49-F238E27FC236}">
                    <a16:creationId xmlns:a16="http://schemas.microsoft.com/office/drawing/2014/main" id="{1D75BCD2-854B-507D-ADC3-46060B895592}"/>
                  </a:ext>
                </a:extLst>
              </p:cNvPr>
              <p:cNvSpPr/>
              <p:nvPr/>
            </p:nvSpPr>
            <p:spPr>
              <a:xfrm>
                <a:off x="5340094" y="2725571"/>
                <a:ext cx="987554" cy="397918"/>
              </a:xfrm>
              <a:prstGeom prst="rect">
                <a:avLst/>
              </a:prstGeom>
              <a:solidFill>
                <a:srgbClr val="00B4D8">
                  <a:alpha val="20000"/>
                </a:srgbClr>
              </a:solidFill>
              <a:ln w="12700">
                <a:solidFill>
                  <a:srgbClr val="00B4D8"/>
                </a:solidFill>
                <a:prstDash val="solid"/>
              </a:ln>
            </p:spPr>
          </p:sp>
          <p:sp>
            <p:nvSpPr>
              <p:cNvPr id="154" name="Text 54">
                <a:extLst>
                  <a:ext uri="{FF2B5EF4-FFF2-40B4-BE49-F238E27FC236}">
                    <a16:creationId xmlns:a16="http://schemas.microsoft.com/office/drawing/2014/main" id="{3914278E-02C0-13D6-2669-F1FC8D835C4D}"/>
                  </a:ext>
                </a:extLst>
              </p:cNvPr>
              <p:cNvSpPr/>
              <p:nvPr/>
            </p:nvSpPr>
            <p:spPr>
              <a:xfrm>
                <a:off x="5376670" y="2771632"/>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Urgency Language</a:t>
                </a:r>
                <a:endParaRPr lang="en-US" sz="900" dirty="0">
                  <a:latin typeface="Times New Roman" panose="02020603050405020304" pitchFamily="18" charset="0"/>
                  <a:cs typeface="Times New Roman" panose="02020603050405020304" pitchFamily="18" charset="0"/>
                </a:endParaRPr>
              </a:p>
            </p:txBody>
          </p:sp>
          <p:sp>
            <p:nvSpPr>
              <p:cNvPr id="155" name="Text 55">
                <a:extLst>
                  <a:ext uri="{FF2B5EF4-FFF2-40B4-BE49-F238E27FC236}">
                    <a16:creationId xmlns:a16="http://schemas.microsoft.com/office/drawing/2014/main" id="{F0D47145-47B2-8642-C6B2-DBF1A1446A39}"/>
                  </a:ext>
                </a:extLst>
              </p:cNvPr>
              <p:cNvSpPr/>
              <p:nvPr/>
            </p:nvSpPr>
            <p:spPr>
              <a:xfrm>
                <a:off x="6137656" y="278570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6" name="Shape 56">
                <a:extLst>
                  <a:ext uri="{FF2B5EF4-FFF2-40B4-BE49-F238E27FC236}">
                    <a16:creationId xmlns:a16="http://schemas.microsoft.com/office/drawing/2014/main" id="{D644F6E3-6A7F-8952-9765-FA0C5FA058AE}"/>
                  </a:ext>
                </a:extLst>
              </p:cNvPr>
              <p:cNvSpPr/>
              <p:nvPr/>
            </p:nvSpPr>
            <p:spPr>
              <a:xfrm>
                <a:off x="5340094" y="3163153"/>
                <a:ext cx="987554" cy="397918"/>
              </a:xfrm>
              <a:prstGeom prst="rect">
                <a:avLst/>
              </a:prstGeom>
              <a:solidFill>
                <a:srgbClr val="00B4D8">
                  <a:alpha val="20000"/>
                </a:srgbClr>
              </a:solidFill>
              <a:ln w="12700">
                <a:solidFill>
                  <a:srgbClr val="00B4D8"/>
                </a:solidFill>
                <a:prstDash val="solid"/>
              </a:ln>
            </p:spPr>
          </p:sp>
          <p:sp>
            <p:nvSpPr>
              <p:cNvPr id="157" name="Text 57">
                <a:extLst>
                  <a:ext uri="{FF2B5EF4-FFF2-40B4-BE49-F238E27FC236}">
                    <a16:creationId xmlns:a16="http://schemas.microsoft.com/office/drawing/2014/main" id="{DE0A3BC3-8E8C-8CAD-D994-81A6C71738F0}"/>
                  </a:ext>
                </a:extLst>
              </p:cNvPr>
              <p:cNvSpPr/>
              <p:nvPr/>
            </p:nvSpPr>
            <p:spPr>
              <a:xfrm>
                <a:off x="5376670" y="3209214"/>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Language Score</a:t>
                </a:r>
                <a:endParaRPr lang="en-US" sz="900" dirty="0">
                  <a:latin typeface="Times New Roman" panose="02020603050405020304" pitchFamily="18" charset="0"/>
                  <a:cs typeface="Times New Roman" panose="02020603050405020304" pitchFamily="18" charset="0"/>
                </a:endParaRPr>
              </a:p>
            </p:txBody>
          </p:sp>
          <p:sp>
            <p:nvSpPr>
              <p:cNvPr id="158" name="Text 58">
                <a:extLst>
                  <a:ext uri="{FF2B5EF4-FFF2-40B4-BE49-F238E27FC236}">
                    <a16:creationId xmlns:a16="http://schemas.microsoft.com/office/drawing/2014/main" id="{3115EB75-8945-0B6B-A0A9-22AA5E4B83A9}"/>
                  </a:ext>
                </a:extLst>
              </p:cNvPr>
              <p:cNvSpPr/>
              <p:nvPr/>
            </p:nvSpPr>
            <p:spPr>
              <a:xfrm>
                <a:off x="6137656" y="3223288"/>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9" name="Shape 59">
                <a:extLst>
                  <a:ext uri="{FF2B5EF4-FFF2-40B4-BE49-F238E27FC236}">
                    <a16:creationId xmlns:a16="http://schemas.microsoft.com/office/drawing/2014/main" id="{98F8CE5A-32DD-32D8-C5B3-DBC748EC92A1}"/>
                  </a:ext>
                </a:extLst>
              </p:cNvPr>
              <p:cNvSpPr/>
              <p:nvPr/>
            </p:nvSpPr>
            <p:spPr>
              <a:xfrm>
                <a:off x="5340094" y="3600734"/>
                <a:ext cx="987554" cy="397918"/>
              </a:xfrm>
              <a:prstGeom prst="rect">
                <a:avLst/>
              </a:prstGeom>
              <a:solidFill>
                <a:srgbClr val="00B4D8">
                  <a:alpha val="20000"/>
                </a:srgbClr>
              </a:solidFill>
              <a:ln w="12700">
                <a:solidFill>
                  <a:srgbClr val="00B4D8"/>
                </a:solidFill>
                <a:prstDash val="solid"/>
              </a:ln>
            </p:spPr>
          </p:sp>
          <p:sp>
            <p:nvSpPr>
              <p:cNvPr id="160" name="Text 60">
                <a:extLst>
                  <a:ext uri="{FF2B5EF4-FFF2-40B4-BE49-F238E27FC236}">
                    <a16:creationId xmlns:a16="http://schemas.microsoft.com/office/drawing/2014/main" id="{D539845A-754F-F82B-2AF9-BD5C8DE0FFB9}"/>
                  </a:ext>
                </a:extLst>
              </p:cNvPr>
              <p:cNvSpPr/>
              <p:nvPr/>
            </p:nvSpPr>
            <p:spPr>
              <a:xfrm>
                <a:off x="5376670" y="3646795"/>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Sentiment</a:t>
                </a:r>
                <a:endParaRPr lang="en-US" sz="900" dirty="0">
                  <a:latin typeface="Times New Roman" panose="02020603050405020304" pitchFamily="18" charset="0"/>
                  <a:cs typeface="Times New Roman" panose="02020603050405020304" pitchFamily="18" charset="0"/>
                </a:endParaRPr>
              </a:p>
            </p:txBody>
          </p:sp>
          <p:sp>
            <p:nvSpPr>
              <p:cNvPr id="161" name="Text 61">
                <a:extLst>
                  <a:ext uri="{FF2B5EF4-FFF2-40B4-BE49-F238E27FC236}">
                    <a16:creationId xmlns:a16="http://schemas.microsoft.com/office/drawing/2014/main" id="{CEBC7172-25D2-9145-B169-262E2E924FEF}"/>
                  </a:ext>
                </a:extLst>
              </p:cNvPr>
              <p:cNvSpPr/>
              <p:nvPr/>
            </p:nvSpPr>
            <p:spPr>
              <a:xfrm>
                <a:off x="6137656" y="366087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62" name="Shape 62">
                <a:extLst>
                  <a:ext uri="{FF2B5EF4-FFF2-40B4-BE49-F238E27FC236}">
                    <a16:creationId xmlns:a16="http://schemas.microsoft.com/office/drawing/2014/main" id="{591CE814-3A22-D286-F3C2-7DAD7AB287E0}"/>
                  </a:ext>
                </a:extLst>
              </p:cNvPr>
              <p:cNvSpPr/>
              <p:nvPr/>
            </p:nvSpPr>
            <p:spPr>
              <a:xfrm>
                <a:off x="5340094" y="4038315"/>
                <a:ext cx="987554" cy="397918"/>
              </a:xfrm>
              <a:prstGeom prst="rect">
                <a:avLst/>
              </a:prstGeom>
              <a:solidFill>
                <a:srgbClr val="F4A261">
                  <a:alpha val="20000"/>
                </a:srgbClr>
              </a:solidFill>
              <a:ln w="12700">
                <a:solidFill>
                  <a:srgbClr val="F4A261"/>
                </a:solidFill>
                <a:prstDash val="solid"/>
              </a:ln>
            </p:spPr>
          </p:sp>
          <p:sp>
            <p:nvSpPr>
              <p:cNvPr id="163" name="Text 63">
                <a:extLst>
                  <a:ext uri="{FF2B5EF4-FFF2-40B4-BE49-F238E27FC236}">
                    <a16:creationId xmlns:a16="http://schemas.microsoft.com/office/drawing/2014/main" id="{AA26A35A-DD5C-0D7D-1FD1-DD90879BABBE}"/>
                  </a:ext>
                </a:extLst>
              </p:cNvPr>
              <p:cNvSpPr/>
              <p:nvPr/>
            </p:nvSpPr>
            <p:spPr>
              <a:xfrm>
                <a:off x="5376670" y="4084376"/>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Free Email Abuse</a:t>
                </a:r>
                <a:endParaRPr lang="en-US" sz="900" dirty="0">
                  <a:latin typeface="Times New Roman" panose="02020603050405020304" pitchFamily="18" charset="0"/>
                  <a:cs typeface="Times New Roman" panose="02020603050405020304" pitchFamily="18" charset="0"/>
                </a:endParaRPr>
              </a:p>
            </p:txBody>
          </p:sp>
          <p:sp>
            <p:nvSpPr>
              <p:cNvPr id="164" name="Text 64">
                <a:extLst>
                  <a:ext uri="{FF2B5EF4-FFF2-40B4-BE49-F238E27FC236}">
                    <a16:creationId xmlns:a16="http://schemas.microsoft.com/office/drawing/2014/main" id="{A31CA625-D349-C423-6708-8A1F11E1FEF4}"/>
                  </a:ext>
                </a:extLst>
              </p:cNvPr>
              <p:cNvSpPr/>
              <p:nvPr/>
            </p:nvSpPr>
            <p:spPr>
              <a:xfrm>
                <a:off x="6137656" y="409845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grpSp>
        <p:sp>
          <p:nvSpPr>
            <p:cNvPr id="199" name="Rectangle 198">
              <a:extLst>
                <a:ext uri="{FF2B5EF4-FFF2-40B4-BE49-F238E27FC236}">
                  <a16:creationId xmlns:a16="http://schemas.microsoft.com/office/drawing/2014/main" id="{8EA21C65-35A7-7956-F9BA-426D0E37EC5D}"/>
                </a:ext>
              </a:extLst>
            </p:cNvPr>
            <p:cNvSpPr/>
            <p:nvPr/>
          </p:nvSpPr>
          <p:spPr>
            <a:xfrm>
              <a:off x="4109994" y="1420414"/>
              <a:ext cx="2522945" cy="330441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45" name="Rectangle 244">
              <a:extLst>
                <a:ext uri="{FF2B5EF4-FFF2-40B4-BE49-F238E27FC236}">
                  <a16:creationId xmlns:a16="http://schemas.microsoft.com/office/drawing/2014/main" id="{ACCCE271-AA5D-723E-71CB-3056582B8156}"/>
                </a:ext>
              </a:extLst>
            </p:cNvPr>
            <p:cNvSpPr/>
            <p:nvPr/>
          </p:nvSpPr>
          <p:spPr>
            <a:xfrm>
              <a:off x="7065913" y="1598607"/>
              <a:ext cx="1463040" cy="259530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0" name="Rectangle 199">
              <a:extLst>
                <a:ext uri="{FF2B5EF4-FFF2-40B4-BE49-F238E27FC236}">
                  <a16:creationId xmlns:a16="http://schemas.microsoft.com/office/drawing/2014/main" id="{86199203-2FA1-F623-6F21-17DA3E57ADBE}"/>
                </a:ext>
              </a:extLst>
            </p:cNvPr>
            <p:cNvSpPr/>
            <p:nvPr/>
          </p:nvSpPr>
          <p:spPr>
            <a:xfrm>
              <a:off x="4104389" y="1430403"/>
              <a:ext cx="2515867" cy="10397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3" name="Rectangle 202">
              <a:extLst>
                <a:ext uri="{FF2B5EF4-FFF2-40B4-BE49-F238E27FC236}">
                  <a16:creationId xmlns:a16="http://schemas.microsoft.com/office/drawing/2014/main" id="{222611A5-9EAF-A51B-EC2E-F575F17E1B0E}"/>
                </a:ext>
              </a:extLst>
            </p:cNvPr>
            <p:cNvSpPr/>
            <p:nvPr/>
          </p:nvSpPr>
          <p:spPr>
            <a:xfrm>
              <a:off x="9086083" y="1634359"/>
              <a:ext cx="1350269" cy="3301798"/>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4" name="Rectangle 203">
              <a:extLst>
                <a:ext uri="{FF2B5EF4-FFF2-40B4-BE49-F238E27FC236}">
                  <a16:creationId xmlns:a16="http://schemas.microsoft.com/office/drawing/2014/main" id="{227D5CA6-935B-9F62-FAD2-EC751F3E7FAD}"/>
                </a:ext>
              </a:extLst>
            </p:cNvPr>
            <p:cNvSpPr/>
            <p:nvPr/>
          </p:nvSpPr>
          <p:spPr>
            <a:xfrm>
              <a:off x="9102104" y="1650197"/>
              <a:ext cx="1342895" cy="11206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sp>
          <p:nvSpPr>
            <p:cNvPr id="247" name="Rectangle 246">
              <a:extLst>
                <a:ext uri="{FF2B5EF4-FFF2-40B4-BE49-F238E27FC236}">
                  <a16:creationId xmlns:a16="http://schemas.microsoft.com/office/drawing/2014/main" id="{4CC72701-1F13-7FF5-FAD4-D7301332BAC9}"/>
                </a:ext>
              </a:extLst>
            </p:cNvPr>
            <p:cNvSpPr/>
            <p:nvPr/>
          </p:nvSpPr>
          <p:spPr>
            <a:xfrm>
              <a:off x="7079751" y="1606440"/>
              <a:ext cx="1433181" cy="13476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r>
                <a:rPr lang="en-GB" sz="2000" b="1" dirty="0">
                  <a:latin typeface="Times New Roman" panose="02020603050405020304" pitchFamily="18" charset="0"/>
                  <a:ea typeface="Calibri" pitchFamily="34" charset="-122"/>
                  <a:cs typeface="Times New Roman" panose="02020603050405020304" pitchFamily="18" charset="0"/>
                </a:rPr>
                <a:t>Bulk Email Analysis &gt; Per Email Analysis</a:t>
              </a:r>
              <a:endParaRPr lang="en-US" sz="2000" b="1" dirty="0">
                <a:latin typeface="Times New Roman" panose="02020603050405020304" pitchFamily="18" charset="0"/>
                <a:ea typeface="Calibri" pitchFamily="34" charset="-122"/>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TM03457515[[fn=View]]</Template>
  <TotalTime>241</TotalTime>
  <Words>1117</Words>
  <Application>Microsoft Office PowerPoint</Application>
  <PresentationFormat>Widescreen</PresentationFormat>
  <Paragraphs>212</Paragraphs>
  <Slides>9</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Century Schoolbook</vt:lpstr>
      <vt:lpstr>Times New Roman</vt:lpstr>
      <vt:lpstr>Wingdings</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51</cp:revision>
  <dcterms:created xsi:type="dcterms:W3CDTF">2026-04-12T06:16:11Z</dcterms:created>
  <dcterms:modified xsi:type="dcterms:W3CDTF">2026-04-25T06:38:35Z</dcterms:modified>
</cp:coreProperties>
</file>