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8" r:id="rId2"/>
    <p:sldId id="256" r:id="rId3"/>
    <p:sldId id="259" r:id="rId4"/>
    <p:sldId id="260" r:id="rId5"/>
    <p:sldId id="264" r:id="rId6"/>
    <p:sldId id="261" r:id="rId7"/>
    <p:sldId id="262" r:id="rId8"/>
    <p:sldId id="263" r:id="rId9"/>
    <p:sldId id="265"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033" autoAdjust="0"/>
  </p:normalViewPr>
  <p:slideViewPr>
    <p:cSldViewPr snapToGrid="0">
      <p:cViewPr varScale="1">
        <p:scale>
          <a:sx n="82" d="100"/>
          <a:sy n="82" d="100"/>
        </p:scale>
        <p:origin x="72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B04D14A0-AE39-4FDC-BCBA-1D6173085475}" type="datetimeFigureOut">
              <a:rPr lang="en-GB" smtClean="0"/>
              <a:t>17/04/2026</a:t>
            </a:fld>
            <a:endParaRPr lang="en-GB"/>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GB"/>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B3B73876-B736-48A4-8BC2-4B3688AD695D}" type="slidenum">
              <a:rPr lang="en-GB" smtClean="0"/>
              <a:t>‹#›</a:t>
            </a:fld>
            <a:endParaRPr lang="en-GB"/>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50389931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17/04/2026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9647572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04D14A0-AE39-4FDC-BCBA-1D6173085475}" type="datetimeFigureOut">
              <a:rPr lang="en-GB" smtClean="0"/>
              <a:t>17/04/2026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782954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04D14A0-AE39-4FDC-BCBA-1D6173085475}" type="datetimeFigureOut">
              <a:rPr lang="en-GB" smtClean="0"/>
              <a:t>17/04/2026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1415779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04D14A0-AE39-4FDC-BCBA-1D6173085475}" type="datetimeFigureOut">
              <a:rPr lang="en-GB" smtClean="0"/>
              <a:t>17/04/2026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7099023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04D14A0-AE39-4FDC-BCBA-1D6173085475}" type="datetimeFigureOut">
              <a:rPr lang="en-GB" smtClean="0"/>
              <a:t>17/04/2026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1616804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04D14A0-AE39-4FDC-BCBA-1D6173085475}" type="datetimeFigureOut">
              <a:rPr lang="en-GB" smtClean="0"/>
              <a:t>17/04/2026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061772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04D14A0-AE39-4FDC-BCBA-1D6173085475}" type="datetimeFigureOut">
              <a:rPr lang="en-GB" smtClean="0"/>
              <a:t>17/04/2026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1422591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04D14A0-AE39-4FDC-BCBA-1D6173085475}" type="datetimeFigureOut">
              <a:rPr lang="en-GB" smtClean="0"/>
              <a:t>17/04/2026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6278434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17/04/2026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042793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17/04/2026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9196926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B04D14A0-AE39-4FDC-BCBA-1D6173085475}" type="datetimeFigureOut">
              <a:rPr lang="en-GB" smtClean="0"/>
              <a:t>17/04/2026</a:t>
            </a:fld>
            <a:endParaRPr lang="en-GB"/>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GB"/>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B3B73876-B736-48A4-8BC2-4B3688AD695D}" type="slidenum">
              <a:rPr lang="en-GB" smtClean="0"/>
              <a:t>‹#›</a:t>
            </a:fld>
            <a:endParaRPr lang="en-GB"/>
          </a:p>
        </p:txBody>
      </p:sp>
    </p:spTree>
    <p:extLst>
      <p:ext uri="{BB962C8B-B14F-4D97-AF65-F5344CB8AC3E}">
        <p14:creationId xmlns:p14="http://schemas.microsoft.com/office/powerpoint/2010/main" val="26882320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36881-D929-2ABD-E048-58DD14EDC5AD}"/>
              </a:ext>
            </a:extLst>
          </p:cNvPr>
          <p:cNvSpPr>
            <a:spLocks noGrp="1"/>
          </p:cNvSpPr>
          <p:nvPr>
            <p:ph type="ctrTitle"/>
          </p:nvPr>
        </p:nvSpPr>
        <p:spPr>
          <a:xfrm>
            <a:off x="1261872" y="758952"/>
            <a:ext cx="9418320" cy="3380429"/>
          </a:xfrm>
        </p:spPr>
        <p:txBody>
          <a:bodyPr>
            <a:normAutofit/>
          </a:bodyPr>
          <a:lstStyle/>
          <a:p>
            <a:pPr algn="r"/>
            <a:r>
              <a:rPr lang="en-IN" sz="5400" b="1" dirty="0" err="1"/>
              <a:t>PhishGuard</a:t>
            </a:r>
            <a:br>
              <a:rPr lang="en-IN" sz="5400" dirty="0"/>
            </a:br>
            <a:br>
              <a:rPr lang="en-IN" sz="5400" dirty="0"/>
            </a:br>
            <a:r>
              <a:rPr lang="en-IN" sz="4400" dirty="0"/>
              <a:t>Rule Based Email Security</a:t>
            </a:r>
            <a:br>
              <a:rPr lang="en-IN" sz="5400" dirty="0"/>
            </a:br>
            <a:r>
              <a:rPr lang="en-US" sz="2800" dirty="0">
                <a:solidFill>
                  <a:srgbClr val="D0E4F5"/>
                </a:solidFill>
                <a:latin typeface="Calibri" pitchFamily="34" charset="0"/>
                <a:ea typeface="Calibri" pitchFamily="34" charset="-122"/>
                <a:cs typeface="Calibri" pitchFamily="34" charset="-120"/>
              </a:rPr>
              <a:t>Phishing Detection &amp; Data Loss Prevention</a:t>
            </a:r>
            <a:br>
              <a:rPr lang="en-US" sz="2800" dirty="0">
                <a:solidFill>
                  <a:srgbClr val="D0E4F5"/>
                </a:solidFill>
                <a:latin typeface="Calibri" pitchFamily="34" charset="0"/>
                <a:ea typeface="Calibri" pitchFamily="34" charset="-122"/>
                <a:cs typeface="Calibri" pitchFamily="34" charset="-120"/>
              </a:rPr>
            </a:br>
            <a:r>
              <a:rPr lang="en-GB" sz="1800" dirty="0"/>
              <a:t>“Detect. Defend. Prevent.”</a:t>
            </a:r>
            <a:endParaRPr lang="en-GB" sz="5400" dirty="0"/>
          </a:p>
        </p:txBody>
      </p:sp>
      <p:sp>
        <p:nvSpPr>
          <p:cNvPr id="3" name="Subtitle 2">
            <a:extLst>
              <a:ext uri="{FF2B5EF4-FFF2-40B4-BE49-F238E27FC236}">
                <a16:creationId xmlns:a16="http://schemas.microsoft.com/office/drawing/2014/main" id="{B09294AC-A1B6-DA53-8998-A669F9FA1E3D}"/>
              </a:ext>
            </a:extLst>
          </p:cNvPr>
          <p:cNvSpPr>
            <a:spLocks noGrp="1"/>
          </p:cNvSpPr>
          <p:nvPr>
            <p:ph type="subTitle" idx="1"/>
          </p:nvPr>
        </p:nvSpPr>
        <p:spPr>
          <a:xfrm>
            <a:off x="1261872" y="4444181"/>
            <a:ext cx="9418320" cy="2048059"/>
          </a:xfrm>
        </p:spPr>
        <p:txBody>
          <a:bodyPr>
            <a:normAutofit fontScale="92500" lnSpcReduction="10000"/>
          </a:bodyPr>
          <a:lstStyle/>
          <a:p>
            <a:r>
              <a:rPr lang="en-IN" sz="1800" dirty="0">
                <a:solidFill>
                  <a:schemeClr val="tx1"/>
                </a:solidFill>
              </a:rPr>
              <a:t>- Presented By</a:t>
            </a:r>
          </a:p>
          <a:p>
            <a:r>
              <a:rPr lang="en-IN" sz="1800" dirty="0">
                <a:solidFill>
                  <a:schemeClr val="tx1"/>
                </a:solidFill>
              </a:rPr>
              <a:t>Amin Preet Avanish – 23000771 </a:t>
            </a:r>
          </a:p>
          <a:p>
            <a:r>
              <a:rPr lang="en-GB" sz="1800" dirty="0">
                <a:solidFill>
                  <a:schemeClr val="tx1"/>
                </a:solidFill>
              </a:rPr>
              <a:t>Parisha </a:t>
            </a:r>
            <a:r>
              <a:rPr lang="en-GB" sz="1800" dirty="0" err="1">
                <a:solidFill>
                  <a:schemeClr val="tx1"/>
                </a:solidFill>
              </a:rPr>
              <a:t>Bhupendrabhai</a:t>
            </a:r>
            <a:r>
              <a:rPr lang="en-GB" sz="1800" dirty="0">
                <a:solidFill>
                  <a:schemeClr val="tx1"/>
                </a:solidFill>
              </a:rPr>
              <a:t> Parmar – 23001101 </a:t>
            </a:r>
          </a:p>
          <a:p>
            <a:r>
              <a:rPr lang="en-GB" sz="1800" dirty="0">
                <a:solidFill>
                  <a:schemeClr val="tx1"/>
                </a:solidFill>
              </a:rPr>
              <a:t>Maharshi Kalpesh Brahmbhatt – 23001092 </a:t>
            </a:r>
          </a:p>
          <a:p>
            <a:r>
              <a:rPr lang="en-GB" sz="1800" dirty="0" err="1">
                <a:solidFill>
                  <a:schemeClr val="tx1"/>
                </a:solidFill>
              </a:rPr>
              <a:t>Yaminkhan</a:t>
            </a:r>
            <a:r>
              <a:rPr lang="en-GB" sz="1800" dirty="0">
                <a:solidFill>
                  <a:schemeClr val="tx1"/>
                </a:solidFill>
              </a:rPr>
              <a:t> </a:t>
            </a:r>
            <a:r>
              <a:rPr lang="en-GB" sz="1800" dirty="0" err="1">
                <a:solidFill>
                  <a:schemeClr val="tx1"/>
                </a:solidFill>
              </a:rPr>
              <a:t>Adilrashid</a:t>
            </a:r>
            <a:r>
              <a:rPr lang="en-GB" sz="1800" dirty="0">
                <a:solidFill>
                  <a:schemeClr val="tx1"/>
                </a:solidFill>
              </a:rPr>
              <a:t> Pathan – 23000230 </a:t>
            </a:r>
          </a:p>
          <a:p>
            <a:endParaRPr lang="en-GB" sz="1800" dirty="0">
              <a:solidFill>
                <a:schemeClr val="tx1"/>
              </a:solidFill>
            </a:endParaRPr>
          </a:p>
          <a:p>
            <a:endParaRPr lang="en-GB" sz="1800" dirty="0">
              <a:solidFill>
                <a:schemeClr val="tx1"/>
              </a:solidFill>
            </a:endParaRPr>
          </a:p>
          <a:p>
            <a:endParaRPr lang="en-GB" sz="1800" dirty="0">
              <a:solidFill>
                <a:schemeClr val="tx1"/>
              </a:solidFill>
            </a:endParaRPr>
          </a:p>
        </p:txBody>
      </p:sp>
      <p:pic>
        <p:nvPicPr>
          <p:cNvPr id="4" name="Image 0" descr="preencoded.png">
            <a:extLst>
              <a:ext uri="{FF2B5EF4-FFF2-40B4-BE49-F238E27FC236}">
                <a16:creationId xmlns:a16="http://schemas.microsoft.com/office/drawing/2014/main" id="{A42BC2FA-82AA-551C-D66F-1DB154881419}"/>
              </a:ext>
              <a:ext uri="{C183D7F6-B498-43B3-948B-1728B52AA6E4}">
                <adec:decorative xmlns:adec="http://schemas.microsoft.com/office/drawing/2017/decorative" val="0"/>
              </a:ext>
            </a:extLst>
          </p:cNvPr>
          <p:cNvPicPr>
            <a:picLocks noChangeAspect="1"/>
          </p:cNvPicPr>
          <p:nvPr/>
        </p:nvPicPr>
        <p:blipFill>
          <a:blip r:embed="rId2"/>
          <a:stretch>
            <a:fillRect/>
          </a:stretch>
        </p:blipFill>
        <p:spPr>
          <a:xfrm>
            <a:off x="1511807" y="846163"/>
            <a:ext cx="2725895" cy="2725895"/>
          </a:xfrm>
          <a:prstGeom prst="rect">
            <a:avLst/>
          </a:prstGeom>
        </p:spPr>
      </p:pic>
    </p:spTree>
    <p:extLst>
      <p:ext uri="{BB962C8B-B14F-4D97-AF65-F5344CB8AC3E}">
        <p14:creationId xmlns:p14="http://schemas.microsoft.com/office/powerpoint/2010/main" val="27947328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FCEF951-8BAE-EB85-94D7-E7B2E728A332}"/>
              </a:ext>
            </a:extLst>
          </p:cNvPr>
          <p:cNvSpPr txBox="1"/>
          <p:nvPr/>
        </p:nvSpPr>
        <p:spPr>
          <a:xfrm>
            <a:off x="349044" y="287283"/>
            <a:ext cx="6451805" cy="584775"/>
          </a:xfrm>
          <a:prstGeom prst="rect">
            <a:avLst/>
          </a:prstGeom>
          <a:noFill/>
        </p:spPr>
        <p:txBody>
          <a:bodyPr wrap="square">
            <a:spAutoFit/>
          </a:bodyPr>
          <a:lstStyle/>
          <a:p>
            <a:pPr marL="0" indent="0" algn="l">
              <a:buNone/>
            </a:pPr>
            <a:r>
              <a:rPr lang="en-US" sz="3200" b="1" dirty="0">
                <a:latin typeface="Times New Roman" panose="02020603050405020304" pitchFamily="18" charset="0"/>
                <a:ea typeface="Calibri" pitchFamily="34" charset="-122"/>
                <a:cs typeface="Times New Roman" panose="02020603050405020304" pitchFamily="18" charset="0"/>
              </a:rPr>
              <a:t>THE EMAIL ATTACK SURFACE</a:t>
            </a:r>
            <a:endParaRPr lang="en-US" sz="3200" dirty="0">
              <a:latin typeface="Times New Roman" panose="02020603050405020304" pitchFamily="18" charset="0"/>
              <a:cs typeface="Times New Roman" panose="02020603050405020304" pitchFamily="18" charset="0"/>
            </a:endParaRPr>
          </a:p>
        </p:txBody>
      </p:sp>
      <p:sp>
        <p:nvSpPr>
          <p:cNvPr id="26" name="Shape 6">
            <a:extLst>
              <a:ext uri="{FF2B5EF4-FFF2-40B4-BE49-F238E27FC236}">
                <a16:creationId xmlns:a16="http://schemas.microsoft.com/office/drawing/2014/main" id="{2C28FD6E-4AD4-0A8D-7757-BFE9A762050C}"/>
              </a:ext>
            </a:extLst>
          </p:cNvPr>
          <p:cNvSpPr/>
          <p:nvPr/>
        </p:nvSpPr>
        <p:spPr>
          <a:xfrm>
            <a:off x="365760" y="1261871"/>
            <a:ext cx="2692072" cy="1012699"/>
          </a:xfrm>
          <a:prstGeom prst="rect">
            <a:avLst/>
          </a:prstGeom>
          <a:solidFill>
            <a:schemeClr val="bg1"/>
          </a:solidFill>
          <a:ln w="12700">
            <a:solidFill>
              <a:srgbClr val="E63946"/>
            </a:solidFill>
            <a:prstDash val="solid"/>
          </a:ln>
          <a:effectLst/>
        </p:spPr>
      </p:sp>
      <p:sp>
        <p:nvSpPr>
          <p:cNvPr id="27" name="Shape 7">
            <a:extLst>
              <a:ext uri="{FF2B5EF4-FFF2-40B4-BE49-F238E27FC236}">
                <a16:creationId xmlns:a16="http://schemas.microsoft.com/office/drawing/2014/main" id="{316FA104-435F-CB85-21FF-9ABC5743C9C0}"/>
              </a:ext>
            </a:extLst>
          </p:cNvPr>
          <p:cNvSpPr/>
          <p:nvPr/>
        </p:nvSpPr>
        <p:spPr>
          <a:xfrm>
            <a:off x="365760" y="1261872"/>
            <a:ext cx="2692072" cy="54864"/>
          </a:xfrm>
          <a:prstGeom prst="rect">
            <a:avLst/>
          </a:prstGeom>
          <a:solidFill>
            <a:srgbClr val="E63946"/>
          </a:solidFill>
          <a:ln w="12700">
            <a:solidFill>
              <a:srgbClr val="E63946"/>
            </a:solidFill>
            <a:prstDash val="solid"/>
          </a:ln>
        </p:spPr>
      </p:sp>
      <p:sp>
        <p:nvSpPr>
          <p:cNvPr id="28" name="Text 8">
            <a:extLst>
              <a:ext uri="{FF2B5EF4-FFF2-40B4-BE49-F238E27FC236}">
                <a16:creationId xmlns:a16="http://schemas.microsoft.com/office/drawing/2014/main" id="{AECC6FE5-1CB5-AB77-614B-9D69FCA4F25A}"/>
              </a:ext>
            </a:extLst>
          </p:cNvPr>
          <p:cNvSpPr/>
          <p:nvPr/>
        </p:nvSpPr>
        <p:spPr>
          <a:xfrm>
            <a:off x="365760" y="1353312"/>
            <a:ext cx="2692072" cy="505968"/>
          </a:xfrm>
          <a:prstGeom prst="rect">
            <a:avLst/>
          </a:prstGeom>
          <a:noFill/>
          <a:ln/>
        </p:spPr>
        <p:txBody>
          <a:bodyPr wrap="square" lIns="0" tIns="0" rIns="0" bIns="0" rtlCol="0" anchor="ctr"/>
          <a:lstStyle/>
          <a:p>
            <a:pPr marL="0" indent="0" algn="ctr">
              <a:buNone/>
            </a:pPr>
            <a:r>
              <a:rPr lang="en-US" sz="3400" b="1" dirty="0">
                <a:solidFill>
                  <a:srgbClr val="E63946"/>
                </a:solidFill>
                <a:latin typeface="Times New Roman" panose="02020603050405020304" pitchFamily="18" charset="0"/>
                <a:ea typeface="Calibri" pitchFamily="34" charset="-122"/>
                <a:cs typeface="Times New Roman" panose="02020603050405020304" pitchFamily="18" charset="0"/>
              </a:rPr>
              <a:t>3.4B</a:t>
            </a:r>
            <a:endParaRPr lang="en-US" sz="3400" dirty="0">
              <a:latin typeface="Times New Roman" panose="02020603050405020304" pitchFamily="18" charset="0"/>
              <a:cs typeface="Times New Roman" panose="02020603050405020304" pitchFamily="18" charset="0"/>
            </a:endParaRPr>
          </a:p>
        </p:txBody>
      </p:sp>
      <p:sp>
        <p:nvSpPr>
          <p:cNvPr id="29" name="Text 9">
            <a:extLst>
              <a:ext uri="{FF2B5EF4-FFF2-40B4-BE49-F238E27FC236}">
                <a16:creationId xmlns:a16="http://schemas.microsoft.com/office/drawing/2014/main" id="{40432FE2-9DAD-EAB2-D0D4-C2AAE5167EB4}"/>
              </a:ext>
            </a:extLst>
          </p:cNvPr>
          <p:cNvSpPr/>
          <p:nvPr/>
        </p:nvSpPr>
        <p:spPr>
          <a:xfrm>
            <a:off x="365760"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Phishing emails/day</a:t>
            </a:r>
            <a:endParaRPr lang="en-US" sz="1200" dirty="0">
              <a:latin typeface="Times New Roman" panose="02020603050405020304" pitchFamily="18" charset="0"/>
              <a:cs typeface="Times New Roman" panose="02020603050405020304" pitchFamily="18" charset="0"/>
            </a:endParaRPr>
          </a:p>
        </p:txBody>
      </p:sp>
      <p:sp>
        <p:nvSpPr>
          <p:cNvPr id="30" name="Shape 6">
            <a:extLst>
              <a:ext uri="{FF2B5EF4-FFF2-40B4-BE49-F238E27FC236}">
                <a16:creationId xmlns:a16="http://schemas.microsoft.com/office/drawing/2014/main" id="{AB85B4DB-589F-B24B-35DB-074A5D92A05C}"/>
              </a:ext>
            </a:extLst>
          </p:cNvPr>
          <p:cNvSpPr/>
          <p:nvPr/>
        </p:nvSpPr>
        <p:spPr>
          <a:xfrm>
            <a:off x="3328035" y="1261871"/>
            <a:ext cx="2692072" cy="1012699"/>
          </a:xfrm>
          <a:prstGeom prst="rect">
            <a:avLst/>
          </a:prstGeom>
          <a:solidFill>
            <a:schemeClr val="bg1"/>
          </a:solidFill>
          <a:ln w="12700">
            <a:solidFill>
              <a:srgbClr val="FFC000"/>
            </a:solidFill>
            <a:prstDash val="solid"/>
          </a:ln>
          <a:effectLst/>
        </p:spPr>
      </p:sp>
      <p:sp>
        <p:nvSpPr>
          <p:cNvPr id="31" name="Shape 7">
            <a:extLst>
              <a:ext uri="{FF2B5EF4-FFF2-40B4-BE49-F238E27FC236}">
                <a16:creationId xmlns:a16="http://schemas.microsoft.com/office/drawing/2014/main" id="{2A75C1FC-E895-663B-EB46-AB525D8000B3}"/>
              </a:ext>
            </a:extLst>
          </p:cNvPr>
          <p:cNvSpPr/>
          <p:nvPr/>
        </p:nvSpPr>
        <p:spPr>
          <a:xfrm>
            <a:off x="3328035" y="1261872"/>
            <a:ext cx="2692072" cy="54864"/>
          </a:xfrm>
          <a:prstGeom prst="rect">
            <a:avLst/>
          </a:prstGeom>
          <a:solidFill>
            <a:srgbClr val="FFC000"/>
          </a:solidFill>
          <a:ln w="12700">
            <a:solidFill>
              <a:srgbClr val="FFC000"/>
            </a:solidFill>
            <a:prstDash val="solid"/>
          </a:ln>
        </p:spPr>
      </p:sp>
      <p:sp>
        <p:nvSpPr>
          <p:cNvPr id="32" name="Text 8">
            <a:extLst>
              <a:ext uri="{FF2B5EF4-FFF2-40B4-BE49-F238E27FC236}">
                <a16:creationId xmlns:a16="http://schemas.microsoft.com/office/drawing/2014/main" id="{2829AFAB-955F-E178-24D5-935462CC47AF}"/>
              </a:ext>
            </a:extLst>
          </p:cNvPr>
          <p:cNvSpPr/>
          <p:nvPr/>
        </p:nvSpPr>
        <p:spPr>
          <a:xfrm>
            <a:off x="3328035" y="1353312"/>
            <a:ext cx="2692072" cy="505968"/>
          </a:xfrm>
          <a:prstGeom prst="rect">
            <a:avLst/>
          </a:prstGeom>
          <a:noFill/>
          <a:ln/>
        </p:spPr>
        <p:txBody>
          <a:bodyPr wrap="square" lIns="0" tIns="0" rIns="0" bIns="0" rtlCol="0" anchor="ctr"/>
          <a:lstStyle/>
          <a:p>
            <a:pPr algn="ctr"/>
            <a:r>
              <a:rPr lang="en-US" sz="3400" b="1" dirty="0">
                <a:solidFill>
                  <a:srgbClr val="F4A261"/>
                </a:solidFill>
                <a:latin typeface="Times New Roman" panose="02020603050405020304" pitchFamily="18" charset="0"/>
                <a:ea typeface="Calibri" pitchFamily="34" charset="-122"/>
                <a:cs typeface="Times New Roman" panose="02020603050405020304" pitchFamily="18" charset="0"/>
              </a:rPr>
              <a:t>91%</a:t>
            </a:r>
            <a:endParaRPr lang="en-US" sz="3400" dirty="0">
              <a:latin typeface="Times New Roman" panose="02020603050405020304" pitchFamily="18" charset="0"/>
              <a:cs typeface="Times New Roman" panose="02020603050405020304" pitchFamily="18" charset="0"/>
            </a:endParaRPr>
          </a:p>
        </p:txBody>
      </p:sp>
      <p:sp>
        <p:nvSpPr>
          <p:cNvPr id="33" name="Text 9">
            <a:extLst>
              <a:ext uri="{FF2B5EF4-FFF2-40B4-BE49-F238E27FC236}">
                <a16:creationId xmlns:a16="http://schemas.microsoft.com/office/drawing/2014/main" id="{DA7CD766-03F9-35A7-A64E-2017F62118F3}"/>
              </a:ext>
            </a:extLst>
          </p:cNvPr>
          <p:cNvSpPr/>
          <p:nvPr/>
        </p:nvSpPr>
        <p:spPr>
          <a:xfrm>
            <a:off x="3328035"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Attack Start Via Email</a:t>
            </a:r>
            <a:endParaRPr lang="en-US" sz="1200" dirty="0">
              <a:latin typeface="Times New Roman" panose="02020603050405020304" pitchFamily="18" charset="0"/>
              <a:cs typeface="Times New Roman" panose="02020603050405020304" pitchFamily="18" charset="0"/>
            </a:endParaRPr>
          </a:p>
        </p:txBody>
      </p:sp>
      <p:sp>
        <p:nvSpPr>
          <p:cNvPr id="34" name="Shape 6">
            <a:extLst>
              <a:ext uri="{FF2B5EF4-FFF2-40B4-BE49-F238E27FC236}">
                <a16:creationId xmlns:a16="http://schemas.microsoft.com/office/drawing/2014/main" id="{30B6CC0B-07F5-1D09-4CB2-6372641D35ED}"/>
              </a:ext>
            </a:extLst>
          </p:cNvPr>
          <p:cNvSpPr/>
          <p:nvPr/>
        </p:nvSpPr>
        <p:spPr>
          <a:xfrm>
            <a:off x="6290310" y="1261871"/>
            <a:ext cx="2692072" cy="1012699"/>
          </a:xfrm>
          <a:prstGeom prst="rect">
            <a:avLst/>
          </a:prstGeom>
          <a:solidFill>
            <a:schemeClr val="bg1"/>
          </a:solidFill>
          <a:ln w="12700">
            <a:solidFill>
              <a:srgbClr val="00B0F0"/>
            </a:solidFill>
            <a:prstDash val="solid"/>
          </a:ln>
          <a:effectLst/>
        </p:spPr>
      </p:sp>
      <p:sp>
        <p:nvSpPr>
          <p:cNvPr id="35" name="Shape 7">
            <a:extLst>
              <a:ext uri="{FF2B5EF4-FFF2-40B4-BE49-F238E27FC236}">
                <a16:creationId xmlns:a16="http://schemas.microsoft.com/office/drawing/2014/main" id="{DDA71290-39C8-D115-13F1-A1AD779080FF}"/>
              </a:ext>
            </a:extLst>
          </p:cNvPr>
          <p:cNvSpPr/>
          <p:nvPr/>
        </p:nvSpPr>
        <p:spPr>
          <a:xfrm>
            <a:off x="6290310" y="1261872"/>
            <a:ext cx="2692072" cy="54864"/>
          </a:xfrm>
          <a:prstGeom prst="rect">
            <a:avLst/>
          </a:prstGeom>
          <a:solidFill>
            <a:srgbClr val="00B0F0"/>
          </a:solidFill>
          <a:ln w="12700">
            <a:solidFill>
              <a:srgbClr val="E63946"/>
            </a:solidFill>
            <a:prstDash val="solid"/>
          </a:ln>
        </p:spPr>
      </p:sp>
      <p:sp>
        <p:nvSpPr>
          <p:cNvPr id="36" name="Text 8">
            <a:extLst>
              <a:ext uri="{FF2B5EF4-FFF2-40B4-BE49-F238E27FC236}">
                <a16:creationId xmlns:a16="http://schemas.microsoft.com/office/drawing/2014/main" id="{19DDB668-B206-7353-716E-76E0E6883CC6}"/>
              </a:ext>
            </a:extLst>
          </p:cNvPr>
          <p:cNvSpPr/>
          <p:nvPr/>
        </p:nvSpPr>
        <p:spPr>
          <a:xfrm>
            <a:off x="6290310" y="1353312"/>
            <a:ext cx="2692072" cy="505968"/>
          </a:xfrm>
          <a:prstGeom prst="rect">
            <a:avLst/>
          </a:prstGeom>
          <a:noFill/>
          <a:ln/>
        </p:spPr>
        <p:txBody>
          <a:bodyPr wrap="square" lIns="0" tIns="0" rIns="0" bIns="0" rtlCol="0" anchor="ctr"/>
          <a:lstStyle/>
          <a:p>
            <a:pPr algn="ctr"/>
            <a:r>
              <a:rPr lang="en-US" sz="3400" b="1" dirty="0">
                <a:solidFill>
                  <a:srgbClr val="00B4D8"/>
                </a:solidFill>
                <a:latin typeface="Times New Roman" panose="02020603050405020304" pitchFamily="18" charset="0"/>
                <a:ea typeface="Calibri" pitchFamily="34" charset="-122"/>
                <a:cs typeface="Times New Roman" panose="02020603050405020304" pitchFamily="18" charset="0"/>
              </a:rPr>
              <a:t>₹8.2L</a:t>
            </a:r>
            <a:endParaRPr lang="en-US" sz="3400" dirty="0">
              <a:latin typeface="Times New Roman" panose="02020603050405020304" pitchFamily="18" charset="0"/>
              <a:cs typeface="Times New Roman" panose="02020603050405020304" pitchFamily="18" charset="0"/>
            </a:endParaRPr>
          </a:p>
        </p:txBody>
      </p:sp>
      <p:sp>
        <p:nvSpPr>
          <p:cNvPr id="37" name="Text 9">
            <a:extLst>
              <a:ext uri="{FF2B5EF4-FFF2-40B4-BE49-F238E27FC236}">
                <a16:creationId xmlns:a16="http://schemas.microsoft.com/office/drawing/2014/main" id="{D2FE9D0E-0209-D5DA-0AB9-3C6B160FED53}"/>
              </a:ext>
            </a:extLst>
          </p:cNvPr>
          <p:cNvSpPr/>
          <p:nvPr/>
        </p:nvSpPr>
        <p:spPr>
          <a:xfrm>
            <a:off x="6290310"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Avg Breach Cost in India</a:t>
            </a:r>
            <a:endParaRPr lang="en-US" sz="1200" dirty="0">
              <a:latin typeface="Times New Roman" panose="02020603050405020304" pitchFamily="18" charset="0"/>
              <a:cs typeface="Times New Roman" panose="02020603050405020304" pitchFamily="18" charset="0"/>
            </a:endParaRPr>
          </a:p>
        </p:txBody>
      </p:sp>
      <p:sp>
        <p:nvSpPr>
          <p:cNvPr id="38" name="Shape 6">
            <a:extLst>
              <a:ext uri="{FF2B5EF4-FFF2-40B4-BE49-F238E27FC236}">
                <a16:creationId xmlns:a16="http://schemas.microsoft.com/office/drawing/2014/main" id="{616195FF-DD82-E9F2-9FA3-201BCC12EFEA}"/>
              </a:ext>
            </a:extLst>
          </p:cNvPr>
          <p:cNvSpPr/>
          <p:nvPr/>
        </p:nvSpPr>
        <p:spPr>
          <a:xfrm>
            <a:off x="9252585" y="1261871"/>
            <a:ext cx="2692072" cy="1012699"/>
          </a:xfrm>
          <a:prstGeom prst="rect">
            <a:avLst/>
          </a:prstGeom>
          <a:solidFill>
            <a:schemeClr val="bg1"/>
          </a:solidFill>
          <a:ln w="12700">
            <a:solidFill>
              <a:srgbClr val="7030A0"/>
            </a:solidFill>
            <a:prstDash val="solid"/>
          </a:ln>
          <a:effectLst/>
        </p:spPr>
      </p:sp>
      <p:sp>
        <p:nvSpPr>
          <p:cNvPr id="39" name="Shape 7">
            <a:extLst>
              <a:ext uri="{FF2B5EF4-FFF2-40B4-BE49-F238E27FC236}">
                <a16:creationId xmlns:a16="http://schemas.microsoft.com/office/drawing/2014/main" id="{B6F842AC-F347-E0F6-689E-AD5F9F36BE51}"/>
              </a:ext>
            </a:extLst>
          </p:cNvPr>
          <p:cNvSpPr/>
          <p:nvPr/>
        </p:nvSpPr>
        <p:spPr>
          <a:xfrm>
            <a:off x="9252585" y="1261872"/>
            <a:ext cx="2692072" cy="54864"/>
          </a:xfrm>
          <a:prstGeom prst="rect">
            <a:avLst/>
          </a:prstGeom>
          <a:solidFill>
            <a:srgbClr val="7030A0"/>
          </a:solidFill>
          <a:ln w="12700">
            <a:solidFill>
              <a:srgbClr val="E63946"/>
            </a:solidFill>
            <a:prstDash val="solid"/>
          </a:ln>
        </p:spPr>
      </p:sp>
      <p:sp>
        <p:nvSpPr>
          <p:cNvPr id="40" name="Text 8">
            <a:extLst>
              <a:ext uri="{FF2B5EF4-FFF2-40B4-BE49-F238E27FC236}">
                <a16:creationId xmlns:a16="http://schemas.microsoft.com/office/drawing/2014/main" id="{53F5EFD9-BAD3-653F-DB63-75AC13667654}"/>
              </a:ext>
            </a:extLst>
          </p:cNvPr>
          <p:cNvSpPr/>
          <p:nvPr/>
        </p:nvSpPr>
        <p:spPr>
          <a:xfrm>
            <a:off x="9252585" y="1353312"/>
            <a:ext cx="2692072" cy="505968"/>
          </a:xfrm>
          <a:prstGeom prst="rect">
            <a:avLst/>
          </a:prstGeom>
          <a:noFill/>
          <a:ln/>
        </p:spPr>
        <p:txBody>
          <a:bodyPr wrap="square" lIns="0" tIns="0" rIns="0" bIns="0" rtlCol="0" anchor="ctr"/>
          <a:lstStyle/>
          <a:p>
            <a:pPr algn="ctr"/>
            <a:r>
              <a:rPr lang="en-US" sz="3400" b="1" dirty="0">
                <a:solidFill>
                  <a:srgbClr val="7B2FBE"/>
                </a:solidFill>
                <a:latin typeface="Times New Roman" panose="02020603050405020304" pitchFamily="18" charset="0"/>
                <a:ea typeface="Calibri" pitchFamily="34" charset="-122"/>
                <a:cs typeface="Times New Roman" panose="02020603050405020304" pitchFamily="18" charset="0"/>
              </a:rPr>
              <a:t>17 min</a:t>
            </a:r>
            <a:endParaRPr lang="en-US" sz="3400" dirty="0">
              <a:latin typeface="Times New Roman" panose="02020603050405020304" pitchFamily="18" charset="0"/>
              <a:cs typeface="Times New Roman" panose="02020603050405020304" pitchFamily="18" charset="0"/>
            </a:endParaRPr>
          </a:p>
        </p:txBody>
      </p:sp>
      <p:sp>
        <p:nvSpPr>
          <p:cNvPr id="41" name="Text 9">
            <a:extLst>
              <a:ext uri="{FF2B5EF4-FFF2-40B4-BE49-F238E27FC236}">
                <a16:creationId xmlns:a16="http://schemas.microsoft.com/office/drawing/2014/main" id="{1B25637D-2DA9-D473-1D52-925ECB8FE2E0}"/>
              </a:ext>
            </a:extLst>
          </p:cNvPr>
          <p:cNvSpPr/>
          <p:nvPr/>
        </p:nvSpPr>
        <p:spPr>
          <a:xfrm>
            <a:off x="9252585"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Median time to first click</a:t>
            </a:r>
            <a:endParaRPr lang="en-US" sz="1200" dirty="0">
              <a:latin typeface="Times New Roman" panose="02020603050405020304" pitchFamily="18" charset="0"/>
              <a:cs typeface="Times New Roman" panose="02020603050405020304" pitchFamily="18" charset="0"/>
            </a:endParaRPr>
          </a:p>
        </p:txBody>
      </p:sp>
      <p:grpSp>
        <p:nvGrpSpPr>
          <p:cNvPr id="61" name="Group 60">
            <a:extLst>
              <a:ext uri="{FF2B5EF4-FFF2-40B4-BE49-F238E27FC236}">
                <a16:creationId xmlns:a16="http://schemas.microsoft.com/office/drawing/2014/main" id="{D0CD866D-6FB3-B627-E7E4-DF7676D2E7F2}"/>
              </a:ext>
            </a:extLst>
          </p:cNvPr>
          <p:cNvGrpSpPr/>
          <p:nvPr/>
        </p:nvGrpSpPr>
        <p:grpSpPr>
          <a:xfrm>
            <a:off x="5719224" y="3354504"/>
            <a:ext cx="5326166" cy="3356720"/>
            <a:chOff x="5689344" y="3853842"/>
            <a:chExt cx="5326166" cy="2765718"/>
          </a:xfrm>
        </p:grpSpPr>
        <p:sp>
          <p:nvSpPr>
            <p:cNvPr id="45" name="Shape 46">
              <a:extLst>
                <a:ext uri="{FF2B5EF4-FFF2-40B4-BE49-F238E27FC236}">
                  <a16:creationId xmlns:a16="http://schemas.microsoft.com/office/drawing/2014/main" id="{70C3D3C2-72EB-CADB-27BE-38443248D389}"/>
                </a:ext>
              </a:extLst>
            </p:cNvPr>
            <p:cNvSpPr/>
            <p:nvPr/>
          </p:nvSpPr>
          <p:spPr>
            <a:xfrm>
              <a:off x="5689344" y="3853842"/>
              <a:ext cx="5326166" cy="385914"/>
            </a:xfrm>
            <a:prstGeom prst="rect">
              <a:avLst/>
            </a:prstGeom>
            <a:solidFill>
              <a:srgbClr val="C62828"/>
            </a:solidFill>
            <a:ln w="12700">
              <a:solidFill>
                <a:srgbClr val="C62828"/>
              </a:solidFill>
              <a:prstDash val="solid"/>
            </a:ln>
          </p:spPr>
        </p:sp>
        <p:sp>
          <p:nvSpPr>
            <p:cNvPr id="46" name="Text 47">
              <a:extLst>
                <a:ext uri="{FF2B5EF4-FFF2-40B4-BE49-F238E27FC236}">
                  <a16:creationId xmlns:a16="http://schemas.microsoft.com/office/drawing/2014/main" id="{386FB734-594A-FC53-B250-B91437D6B16A}"/>
                </a:ext>
              </a:extLst>
            </p:cNvPr>
            <p:cNvSpPr/>
            <p:nvPr/>
          </p:nvSpPr>
          <p:spPr>
            <a:xfrm>
              <a:off x="5779183" y="3853842"/>
              <a:ext cx="5133654" cy="38591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1.  Reconnaissance</a:t>
              </a:r>
              <a:endParaRPr lang="en-US" sz="1600" dirty="0"/>
            </a:p>
          </p:txBody>
        </p:sp>
        <p:sp>
          <p:nvSpPr>
            <p:cNvPr id="47" name="Shape 48">
              <a:extLst>
                <a:ext uri="{FF2B5EF4-FFF2-40B4-BE49-F238E27FC236}">
                  <a16:creationId xmlns:a16="http://schemas.microsoft.com/office/drawing/2014/main" id="{0D2717CC-26E7-880B-F050-0A3ED0BDED45}"/>
                </a:ext>
              </a:extLst>
            </p:cNvPr>
            <p:cNvSpPr/>
            <p:nvPr/>
          </p:nvSpPr>
          <p:spPr>
            <a:xfrm>
              <a:off x="5689344" y="4329803"/>
              <a:ext cx="5326166" cy="385914"/>
            </a:xfrm>
            <a:prstGeom prst="rect">
              <a:avLst/>
            </a:prstGeom>
            <a:solidFill>
              <a:srgbClr val="D32F2F"/>
            </a:solidFill>
            <a:ln w="12700">
              <a:solidFill>
                <a:srgbClr val="D32F2F"/>
              </a:solidFill>
              <a:prstDash val="solid"/>
            </a:ln>
          </p:spPr>
        </p:sp>
        <p:sp>
          <p:nvSpPr>
            <p:cNvPr id="48" name="Text 49">
              <a:extLst>
                <a:ext uri="{FF2B5EF4-FFF2-40B4-BE49-F238E27FC236}">
                  <a16:creationId xmlns:a16="http://schemas.microsoft.com/office/drawing/2014/main" id="{12F06998-BA87-993D-30DC-29E8868B09F0}"/>
                </a:ext>
              </a:extLst>
            </p:cNvPr>
            <p:cNvSpPr/>
            <p:nvPr/>
          </p:nvSpPr>
          <p:spPr>
            <a:xfrm>
              <a:off x="5779183" y="4329803"/>
              <a:ext cx="5133654" cy="38591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2.  Weaponised Email</a:t>
              </a:r>
              <a:endParaRPr lang="en-US" sz="1600" dirty="0"/>
            </a:p>
          </p:txBody>
        </p:sp>
        <p:sp>
          <p:nvSpPr>
            <p:cNvPr id="49" name="Shape 50">
              <a:extLst>
                <a:ext uri="{FF2B5EF4-FFF2-40B4-BE49-F238E27FC236}">
                  <a16:creationId xmlns:a16="http://schemas.microsoft.com/office/drawing/2014/main" id="{C9D06785-31BC-777B-24D4-5ACDDE863FDB}"/>
                </a:ext>
              </a:extLst>
            </p:cNvPr>
            <p:cNvSpPr/>
            <p:nvPr/>
          </p:nvSpPr>
          <p:spPr>
            <a:xfrm>
              <a:off x="5689344" y="4805763"/>
              <a:ext cx="5326166" cy="385914"/>
            </a:xfrm>
            <a:prstGeom prst="rect">
              <a:avLst/>
            </a:prstGeom>
            <a:solidFill>
              <a:srgbClr val="E53935"/>
            </a:solidFill>
            <a:ln w="12700">
              <a:solidFill>
                <a:srgbClr val="E53935"/>
              </a:solidFill>
              <a:prstDash val="solid"/>
            </a:ln>
          </p:spPr>
        </p:sp>
        <p:sp>
          <p:nvSpPr>
            <p:cNvPr id="50" name="Text 51">
              <a:extLst>
                <a:ext uri="{FF2B5EF4-FFF2-40B4-BE49-F238E27FC236}">
                  <a16:creationId xmlns:a16="http://schemas.microsoft.com/office/drawing/2014/main" id="{A2DB4175-DB3E-97D9-FE74-D7391D19B628}"/>
                </a:ext>
              </a:extLst>
            </p:cNvPr>
            <p:cNvSpPr/>
            <p:nvPr/>
          </p:nvSpPr>
          <p:spPr>
            <a:xfrm>
              <a:off x="5779183" y="4805763"/>
              <a:ext cx="5133654" cy="385914"/>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3.  Delivery &amp; Lure</a:t>
              </a:r>
              <a:endParaRPr lang="en-US" sz="1600" dirty="0"/>
            </a:p>
          </p:txBody>
        </p:sp>
        <p:sp>
          <p:nvSpPr>
            <p:cNvPr id="51" name="Shape 52">
              <a:extLst>
                <a:ext uri="{FF2B5EF4-FFF2-40B4-BE49-F238E27FC236}">
                  <a16:creationId xmlns:a16="http://schemas.microsoft.com/office/drawing/2014/main" id="{376A1C23-4DC7-0CC5-E1C4-5C33EB4CFF91}"/>
                </a:ext>
              </a:extLst>
            </p:cNvPr>
            <p:cNvSpPr/>
            <p:nvPr/>
          </p:nvSpPr>
          <p:spPr>
            <a:xfrm>
              <a:off x="5689344" y="5281724"/>
              <a:ext cx="5326166" cy="385914"/>
            </a:xfrm>
            <a:prstGeom prst="rect">
              <a:avLst/>
            </a:prstGeom>
            <a:solidFill>
              <a:srgbClr val="E57373"/>
            </a:solidFill>
            <a:ln w="12700">
              <a:solidFill>
                <a:srgbClr val="E57373"/>
              </a:solidFill>
              <a:prstDash val="solid"/>
            </a:ln>
          </p:spPr>
        </p:sp>
        <p:sp>
          <p:nvSpPr>
            <p:cNvPr id="52" name="Text 53">
              <a:extLst>
                <a:ext uri="{FF2B5EF4-FFF2-40B4-BE49-F238E27FC236}">
                  <a16:creationId xmlns:a16="http://schemas.microsoft.com/office/drawing/2014/main" id="{B9C44464-B598-9C72-CF65-724B9AB1489E}"/>
                </a:ext>
              </a:extLst>
            </p:cNvPr>
            <p:cNvSpPr/>
            <p:nvPr/>
          </p:nvSpPr>
          <p:spPr>
            <a:xfrm>
              <a:off x="5779183" y="5281724"/>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4.  Victim Clicks</a:t>
              </a:r>
              <a:endParaRPr lang="en-US" sz="1600" dirty="0"/>
            </a:p>
          </p:txBody>
        </p:sp>
        <p:sp>
          <p:nvSpPr>
            <p:cNvPr id="53" name="Shape 54">
              <a:extLst>
                <a:ext uri="{FF2B5EF4-FFF2-40B4-BE49-F238E27FC236}">
                  <a16:creationId xmlns:a16="http://schemas.microsoft.com/office/drawing/2014/main" id="{7154C133-F58F-DC22-1574-8D79BC8DEC9D}"/>
                </a:ext>
              </a:extLst>
            </p:cNvPr>
            <p:cNvSpPr/>
            <p:nvPr/>
          </p:nvSpPr>
          <p:spPr>
            <a:xfrm>
              <a:off x="5689344" y="5757685"/>
              <a:ext cx="5326166" cy="385914"/>
            </a:xfrm>
            <a:prstGeom prst="rect">
              <a:avLst/>
            </a:prstGeom>
            <a:solidFill>
              <a:srgbClr val="EF9A9A"/>
            </a:solidFill>
            <a:ln w="12700">
              <a:solidFill>
                <a:srgbClr val="EF9A9A"/>
              </a:solidFill>
              <a:prstDash val="solid"/>
            </a:ln>
          </p:spPr>
        </p:sp>
        <p:sp>
          <p:nvSpPr>
            <p:cNvPr id="54" name="Text 55">
              <a:extLst>
                <a:ext uri="{FF2B5EF4-FFF2-40B4-BE49-F238E27FC236}">
                  <a16:creationId xmlns:a16="http://schemas.microsoft.com/office/drawing/2014/main" id="{AFC398EA-050C-98CC-81DB-3B7B973415FF}"/>
                </a:ext>
              </a:extLst>
            </p:cNvPr>
            <p:cNvSpPr/>
            <p:nvPr/>
          </p:nvSpPr>
          <p:spPr>
            <a:xfrm>
              <a:off x="5779183" y="5757685"/>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5.  Credential/Data Theft</a:t>
              </a:r>
              <a:endParaRPr lang="en-US" sz="1600" dirty="0"/>
            </a:p>
          </p:txBody>
        </p:sp>
        <p:sp>
          <p:nvSpPr>
            <p:cNvPr id="55" name="Shape 56">
              <a:extLst>
                <a:ext uri="{FF2B5EF4-FFF2-40B4-BE49-F238E27FC236}">
                  <a16:creationId xmlns:a16="http://schemas.microsoft.com/office/drawing/2014/main" id="{7709B8D6-FAB8-6DD8-67CA-9273E58EFB68}"/>
                </a:ext>
              </a:extLst>
            </p:cNvPr>
            <p:cNvSpPr/>
            <p:nvPr/>
          </p:nvSpPr>
          <p:spPr>
            <a:xfrm>
              <a:off x="5689344" y="6233646"/>
              <a:ext cx="5326166" cy="385914"/>
            </a:xfrm>
            <a:prstGeom prst="rect">
              <a:avLst/>
            </a:prstGeom>
            <a:solidFill>
              <a:srgbClr val="FFCDD2"/>
            </a:solidFill>
            <a:ln w="12700">
              <a:solidFill>
                <a:srgbClr val="FFCDD2"/>
              </a:solidFill>
              <a:prstDash val="solid"/>
            </a:ln>
          </p:spPr>
        </p:sp>
        <p:sp>
          <p:nvSpPr>
            <p:cNvPr id="56" name="Text 57">
              <a:extLst>
                <a:ext uri="{FF2B5EF4-FFF2-40B4-BE49-F238E27FC236}">
                  <a16:creationId xmlns:a16="http://schemas.microsoft.com/office/drawing/2014/main" id="{4CEB7E3B-2CCF-F05F-7C86-679731FDCE13}"/>
                </a:ext>
              </a:extLst>
            </p:cNvPr>
            <p:cNvSpPr/>
            <p:nvPr/>
          </p:nvSpPr>
          <p:spPr>
            <a:xfrm>
              <a:off x="5779183" y="6233646"/>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6.  Lateral Movement</a:t>
              </a:r>
              <a:endParaRPr lang="en-US" sz="1600" dirty="0"/>
            </a:p>
          </p:txBody>
        </p:sp>
      </p:grpSp>
      <p:sp>
        <p:nvSpPr>
          <p:cNvPr id="58" name="TextBox 57">
            <a:extLst>
              <a:ext uri="{FF2B5EF4-FFF2-40B4-BE49-F238E27FC236}">
                <a16:creationId xmlns:a16="http://schemas.microsoft.com/office/drawing/2014/main" id="{E4FA89E0-55A3-FB6A-F8F4-30CBC8CCD083}"/>
              </a:ext>
            </a:extLst>
          </p:cNvPr>
          <p:cNvSpPr txBox="1"/>
          <p:nvPr/>
        </p:nvSpPr>
        <p:spPr>
          <a:xfrm>
            <a:off x="5623560" y="2762542"/>
            <a:ext cx="3629025" cy="400110"/>
          </a:xfrm>
          <a:prstGeom prst="rect">
            <a:avLst/>
          </a:prstGeom>
          <a:noFill/>
        </p:spPr>
        <p:txBody>
          <a:bodyPr wrap="square" rtlCol="0">
            <a:spAutoFit/>
          </a:bodyPr>
          <a:lstStyle/>
          <a:p>
            <a:r>
              <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EMAIL KILL CHAIN</a:t>
            </a:r>
            <a:endParaRPr lang="en-US" sz="2000" dirty="0">
              <a:solidFill>
                <a:srgbClr val="0070C0"/>
              </a:solidFill>
              <a:latin typeface="Times New Roman" panose="02020603050405020304" pitchFamily="18" charset="0"/>
              <a:cs typeface="Times New Roman" panose="02020603050405020304" pitchFamily="18" charset="0"/>
            </a:endParaRPr>
          </a:p>
        </p:txBody>
      </p:sp>
      <p:grpSp>
        <p:nvGrpSpPr>
          <p:cNvPr id="77" name="Group 76">
            <a:extLst>
              <a:ext uri="{FF2B5EF4-FFF2-40B4-BE49-F238E27FC236}">
                <a16:creationId xmlns:a16="http://schemas.microsoft.com/office/drawing/2014/main" id="{61D84725-1F89-919C-9DE3-7ECB2C6D633F}"/>
              </a:ext>
            </a:extLst>
          </p:cNvPr>
          <p:cNvGrpSpPr/>
          <p:nvPr/>
        </p:nvGrpSpPr>
        <p:grpSpPr>
          <a:xfrm>
            <a:off x="294053" y="3252785"/>
            <a:ext cx="5133653" cy="3458439"/>
            <a:chOff x="457200" y="4424731"/>
            <a:chExt cx="3877056" cy="1865381"/>
          </a:xfrm>
        </p:grpSpPr>
        <p:sp>
          <p:nvSpPr>
            <p:cNvPr id="62" name="Shape 25">
              <a:extLst>
                <a:ext uri="{FF2B5EF4-FFF2-40B4-BE49-F238E27FC236}">
                  <a16:creationId xmlns:a16="http://schemas.microsoft.com/office/drawing/2014/main" id="{D970DFBD-F570-32EF-6AB3-48EAAD465DB4}"/>
                </a:ext>
              </a:extLst>
            </p:cNvPr>
            <p:cNvSpPr/>
            <p:nvPr/>
          </p:nvSpPr>
          <p:spPr>
            <a:xfrm>
              <a:off x="457200" y="4424731"/>
              <a:ext cx="45720" cy="329182"/>
            </a:xfrm>
            <a:prstGeom prst="rect">
              <a:avLst/>
            </a:prstGeom>
            <a:solidFill>
              <a:srgbClr val="E63946"/>
            </a:solidFill>
            <a:ln w="12700">
              <a:solidFill>
                <a:srgbClr val="E63946"/>
              </a:solidFill>
              <a:prstDash val="solid"/>
            </a:ln>
          </p:spPr>
        </p:sp>
        <p:sp>
          <p:nvSpPr>
            <p:cNvPr id="63" name="Text 26">
              <a:extLst>
                <a:ext uri="{FF2B5EF4-FFF2-40B4-BE49-F238E27FC236}">
                  <a16:creationId xmlns:a16="http://schemas.microsoft.com/office/drawing/2014/main" id="{AF0402E6-7A60-4838-4982-9A726ADEB9DF}"/>
                </a:ext>
              </a:extLst>
            </p:cNvPr>
            <p:cNvSpPr/>
            <p:nvPr/>
          </p:nvSpPr>
          <p:spPr>
            <a:xfrm>
              <a:off x="594360" y="4479595"/>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Spear Phishing</a:t>
              </a:r>
              <a:endParaRPr lang="en-US" sz="1600" dirty="0"/>
            </a:p>
          </p:txBody>
        </p:sp>
        <p:sp>
          <p:nvSpPr>
            <p:cNvPr id="64" name="Text 27">
              <a:extLst>
                <a:ext uri="{FF2B5EF4-FFF2-40B4-BE49-F238E27FC236}">
                  <a16:creationId xmlns:a16="http://schemas.microsoft.com/office/drawing/2014/main" id="{DC5D79AA-7C26-C266-02F2-BCE6615108D5}"/>
                </a:ext>
              </a:extLst>
            </p:cNvPr>
            <p:cNvSpPr/>
            <p:nvPr/>
          </p:nvSpPr>
          <p:spPr>
            <a:xfrm>
              <a:off x="1956816" y="4479596"/>
              <a:ext cx="2377440" cy="219455"/>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Targeted, personalised lure using victim context</a:t>
              </a:r>
              <a:endParaRPr lang="en-US" sz="1600" dirty="0"/>
            </a:p>
          </p:txBody>
        </p:sp>
        <p:sp>
          <p:nvSpPr>
            <p:cNvPr id="65" name="Shape 29">
              <a:extLst>
                <a:ext uri="{FF2B5EF4-FFF2-40B4-BE49-F238E27FC236}">
                  <a16:creationId xmlns:a16="http://schemas.microsoft.com/office/drawing/2014/main" id="{0543E96C-B40D-AFE1-ED82-4D917B80DCEE}"/>
                </a:ext>
              </a:extLst>
            </p:cNvPr>
            <p:cNvSpPr/>
            <p:nvPr/>
          </p:nvSpPr>
          <p:spPr>
            <a:xfrm>
              <a:off x="457200" y="4808779"/>
              <a:ext cx="45720" cy="329183"/>
            </a:xfrm>
            <a:prstGeom prst="rect">
              <a:avLst/>
            </a:prstGeom>
            <a:solidFill>
              <a:srgbClr val="E63946"/>
            </a:solidFill>
            <a:ln w="12700">
              <a:solidFill>
                <a:srgbClr val="E63946"/>
              </a:solidFill>
              <a:prstDash val="solid"/>
            </a:ln>
          </p:spPr>
        </p:sp>
        <p:sp>
          <p:nvSpPr>
            <p:cNvPr id="66" name="Text 30">
              <a:extLst>
                <a:ext uri="{FF2B5EF4-FFF2-40B4-BE49-F238E27FC236}">
                  <a16:creationId xmlns:a16="http://schemas.microsoft.com/office/drawing/2014/main" id="{AACABBD7-F53D-DC25-8799-D8CC2C60D9BB}"/>
                </a:ext>
              </a:extLst>
            </p:cNvPr>
            <p:cNvSpPr/>
            <p:nvPr/>
          </p:nvSpPr>
          <p:spPr>
            <a:xfrm>
              <a:off x="594360" y="4863643"/>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Brand Impersonation</a:t>
              </a:r>
              <a:endParaRPr lang="en-US" sz="1600" dirty="0"/>
            </a:p>
          </p:txBody>
        </p:sp>
        <p:sp>
          <p:nvSpPr>
            <p:cNvPr id="67" name="Text 31">
              <a:extLst>
                <a:ext uri="{FF2B5EF4-FFF2-40B4-BE49-F238E27FC236}">
                  <a16:creationId xmlns:a16="http://schemas.microsoft.com/office/drawing/2014/main" id="{F58CAAB3-7D89-C488-D1A6-1F9C7979E352}"/>
                </a:ext>
              </a:extLst>
            </p:cNvPr>
            <p:cNvSpPr/>
            <p:nvPr/>
          </p:nvSpPr>
          <p:spPr>
            <a:xfrm>
              <a:off x="1956816" y="4863643"/>
              <a:ext cx="2377440" cy="219455"/>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Fake PayPal, Amazon, Google sender identity</a:t>
              </a:r>
              <a:endParaRPr lang="en-US" sz="1600" dirty="0"/>
            </a:p>
          </p:txBody>
        </p:sp>
        <p:sp>
          <p:nvSpPr>
            <p:cNvPr id="68" name="Shape 33">
              <a:extLst>
                <a:ext uri="{FF2B5EF4-FFF2-40B4-BE49-F238E27FC236}">
                  <a16:creationId xmlns:a16="http://schemas.microsoft.com/office/drawing/2014/main" id="{52869D86-5DB2-B773-674C-F42855FFD6C2}"/>
                </a:ext>
              </a:extLst>
            </p:cNvPr>
            <p:cNvSpPr/>
            <p:nvPr/>
          </p:nvSpPr>
          <p:spPr>
            <a:xfrm>
              <a:off x="457200" y="5192825"/>
              <a:ext cx="45720" cy="329182"/>
            </a:xfrm>
            <a:prstGeom prst="rect">
              <a:avLst/>
            </a:prstGeom>
            <a:solidFill>
              <a:srgbClr val="E63946"/>
            </a:solidFill>
            <a:ln w="12700">
              <a:solidFill>
                <a:srgbClr val="E63946"/>
              </a:solidFill>
              <a:prstDash val="solid"/>
            </a:ln>
          </p:spPr>
        </p:sp>
        <p:sp>
          <p:nvSpPr>
            <p:cNvPr id="69" name="Text 34">
              <a:extLst>
                <a:ext uri="{FF2B5EF4-FFF2-40B4-BE49-F238E27FC236}">
                  <a16:creationId xmlns:a16="http://schemas.microsoft.com/office/drawing/2014/main" id="{05334B71-604E-17E3-9C20-04E5A980009D}"/>
                </a:ext>
              </a:extLst>
            </p:cNvPr>
            <p:cNvSpPr/>
            <p:nvPr/>
          </p:nvSpPr>
          <p:spPr>
            <a:xfrm>
              <a:off x="594360" y="5247690"/>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Advance-Fee (419)</a:t>
              </a:r>
              <a:endParaRPr lang="en-US" sz="1600" dirty="0"/>
            </a:p>
          </p:txBody>
        </p:sp>
        <p:sp>
          <p:nvSpPr>
            <p:cNvPr id="70" name="Text 35">
              <a:extLst>
                <a:ext uri="{FF2B5EF4-FFF2-40B4-BE49-F238E27FC236}">
                  <a16:creationId xmlns:a16="http://schemas.microsoft.com/office/drawing/2014/main" id="{036F1A76-29E9-2D5F-BEAB-5D8FC3F21D3E}"/>
                </a:ext>
              </a:extLst>
            </p:cNvPr>
            <p:cNvSpPr/>
            <p:nvPr/>
          </p:nvSpPr>
          <p:spPr>
            <a:xfrm>
              <a:off x="1956816" y="5247691"/>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Social engineering via financial gain promise</a:t>
              </a:r>
              <a:endParaRPr lang="en-US" sz="1600" dirty="0"/>
            </a:p>
          </p:txBody>
        </p:sp>
        <p:sp>
          <p:nvSpPr>
            <p:cNvPr id="71" name="Shape 37">
              <a:extLst>
                <a:ext uri="{FF2B5EF4-FFF2-40B4-BE49-F238E27FC236}">
                  <a16:creationId xmlns:a16="http://schemas.microsoft.com/office/drawing/2014/main" id="{AEDCFA8A-93E6-8216-EC99-853E5891AB9F}"/>
                </a:ext>
              </a:extLst>
            </p:cNvPr>
            <p:cNvSpPr/>
            <p:nvPr/>
          </p:nvSpPr>
          <p:spPr>
            <a:xfrm>
              <a:off x="457200" y="5576876"/>
              <a:ext cx="45720" cy="329183"/>
            </a:xfrm>
            <a:prstGeom prst="rect">
              <a:avLst/>
            </a:prstGeom>
            <a:solidFill>
              <a:srgbClr val="E63946"/>
            </a:solidFill>
            <a:ln w="12700">
              <a:solidFill>
                <a:srgbClr val="E63946"/>
              </a:solidFill>
              <a:prstDash val="solid"/>
            </a:ln>
          </p:spPr>
        </p:sp>
        <p:sp>
          <p:nvSpPr>
            <p:cNvPr id="72" name="Text 38">
              <a:extLst>
                <a:ext uri="{FF2B5EF4-FFF2-40B4-BE49-F238E27FC236}">
                  <a16:creationId xmlns:a16="http://schemas.microsoft.com/office/drawing/2014/main" id="{1AABA4FA-4F46-26C5-4D3C-2BC5ED530C5A}"/>
                </a:ext>
              </a:extLst>
            </p:cNvPr>
            <p:cNvSpPr/>
            <p:nvPr/>
          </p:nvSpPr>
          <p:spPr>
            <a:xfrm>
              <a:off x="594360" y="5631742"/>
              <a:ext cx="1325880" cy="219456"/>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Crypto Bait</a:t>
              </a:r>
              <a:endParaRPr lang="en-US" sz="1600" dirty="0"/>
            </a:p>
          </p:txBody>
        </p:sp>
        <p:sp>
          <p:nvSpPr>
            <p:cNvPr id="73" name="Text 39">
              <a:extLst>
                <a:ext uri="{FF2B5EF4-FFF2-40B4-BE49-F238E27FC236}">
                  <a16:creationId xmlns:a16="http://schemas.microsoft.com/office/drawing/2014/main" id="{D2D28017-0227-9FF0-10FB-4EC53BA5F312}"/>
                </a:ext>
              </a:extLst>
            </p:cNvPr>
            <p:cNvSpPr/>
            <p:nvPr/>
          </p:nvSpPr>
          <p:spPr>
            <a:xfrm>
              <a:off x="1956816" y="5631745"/>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Fake airdrop / giveaway via free-email domains</a:t>
              </a:r>
              <a:endParaRPr lang="en-US" sz="1600" dirty="0"/>
            </a:p>
          </p:txBody>
        </p:sp>
        <p:sp>
          <p:nvSpPr>
            <p:cNvPr id="74" name="Shape 41">
              <a:extLst>
                <a:ext uri="{FF2B5EF4-FFF2-40B4-BE49-F238E27FC236}">
                  <a16:creationId xmlns:a16="http://schemas.microsoft.com/office/drawing/2014/main" id="{983AFBD4-9579-4120-B050-D631584263D6}"/>
                </a:ext>
              </a:extLst>
            </p:cNvPr>
            <p:cNvSpPr/>
            <p:nvPr/>
          </p:nvSpPr>
          <p:spPr>
            <a:xfrm>
              <a:off x="457200" y="5960929"/>
              <a:ext cx="45720" cy="329183"/>
            </a:xfrm>
            <a:prstGeom prst="rect">
              <a:avLst/>
            </a:prstGeom>
            <a:solidFill>
              <a:srgbClr val="E63946"/>
            </a:solidFill>
            <a:ln w="12700">
              <a:solidFill>
                <a:srgbClr val="E63946"/>
              </a:solidFill>
              <a:prstDash val="solid"/>
            </a:ln>
          </p:spPr>
        </p:sp>
        <p:sp>
          <p:nvSpPr>
            <p:cNvPr id="75" name="Text 42">
              <a:extLst>
                <a:ext uri="{FF2B5EF4-FFF2-40B4-BE49-F238E27FC236}">
                  <a16:creationId xmlns:a16="http://schemas.microsoft.com/office/drawing/2014/main" id="{343489C3-184F-5C39-A4FD-05A287FF0ED0}"/>
                </a:ext>
              </a:extLst>
            </p:cNvPr>
            <p:cNvSpPr/>
            <p:nvPr/>
          </p:nvSpPr>
          <p:spPr>
            <a:xfrm>
              <a:off x="594360" y="6015798"/>
              <a:ext cx="1325880" cy="219456"/>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Credential Harvest</a:t>
              </a:r>
              <a:endParaRPr lang="en-US" sz="1600" dirty="0"/>
            </a:p>
          </p:txBody>
        </p:sp>
        <p:sp>
          <p:nvSpPr>
            <p:cNvPr id="76" name="Text 43">
              <a:extLst>
                <a:ext uri="{FF2B5EF4-FFF2-40B4-BE49-F238E27FC236}">
                  <a16:creationId xmlns:a16="http://schemas.microsoft.com/office/drawing/2014/main" id="{FD6339C3-B278-1DAF-D9D9-AC7C0DEEF3A0}"/>
                </a:ext>
              </a:extLst>
            </p:cNvPr>
            <p:cNvSpPr/>
            <p:nvPr/>
          </p:nvSpPr>
          <p:spPr>
            <a:xfrm>
              <a:off x="1956816" y="6015807"/>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Embedded HTML forms collect passwords in-email</a:t>
              </a:r>
              <a:endParaRPr lang="en-US" sz="1600" dirty="0"/>
            </a:p>
          </p:txBody>
        </p:sp>
      </p:grpSp>
      <p:sp>
        <p:nvSpPr>
          <p:cNvPr id="79" name="TextBox 78">
            <a:extLst>
              <a:ext uri="{FF2B5EF4-FFF2-40B4-BE49-F238E27FC236}">
                <a16:creationId xmlns:a16="http://schemas.microsoft.com/office/drawing/2014/main" id="{EE670F9A-957D-70F7-FBD2-BF4263712C64}"/>
              </a:ext>
            </a:extLst>
          </p:cNvPr>
          <p:cNvSpPr txBox="1"/>
          <p:nvPr/>
        </p:nvSpPr>
        <p:spPr>
          <a:xfrm>
            <a:off x="294054" y="2762542"/>
            <a:ext cx="3583305" cy="400110"/>
          </a:xfrm>
          <a:prstGeom prst="rect">
            <a:avLst/>
          </a:prstGeom>
          <a:noFill/>
        </p:spPr>
        <p:txBody>
          <a:bodyPr wrap="square">
            <a:spAutoFit/>
          </a:bodyPr>
          <a:lstStyle/>
          <a:p>
            <a:pPr indent="0">
              <a:buNone/>
            </a:pPr>
            <a:r>
              <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ATTACK TAXONOMY</a:t>
            </a:r>
          </a:p>
        </p:txBody>
      </p:sp>
    </p:spTree>
    <p:extLst>
      <p:ext uri="{BB962C8B-B14F-4D97-AF65-F5344CB8AC3E}">
        <p14:creationId xmlns:p14="http://schemas.microsoft.com/office/powerpoint/2010/main" val="4249595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347D1-0B2F-C8C5-85A9-2B7704378318}"/>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05E9FB2-32EE-80F8-CA61-CA370BB5B448}"/>
              </a:ext>
            </a:extLst>
          </p:cNvPr>
          <p:cNvSpPr txBox="1"/>
          <p:nvPr/>
        </p:nvSpPr>
        <p:spPr>
          <a:xfrm>
            <a:off x="349044" y="287283"/>
            <a:ext cx="6947105" cy="584775"/>
          </a:xfrm>
          <a:prstGeom prst="rect">
            <a:avLst/>
          </a:prstGeom>
          <a:noFill/>
        </p:spPr>
        <p:txBody>
          <a:bodyPr wrap="square">
            <a:spAutoFit/>
          </a:bodyPr>
          <a:lstStyle/>
          <a:p>
            <a:r>
              <a:rPr lang="en-GB" sz="3200" b="1" dirty="0">
                <a:latin typeface="Times New Roman" panose="02020603050405020304" pitchFamily="18" charset="0"/>
                <a:ea typeface="Calibri" pitchFamily="34" charset="-122"/>
                <a:cs typeface="Times New Roman" panose="02020603050405020304" pitchFamily="18" charset="0"/>
              </a:rPr>
              <a:t>DATA LOSS PREVENTION (DLP)</a:t>
            </a:r>
            <a:endParaRPr lang="en-US" sz="3200" b="1" dirty="0">
              <a:latin typeface="Times New Roman" panose="02020603050405020304" pitchFamily="18" charset="0"/>
              <a:ea typeface="Calibri" pitchFamily="34" charset="-122"/>
              <a:cs typeface="Times New Roman" panose="02020603050405020304" pitchFamily="18" charset="0"/>
            </a:endParaRPr>
          </a:p>
        </p:txBody>
      </p:sp>
      <p:sp>
        <p:nvSpPr>
          <p:cNvPr id="2" name="TextBox 1">
            <a:extLst>
              <a:ext uri="{FF2B5EF4-FFF2-40B4-BE49-F238E27FC236}">
                <a16:creationId xmlns:a16="http://schemas.microsoft.com/office/drawing/2014/main" id="{9F97415A-CC0B-CB8F-7B09-232044F6A5E4}"/>
              </a:ext>
            </a:extLst>
          </p:cNvPr>
          <p:cNvSpPr txBox="1"/>
          <p:nvPr/>
        </p:nvSpPr>
        <p:spPr>
          <a:xfrm>
            <a:off x="349044" y="825005"/>
            <a:ext cx="6276828" cy="307777"/>
          </a:xfrm>
          <a:prstGeom prst="rect">
            <a:avLst/>
          </a:prstGeom>
          <a:noFill/>
        </p:spPr>
        <p:txBody>
          <a:bodyPr wrap="square">
            <a:spAutoFit/>
          </a:bodyPr>
          <a:lstStyle/>
          <a:p>
            <a:r>
              <a:rPr lang="en-GB" sz="1400" dirty="0">
                <a:latin typeface="Times New Roman" panose="02020603050405020304" pitchFamily="18" charset="0"/>
                <a:cs typeface="Times New Roman" panose="02020603050405020304" pitchFamily="18" charset="0"/>
              </a:rPr>
              <a:t>If phishing threatens your inbox, DLP protects your outbox.</a:t>
            </a:r>
          </a:p>
        </p:txBody>
      </p:sp>
      <p:sp>
        <p:nvSpPr>
          <p:cNvPr id="4" name="TextBox 3">
            <a:extLst>
              <a:ext uri="{FF2B5EF4-FFF2-40B4-BE49-F238E27FC236}">
                <a16:creationId xmlns:a16="http://schemas.microsoft.com/office/drawing/2014/main" id="{9ECEB8C2-D4A7-0D47-97D1-10DAA6E0F34A}"/>
              </a:ext>
            </a:extLst>
          </p:cNvPr>
          <p:cNvSpPr txBox="1"/>
          <p:nvPr/>
        </p:nvSpPr>
        <p:spPr>
          <a:xfrm>
            <a:off x="349044" y="1485838"/>
            <a:ext cx="10795206" cy="2031325"/>
          </a:xfrm>
          <a:prstGeom prst="rect">
            <a:avLst/>
          </a:prstGeom>
          <a:noFill/>
        </p:spPr>
        <p:txBody>
          <a:bodyPr wrap="square">
            <a:spAutoFit/>
          </a:bodyPr>
          <a:lstStyle/>
          <a:p>
            <a:r>
              <a:rPr lang="en-GB" dirty="0">
                <a:latin typeface="Times New Roman" panose="02020603050405020304" pitchFamily="18" charset="0"/>
                <a:cs typeface="Times New Roman" panose="02020603050405020304" pitchFamily="18" charset="0"/>
              </a:rPr>
              <a:t>Why DLP is Critical in Email Security?</a:t>
            </a:r>
          </a:p>
          <a:p>
            <a:endParaRPr lang="en-GB" dirty="0">
              <a:latin typeface="Times New Roman" panose="02020603050405020304" pitchFamily="18" charset="0"/>
              <a:cs typeface="Times New Roman" panose="02020603050405020304" pitchFamily="18" charset="0"/>
            </a:endParaRPr>
          </a:p>
          <a:p>
            <a:r>
              <a:rPr lang="en-GB" dirty="0">
                <a:latin typeface="Times New Roman" panose="02020603050405020304" pitchFamily="18" charset="0"/>
                <a:cs typeface="Times New Roman" panose="02020603050405020304" pitchFamily="18" charset="0"/>
              </a:rPr>
              <a:t>While phishing targets incoming emails, sensitive data breaches often occur through outgoing emails. Data Loss Prevention (DLP) protects organizations by detecting and blocking the accidental or intentional transmission of confidential information.</a:t>
            </a:r>
          </a:p>
          <a:p>
            <a:endParaRPr lang="en-GB" dirty="0"/>
          </a:p>
          <a:p>
            <a:endParaRPr lang="en-GB" dirty="0"/>
          </a:p>
        </p:txBody>
      </p:sp>
      <p:graphicFrame>
        <p:nvGraphicFramePr>
          <p:cNvPr id="5" name="Table 4">
            <a:extLst>
              <a:ext uri="{FF2B5EF4-FFF2-40B4-BE49-F238E27FC236}">
                <a16:creationId xmlns:a16="http://schemas.microsoft.com/office/drawing/2014/main" id="{74DB93F1-6EA3-B628-9CBD-98E452431016}"/>
              </a:ext>
            </a:extLst>
          </p:cNvPr>
          <p:cNvGraphicFramePr>
            <a:graphicFrameLocks noGrp="1"/>
          </p:cNvGraphicFramePr>
          <p:nvPr>
            <p:extLst>
              <p:ext uri="{D42A27DB-BD31-4B8C-83A1-F6EECF244321}">
                <p14:modId xmlns:p14="http://schemas.microsoft.com/office/powerpoint/2010/main" val="321951559"/>
              </p:ext>
            </p:extLst>
          </p:nvPr>
        </p:nvGraphicFramePr>
        <p:xfrm>
          <a:off x="1200150" y="3090347"/>
          <a:ext cx="8555708" cy="3676406"/>
        </p:xfrm>
        <a:graphic>
          <a:graphicData uri="http://schemas.openxmlformats.org/drawingml/2006/table">
            <a:tbl>
              <a:tblPr firstRow="1" firstCol="1" lastRow="1" lastCol="1" bandRow="1" bandCol="1">
                <a:tableStyleId>{7E9639D4-E3E2-4D34-9284-5A2195B3D0D7}</a:tableStyleId>
              </a:tblPr>
              <a:tblGrid>
                <a:gridCol w="4277854">
                  <a:extLst>
                    <a:ext uri="{9D8B030D-6E8A-4147-A177-3AD203B41FA5}">
                      <a16:colId xmlns:a16="http://schemas.microsoft.com/office/drawing/2014/main" val="3711821873"/>
                    </a:ext>
                  </a:extLst>
                </a:gridCol>
                <a:gridCol w="4277854">
                  <a:extLst>
                    <a:ext uri="{9D8B030D-6E8A-4147-A177-3AD203B41FA5}">
                      <a16:colId xmlns:a16="http://schemas.microsoft.com/office/drawing/2014/main" val="1597999458"/>
                    </a:ext>
                  </a:extLst>
                </a:gridCol>
              </a:tblGrid>
              <a:tr h="336310">
                <a:tc>
                  <a:txBody>
                    <a:bodyPr/>
                    <a:lstStyle/>
                    <a:p>
                      <a:pPr algn="ctr">
                        <a:buNone/>
                      </a:pPr>
                      <a:r>
                        <a:rPr lang="en-GB" sz="1600" dirty="0">
                          <a:solidFill>
                            <a:schemeClr val="bg1"/>
                          </a:solidFill>
                          <a:latin typeface="Times New Roman" panose="02020603050405020304" pitchFamily="18" charset="0"/>
                          <a:cs typeface="Times New Roman" panose="02020603050405020304" pitchFamily="18" charset="0"/>
                        </a:rPr>
                        <a:t>Risk</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dirty="0">
                          <a:solidFill>
                            <a:schemeClr val="bg1"/>
                          </a:solidFill>
                          <a:latin typeface="Times New Roman" panose="02020603050405020304" pitchFamily="18" charset="0"/>
                          <a:cs typeface="Times New Roman" panose="02020603050405020304" pitchFamily="18" charset="0"/>
                        </a:rPr>
                        <a:t>Description</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38692505"/>
                  </a:ext>
                </a:extLst>
              </a:tr>
              <a:tr h="860504">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Human Error</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a:solidFill>
                            <a:schemeClr val="tx1"/>
                          </a:solidFill>
                          <a:latin typeface="Times New Roman" panose="02020603050405020304" pitchFamily="18" charset="0"/>
                          <a:cs typeface="Times New Roman" panose="02020603050405020304" pitchFamily="18" charset="0"/>
                        </a:rPr>
                        <a:t>Employees may unintentionally send sensitive information to unauthorized recipients.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31722774"/>
                  </a:ext>
                </a:extLst>
              </a:tr>
              <a:tr h="641389">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Insider Threats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Malicious insiders may intentionally exfiltrate confidential data.</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4185926"/>
                  </a:ext>
                </a:extLst>
              </a:tr>
              <a:tr h="598407">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Misaddressed Emails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Incorrect recipients can lead to severe data breaches.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80781762"/>
                  </a:ext>
                </a:extLst>
              </a:tr>
              <a:tr h="641389">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Unsecured Attachments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Sensitive files may be shared without encryption or authorization.</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9416255"/>
                  </a:ext>
                </a:extLst>
              </a:tr>
              <a:tr h="598407">
                <a:tc>
                  <a:txBody>
                    <a:bodyPr/>
                    <a:lstStyle/>
                    <a:p>
                      <a:pPr algn="ctr">
                        <a:buNone/>
                      </a:pPr>
                      <a:r>
                        <a:rPr lang="en-GB" sz="1600" b="0">
                          <a:solidFill>
                            <a:schemeClr val="tx1"/>
                          </a:solidFill>
                          <a:latin typeface="Times New Roman" panose="02020603050405020304" pitchFamily="18" charset="0"/>
                          <a:cs typeface="Times New Roman" panose="02020603050405020304" pitchFamily="18" charset="0"/>
                        </a:rPr>
                        <a:t>Lack of Awareness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Users may unknowingly violate data protection policies.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37114091"/>
                  </a:ext>
                </a:extLst>
              </a:tr>
            </a:tbl>
          </a:graphicData>
        </a:graphic>
      </p:graphicFrame>
    </p:spTree>
    <p:extLst>
      <p:ext uri="{BB962C8B-B14F-4D97-AF65-F5344CB8AC3E}">
        <p14:creationId xmlns:p14="http://schemas.microsoft.com/office/powerpoint/2010/main" val="18895568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273FC-6F07-8739-1AE9-D8D8E9348F0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AEF1A7F-CBB5-F7DC-ECA4-02FE6FD850E6}"/>
              </a:ext>
            </a:extLst>
          </p:cNvPr>
          <p:cNvSpPr txBox="1"/>
          <p:nvPr/>
        </p:nvSpPr>
        <p:spPr>
          <a:xfrm>
            <a:off x="349044" y="287283"/>
            <a:ext cx="10642806" cy="584775"/>
          </a:xfrm>
          <a:prstGeom prst="rect">
            <a:avLst/>
          </a:prstGeom>
          <a:noFill/>
        </p:spPr>
        <p:txBody>
          <a:bodyPr wrap="square">
            <a:spAutoFit/>
          </a:bodyPr>
          <a:lstStyle/>
          <a:p>
            <a:r>
              <a:rPr lang="en-GB" sz="3200" b="1" dirty="0">
                <a:latin typeface="Times New Roman" panose="02020603050405020304" pitchFamily="18" charset="0"/>
                <a:ea typeface="Calibri" pitchFamily="34" charset="-122"/>
                <a:cs typeface="Times New Roman" panose="02020603050405020304" pitchFamily="18" charset="0"/>
              </a:rPr>
              <a:t>INGRESS &amp; EGRESS FILTERING IN PHISHGUARD</a:t>
            </a:r>
            <a:endParaRPr lang="en-US" sz="3200" b="1" dirty="0">
              <a:latin typeface="Times New Roman" panose="02020603050405020304" pitchFamily="18" charset="0"/>
              <a:ea typeface="Calibri" pitchFamily="34" charset="-122"/>
              <a:cs typeface="Times New Roman" panose="02020603050405020304" pitchFamily="18" charset="0"/>
            </a:endParaRPr>
          </a:p>
        </p:txBody>
      </p:sp>
      <p:sp>
        <p:nvSpPr>
          <p:cNvPr id="4" name="TextBox 3">
            <a:extLst>
              <a:ext uri="{FF2B5EF4-FFF2-40B4-BE49-F238E27FC236}">
                <a16:creationId xmlns:a16="http://schemas.microsoft.com/office/drawing/2014/main" id="{0B3C2BC6-653C-BD8C-7F66-B38D12C16EC8}"/>
              </a:ext>
            </a:extLst>
          </p:cNvPr>
          <p:cNvSpPr txBox="1"/>
          <p:nvPr/>
        </p:nvSpPr>
        <p:spPr>
          <a:xfrm>
            <a:off x="349044" y="1485838"/>
            <a:ext cx="10795206" cy="646331"/>
          </a:xfrm>
          <a:prstGeom prst="rect">
            <a:avLst/>
          </a:prstGeom>
          <a:noFill/>
        </p:spPr>
        <p:txBody>
          <a:bodyPr wrap="square">
            <a:spAutoFit/>
          </a:bodyPr>
          <a:lstStyle/>
          <a:p>
            <a:r>
              <a:rPr lang="en-US" dirty="0" err="1">
                <a:latin typeface="Times New Roman" panose="02020603050405020304" pitchFamily="18" charset="0"/>
                <a:ea typeface="Calibri" pitchFamily="34" charset="-122"/>
                <a:cs typeface="Times New Roman" panose="02020603050405020304" pitchFamily="18" charset="0"/>
              </a:rPr>
              <a:t>PhishGuard</a:t>
            </a:r>
            <a:r>
              <a:rPr lang="en-US" dirty="0">
                <a:latin typeface="Times New Roman" panose="02020603050405020304" pitchFamily="18" charset="0"/>
                <a:ea typeface="Calibri" pitchFamily="34" charset="-122"/>
                <a:cs typeface="Times New Roman" panose="02020603050405020304" pitchFamily="18" charset="0"/>
              </a:rPr>
              <a:t> parses the Authentication-Results header on every incoming email. Each failed protocol adds +2 to the risk score. </a:t>
            </a:r>
            <a:endParaRPr lang="en-US" dirty="0">
              <a:solidFill>
                <a:srgbClr val="FF0000"/>
              </a:solidFill>
              <a:latin typeface="Times New Roman" panose="02020603050405020304" pitchFamily="18" charset="0"/>
              <a:cs typeface="Times New Roman" panose="02020603050405020304" pitchFamily="18" charset="0"/>
            </a:endParaRPr>
          </a:p>
        </p:txBody>
      </p:sp>
      <p:grpSp>
        <p:nvGrpSpPr>
          <p:cNvPr id="128" name="Group 127">
            <a:extLst>
              <a:ext uri="{FF2B5EF4-FFF2-40B4-BE49-F238E27FC236}">
                <a16:creationId xmlns:a16="http://schemas.microsoft.com/office/drawing/2014/main" id="{BC5A4621-2DC3-C296-99A8-64ACB04850D9}"/>
              </a:ext>
            </a:extLst>
          </p:cNvPr>
          <p:cNvGrpSpPr/>
          <p:nvPr/>
        </p:nvGrpSpPr>
        <p:grpSpPr>
          <a:xfrm>
            <a:off x="432435" y="2132169"/>
            <a:ext cx="10464166" cy="4438548"/>
            <a:chOff x="365760" y="1591056"/>
            <a:chExt cx="8412480" cy="3255264"/>
          </a:xfrm>
          <a:effectLst/>
        </p:grpSpPr>
        <p:sp>
          <p:nvSpPr>
            <p:cNvPr id="106" name="Shape 7">
              <a:extLst>
                <a:ext uri="{FF2B5EF4-FFF2-40B4-BE49-F238E27FC236}">
                  <a16:creationId xmlns:a16="http://schemas.microsoft.com/office/drawing/2014/main" id="{DDEEE377-AA04-4799-8BD0-AAC9F0B76B47}"/>
                </a:ext>
              </a:extLst>
            </p:cNvPr>
            <p:cNvSpPr/>
            <p:nvPr/>
          </p:nvSpPr>
          <p:spPr>
            <a:xfrm>
              <a:off x="365760" y="1591056"/>
              <a:ext cx="4114800" cy="3255264"/>
            </a:xfrm>
            <a:prstGeom prst="rect">
              <a:avLst/>
            </a:prstGeom>
            <a:solidFill>
              <a:schemeClr val="bg1"/>
            </a:solidFill>
            <a:ln w="12700">
              <a:solidFill>
                <a:srgbClr val="00B4D8"/>
              </a:solidFill>
              <a:prstDash val="solid"/>
            </a:ln>
            <a:effectLst/>
          </p:spPr>
        </p:sp>
        <p:sp>
          <p:nvSpPr>
            <p:cNvPr id="107" name="Shape 8">
              <a:extLst>
                <a:ext uri="{FF2B5EF4-FFF2-40B4-BE49-F238E27FC236}">
                  <a16:creationId xmlns:a16="http://schemas.microsoft.com/office/drawing/2014/main" id="{E4574603-F820-E4AF-BCEC-676969489D3E}"/>
                </a:ext>
              </a:extLst>
            </p:cNvPr>
            <p:cNvSpPr/>
            <p:nvPr/>
          </p:nvSpPr>
          <p:spPr>
            <a:xfrm>
              <a:off x="365760" y="1591056"/>
              <a:ext cx="4114800" cy="420624"/>
            </a:xfrm>
            <a:prstGeom prst="rect">
              <a:avLst/>
            </a:prstGeom>
            <a:solidFill>
              <a:srgbClr val="00B4D8"/>
            </a:solidFill>
            <a:ln w="12700">
              <a:solidFill>
                <a:srgbClr val="00B4D8"/>
              </a:solidFill>
              <a:prstDash val="solid"/>
            </a:ln>
          </p:spPr>
        </p:sp>
        <p:sp>
          <p:nvSpPr>
            <p:cNvPr id="109" name="Text 10">
              <a:extLst>
                <a:ext uri="{FF2B5EF4-FFF2-40B4-BE49-F238E27FC236}">
                  <a16:creationId xmlns:a16="http://schemas.microsoft.com/office/drawing/2014/main" id="{E3E31190-7BE4-8769-BDA8-493BC9F0F910}"/>
                </a:ext>
              </a:extLst>
            </p:cNvPr>
            <p:cNvSpPr/>
            <p:nvPr/>
          </p:nvSpPr>
          <p:spPr>
            <a:xfrm>
              <a:off x="530352" y="1591056"/>
              <a:ext cx="3785616" cy="448688"/>
            </a:xfrm>
            <a:prstGeom prst="rect">
              <a:avLst/>
            </a:prstGeom>
            <a:noFill/>
            <a:ln/>
          </p:spPr>
          <p:txBody>
            <a:bodyPr wrap="square" lIns="0" tIns="0" rIns="0" bIns="0" rtlCol="0" anchor="ctr"/>
            <a:lstStyle/>
            <a:p>
              <a:pPr algn="ctr"/>
              <a:r>
                <a:rPr lang="en-GB" sz="3200" dirty="0">
                  <a:latin typeface="Times New Roman" panose="02020603050405020304" pitchFamily="18" charset="0"/>
                  <a:ea typeface="Tahoma" panose="020B0604030504040204" pitchFamily="34" charset="0"/>
                  <a:cs typeface="Times New Roman" panose="02020603050405020304" pitchFamily="18" charset="0"/>
                </a:rPr>
                <a:t>Ingress Filtering (Incoming)</a:t>
              </a:r>
              <a:endParaRPr lang="en-US" sz="3200" dirty="0">
                <a:latin typeface="Times New Roman" panose="02020603050405020304" pitchFamily="18" charset="0"/>
                <a:ea typeface="Tahoma" panose="020B0604030504040204" pitchFamily="34" charset="0"/>
                <a:cs typeface="Times New Roman" panose="02020603050405020304" pitchFamily="18" charset="0"/>
              </a:endParaRPr>
            </a:p>
          </p:txBody>
        </p:sp>
        <p:sp>
          <p:nvSpPr>
            <p:cNvPr id="110" name="Text 11">
              <a:extLst>
                <a:ext uri="{FF2B5EF4-FFF2-40B4-BE49-F238E27FC236}">
                  <a16:creationId xmlns:a16="http://schemas.microsoft.com/office/drawing/2014/main" id="{1074E3AE-D043-E0B0-46E2-B2ADB39AA6D7}"/>
                </a:ext>
              </a:extLst>
            </p:cNvPr>
            <p:cNvSpPr/>
            <p:nvPr/>
          </p:nvSpPr>
          <p:spPr>
            <a:xfrm>
              <a:off x="530352" y="20848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HOW IT WORKS</a:t>
              </a:r>
              <a:endParaRPr lang="en-US" sz="1600" dirty="0">
                <a:latin typeface="Times New Roman" panose="02020603050405020304" pitchFamily="18" charset="0"/>
                <a:cs typeface="Times New Roman" panose="02020603050405020304" pitchFamily="18" charset="0"/>
              </a:endParaRPr>
            </a:p>
          </p:txBody>
        </p:sp>
        <p:sp>
          <p:nvSpPr>
            <p:cNvPr id="111" name="Text 12">
              <a:extLst>
                <a:ext uri="{FF2B5EF4-FFF2-40B4-BE49-F238E27FC236}">
                  <a16:creationId xmlns:a16="http://schemas.microsoft.com/office/drawing/2014/main" id="{0D876CF3-49E4-661E-4C1A-B57667A9F13C}"/>
                </a:ext>
              </a:extLst>
            </p:cNvPr>
            <p:cNvSpPr/>
            <p:nvPr/>
          </p:nvSpPr>
          <p:spPr>
            <a:xfrm>
              <a:off x="486433" y="2286000"/>
              <a:ext cx="3933995" cy="658368"/>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receiving mail server checks the sending IP address against a DNS TXT record published by the domain owner. If the IP is not in the authorised list, SPF fails.</a:t>
              </a:r>
              <a:endParaRPr lang="en-US" sz="1600" dirty="0">
                <a:latin typeface="Times New Roman" panose="02020603050405020304" pitchFamily="18" charset="0"/>
                <a:cs typeface="Times New Roman" panose="02020603050405020304" pitchFamily="18" charset="0"/>
              </a:endParaRPr>
            </a:p>
          </p:txBody>
        </p:sp>
        <p:sp>
          <p:nvSpPr>
            <p:cNvPr id="112" name="Text 13">
              <a:extLst>
                <a:ext uri="{FF2B5EF4-FFF2-40B4-BE49-F238E27FC236}">
                  <a16:creationId xmlns:a16="http://schemas.microsoft.com/office/drawing/2014/main" id="{E6115E7B-AE2F-672E-4B96-DE174D4D77C7}"/>
                </a:ext>
              </a:extLst>
            </p:cNvPr>
            <p:cNvSpPr/>
            <p:nvPr/>
          </p:nvSpPr>
          <p:spPr>
            <a:xfrm>
              <a:off x="530352" y="29992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WHAT FAILURE MEANS</a:t>
              </a:r>
              <a:endParaRPr lang="en-US" sz="1600" dirty="0">
                <a:latin typeface="Times New Roman" panose="02020603050405020304" pitchFamily="18" charset="0"/>
                <a:cs typeface="Times New Roman" panose="02020603050405020304" pitchFamily="18" charset="0"/>
              </a:endParaRPr>
            </a:p>
          </p:txBody>
        </p:sp>
        <p:sp>
          <p:nvSpPr>
            <p:cNvPr id="113" name="Text 14">
              <a:extLst>
                <a:ext uri="{FF2B5EF4-FFF2-40B4-BE49-F238E27FC236}">
                  <a16:creationId xmlns:a16="http://schemas.microsoft.com/office/drawing/2014/main" id="{2C29BFB0-A04F-1812-51CB-60E62111D8E2}"/>
                </a:ext>
              </a:extLst>
            </p:cNvPr>
            <p:cNvSpPr/>
            <p:nvPr/>
          </p:nvSpPr>
          <p:spPr>
            <a:xfrm>
              <a:off x="530352" y="3200400"/>
              <a:ext cx="3785616" cy="512064"/>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email originated from an IP not authorised by the domain — strong indicator of sender spoofing or a compromised mail relay.</a:t>
              </a:r>
              <a:endParaRPr lang="en-US" sz="1600" dirty="0">
                <a:latin typeface="Times New Roman" panose="02020603050405020304" pitchFamily="18" charset="0"/>
                <a:cs typeface="Times New Roman" panose="02020603050405020304" pitchFamily="18" charset="0"/>
              </a:endParaRPr>
            </a:p>
          </p:txBody>
        </p:sp>
        <p:sp>
          <p:nvSpPr>
            <p:cNvPr id="114" name="Shape 15">
              <a:extLst>
                <a:ext uri="{FF2B5EF4-FFF2-40B4-BE49-F238E27FC236}">
                  <a16:creationId xmlns:a16="http://schemas.microsoft.com/office/drawing/2014/main" id="{3AF585BB-E234-A0EB-BBD1-98159C6DFA58}"/>
                </a:ext>
              </a:extLst>
            </p:cNvPr>
            <p:cNvSpPr/>
            <p:nvPr/>
          </p:nvSpPr>
          <p:spPr>
            <a:xfrm>
              <a:off x="530352" y="3877055"/>
              <a:ext cx="3785616" cy="822960"/>
            </a:xfrm>
            <a:prstGeom prst="rect">
              <a:avLst/>
            </a:prstGeom>
            <a:solidFill>
              <a:schemeClr val="bg1"/>
            </a:solidFill>
            <a:ln w="12700">
              <a:solidFill>
                <a:srgbClr val="00B4D8"/>
              </a:solidFill>
              <a:prstDash val="solid"/>
            </a:ln>
          </p:spPr>
        </p:sp>
        <p:sp>
          <p:nvSpPr>
            <p:cNvPr id="115" name="Text 16">
              <a:extLst>
                <a:ext uri="{FF2B5EF4-FFF2-40B4-BE49-F238E27FC236}">
                  <a16:creationId xmlns:a16="http://schemas.microsoft.com/office/drawing/2014/main" id="{6A5251D2-4954-4AD3-79C9-948F1205129A}"/>
                </a:ext>
              </a:extLst>
            </p:cNvPr>
            <p:cNvSpPr/>
            <p:nvPr/>
          </p:nvSpPr>
          <p:spPr>
            <a:xfrm>
              <a:off x="640080" y="3950207"/>
              <a:ext cx="3566160" cy="182880"/>
            </a:xfrm>
            <a:prstGeom prst="rect">
              <a:avLst/>
            </a:prstGeom>
            <a:noFill/>
            <a:ln/>
          </p:spPr>
          <p:txBody>
            <a:bodyPr wrap="square" lIns="0" tIns="0" rIns="0" bIns="0" rtlCol="0" anchor="ctr"/>
            <a:lstStyle/>
            <a:p>
              <a:pPr marL="0" indent="0">
                <a:buNone/>
              </a:pPr>
              <a:r>
                <a:rPr lang="en-US" b="1" kern="0" spc="100" dirty="0">
                  <a:latin typeface="Times New Roman" panose="02020603050405020304" pitchFamily="18" charset="0"/>
                  <a:ea typeface="Calibri" pitchFamily="34" charset="-122"/>
                  <a:cs typeface="Times New Roman" panose="02020603050405020304" pitchFamily="18" charset="0"/>
                </a:rPr>
                <a:t>Ingress Detection Example:</a:t>
              </a:r>
              <a:endParaRPr lang="en-US" dirty="0">
                <a:latin typeface="Times New Roman" panose="02020603050405020304" pitchFamily="18" charset="0"/>
                <a:cs typeface="Times New Roman" panose="02020603050405020304" pitchFamily="18" charset="0"/>
              </a:endParaRPr>
            </a:p>
          </p:txBody>
        </p:sp>
        <p:sp>
          <p:nvSpPr>
            <p:cNvPr id="116" name="Text 17">
              <a:extLst>
                <a:ext uri="{FF2B5EF4-FFF2-40B4-BE49-F238E27FC236}">
                  <a16:creationId xmlns:a16="http://schemas.microsoft.com/office/drawing/2014/main" id="{E18DD956-C68B-6FC5-461C-BAD858CA4D72}"/>
                </a:ext>
              </a:extLst>
            </p:cNvPr>
            <p:cNvSpPr/>
            <p:nvPr/>
          </p:nvSpPr>
          <p:spPr>
            <a:xfrm>
              <a:off x="640080" y="4151375"/>
              <a:ext cx="3566160" cy="457200"/>
            </a:xfrm>
            <a:prstGeom prst="rect">
              <a:avLst/>
            </a:prstGeom>
            <a:noFill/>
            <a:ln/>
          </p:spPr>
          <p:txBody>
            <a:bodyPr wrap="square" lIns="0" tIns="0" rIns="0" bIns="0" rtlCol="0" anchor="ctr"/>
            <a:lstStyle/>
            <a:p>
              <a:r>
                <a:rPr lang="en-GB" sz="1400" dirty="0"/>
                <a:t>paypal_spoof.eml </a:t>
              </a:r>
            </a:p>
            <a:p>
              <a:r>
                <a:rPr lang="en-GB" sz="1400" dirty="0"/>
                <a:t>Score: 23 | Severity: CRITICAL</a:t>
              </a:r>
              <a:endParaRPr lang="en-US" sz="1400" dirty="0">
                <a:latin typeface="Times New Roman" panose="02020603050405020304" pitchFamily="18" charset="0"/>
                <a:cs typeface="Times New Roman" panose="02020603050405020304" pitchFamily="18" charset="0"/>
              </a:endParaRPr>
            </a:p>
          </p:txBody>
        </p:sp>
        <p:sp>
          <p:nvSpPr>
            <p:cNvPr id="117" name="Shape 18">
              <a:extLst>
                <a:ext uri="{FF2B5EF4-FFF2-40B4-BE49-F238E27FC236}">
                  <a16:creationId xmlns:a16="http://schemas.microsoft.com/office/drawing/2014/main" id="{2EEEF405-0577-0F5B-0308-F2F20046570C}"/>
                </a:ext>
              </a:extLst>
            </p:cNvPr>
            <p:cNvSpPr/>
            <p:nvPr/>
          </p:nvSpPr>
          <p:spPr>
            <a:xfrm>
              <a:off x="4663440" y="1591056"/>
              <a:ext cx="4114800" cy="3255264"/>
            </a:xfrm>
            <a:prstGeom prst="rect">
              <a:avLst/>
            </a:prstGeom>
            <a:solidFill>
              <a:schemeClr val="bg1"/>
            </a:solidFill>
            <a:ln w="12700">
              <a:solidFill>
                <a:srgbClr val="F4A261"/>
              </a:solidFill>
              <a:prstDash val="solid"/>
            </a:ln>
            <a:effectLst/>
          </p:spPr>
        </p:sp>
        <p:sp>
          <p:nvSpPr>
            <p:cNvPr id="118" name="Shape 19">
              <a:extLst>
                <a:ext uri="{FF2B5EF4-FFF2-40B4-BE49-F238E27FC236}">
                  <a16:creationId xmlns:a16="http://schemas.microsoft.com/office/drawing/2014/main" id="{EC29E464-F7DF-C075-8460-44855BE27CE6}"/>
                </a:ext>
              </a:extLst>
            </p:cNvPr>
            <p:cNvSpPr/>
            <p:nvPr/>
          </p:nvSpPr>
          <p:spPr>
            <a:xfrm>
              <a:off x="4663440" y="1591056"/>
              <a:ext cx="4114800" cy="420624"/>
            </a:xfrm>
            <a:prstGeom prst="rect">
              <a:avLst/>
            </a:prstGeom>
            <a:solidFill>
              <a:srgbClr val="F4A261"/>
            </a:solidFill>
            <a:ln w="12700">
              <a:solidFill>
                <a:srgbClr val="F4A261"/>
              </a:solidFill>
              <a:prstDash val="solid"/>
            </a:ln>
          </p:spPr>
        </p:sp>
        <p:sp>
          <p:nvSpPr>
            <p:cNvPr id="120" name="Text 21">
              <a:extLst>
                <a:ext uri="{FF2B5EF4-FFF2-40B4-BE49-F238E27FC236}">
                  <a16:creationId xmlns:a16="http://schemas.microsoft.com/office/drawing/2014/main" id="{17F3F05E-9D3A-5DFB-0A66-ACAA6352C5D9}"/>
                </a:ext>
              </a:extLst>
            </p:cNvPr>
            <p:cNvSpPr/>
            <p:nvPr/>
          </p:nvSpPr>
          <p:spPr>
            <a:xfrm>
              <a:off x="4719788" y="1664208"/>
              <a:ext cx="3875572" cy="274320"/>
            </a:xfrm>
            <a:prstGeom prst="rect">
              <a:avLst/>
            </a:prstGeom>
            <a:noFill/>
            <a:ln/>
          </p:spPr>
          <p:txBody>
            <a:bodyPr wrap="square" lIns="0" tIns="0" rIns="0" bIns="0" rtlCol="0" anchor="ctr"/>
            <a:lstStyle/>
            <a:p>
              <a:pPr algn="ctr"/>
              <a:r>
                <a:rPr lang="en-GB" sz="3200" dirty="0">
                  <a:latin typeface="Times New Roman" panose="02020603050405020304" pitchFamily="18" charset="0"/>
                  <a:cs typeface="Times New Roman" panose="02020603050405020304" pitchFamily="18" charset="0"/>
                </a:rPr>
                <a:t>Egress Filtering (Outgoing)</a:t>
              </a:r>
              <a:endParaRPr lang="en-US" sz="3200" dirty="0">
                <a:latin typeface="Times New Roman" panose="02020603050405020304" pitchFamily="18" charset="0"/>
                <a:cs typeface="Times New Roman" panose="02020603050405020304" pitchFamily="18" charset="0"/>
              </a:endParaRPr>
            </a:p>
          </p:txBody>
        </p:sp>
        <p:sp>
          <p:nvSpPr>
            <p:cNvPr id="121" name="Text 22">
              <a:extLst>
                <a:ext uri="{FF2B5EF4-FFF2-40B4-BE49-F238E27FC236}">
                  <a16:creationId xmlns:a16="http://schemas.microsoft.com/office/drawing/2014/main" id="{AC6046DD-EC1F-5A33-24C3-C184F6E9FD6B}"/>
                </a:ext>
              </a:extLst>
            </p:cNvPr>
            <p:cNvSpPr/>
            <p:nvPr/>
          </p:nvSpPr>
          <p:spPr>
            <a:xfrm>
              <a:off x="4828032" y="20848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HOW IT WORKS</a:t>
              </a:r>
              <a:endParaRPr lang="en-US" sz="1600" dirty="0">
                <a:latin typeface="Times New Roman" panose="02020603050405020304" pitchFamily="18" charset="0"/>
                <a:cs typeface="Times New Roman" panose="02020603050405020304" pitchFamily="18" charset="0"/>
              </a:endParaRPr>
            </a:p>
          </p:txBody>
        </p:sp>
        <p:sp>
          <p:nvSpPr>
            <p:cNvPr id="122" name="Text 23">
              <a:extLst>
                <a:ext uri="{FF2B5EF4-FFF2-40B4-BE49-F238E27FC236}">
                  <a16:creationId xmlns:a16="http://schemas.microsoft.com/office/drawing/2014/main" id="{FDB504FA-58AB-9357-5355-B8BAC4E7A823}"/>
                </a:ext>
              </a:extLst>
            </p:cNvPr>
            <p:cNvSpPr/>
            <p:nvPr/>
          </p:nvSpPr>
          <p:spPr>
            <a:xfrm>
              <a:off x="4755748" y="2377439"/>
              <a:ext cx="3873632" cy="658368"/>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receiving server fetches the public key from DNS and verifies the cryptographic signature.</a:t>
              </a:r>
              <a:endParaRPr lang="en-US" sz="1600" dirty="0">
                <a:latin typeface="Times New Roman" panose="02020603050405020304" pitchFamily="18" charset="0"/>
                <a:cs typeface="Times New Roman" panose="02020603050405020304" pitchFamily="18" charset="0"/>
              </a:endParaRPr>
            </a:p>
          </p:txBody>
        </p:sp>
        <p:sp>
          <p:nvSpPr>
            <p:cNvPr id="123" name="Text 24">
              <a:extLst>
                <a:ext uri="{FF2B5EF4-FFF2-40B4-BE49-F238E27FC236}">
                  <a16:creationId xmlns:a16="http://schemas.microsoft.com/office/drawing/2014/main" id="{C7B4E9E2-2A9B-A660-B61F-68E555D617F9}"/>
                </a:ext>
              </a:extLst>
            </p:cNvPr>
            <p:cNvSpPr/>
            <p:nvPr/>
          </p:nvSpPr>
          <p:spPr>
            <a:xfrm>
              <a:off x="4828032" y="29992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WHAT FAILURE MEANS</a:t>
              </a:r>
              <a:endParaRPr lang="en-US" sz="1600" dirty="0">
                <a:latin typeface="Times New Roman" panose="02020603050405020304" pitchFamily="18" charset="0"/>
                <a:cs typeface="Times New Roman" panose="02020603050405020304" pitchFamily="18" charset="0"/>
              </a:endParaRPr>
            </a:p>
          </p:txBody>
        </p:sp>
        <p:sp>
          <p:nvSpPr>
            <p:cNvPr id="124" name="Text 25">
              <a:extLst>
                <a:ext uri="{FF2B5EF4-FFF2-40B4-BE49-F238E27FC236}">
                  <a16:creationId xmlns:a16="http://schemas.microsoft.com/office/drawing/2014/main" id="{E831113D-6F3B-9345-8AD2-2C3733F2DB22}"/>
                </a:ext>
              </a:extLst>
            </p:cNvPr>
            <p:cNvSpPr/>
            <p:nvPr/>
          </p:nvSpPr>
          <p:spPr>
            <a:xfrm>
              <a:off x="4828032" y="3200400"/>
              <a:ext cx="3785616" cy="512064"/>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email content was altered in transit, or the signature was forged. Structural integrity is broken — the message cannot be trusted.</a:t>
              </a:r>
              <a:endParaRPr lang="en-US" sz="1600" dirty="0">
                <a:latin typeface="Times New Roman" panose="02020603050405020304" pitchFamily="18" charset="0"/>
                <a:cs typeface="Times New Roman" panose="02020603050405020304" pitchFamily="18" charset="0"/>
              </a:endParaRPr>
            </a:p>
          </p:txBody>
        </p:sp>
        <p:sp>
          <p:nvSpPr>
            <p:cNvPr id="125" name="Shape 26">
              <a:extLst>
                <a:ext uri="{FF2B5EF4-FFF2-40B4-BE49-F238E27FC236}">
                  <a16:creationId xmlns:a16="http://schemas.microsoft.com/office/drawing/2014/main" id="{78D840D2-2D02-F25B-CF6D-F55AA80E60CA}"/>
                </a:ext>
              </a:extLst>
            </p:cNvPr>
            <p:cNvSpPr/>
            <p:nvPr/>
          </p:nvSpPr>
          <p:spPr>
            <a:xfrm>
              <a:off x="4843764" y="3877055"/>
              <a:ext cx="3785616" cy="822960"/>
            </a:xfrm>
            <a:prstGeom prst="rect">
              <a:avLst/>
            </a:prstGeom>
            <a:solidFill>
              <a:schemeClr val="bg1"/>
            </a:solidFill>
            <a:ln w="12700">
              <a:solidFill>
                <a:srgbClr val="F4A261"/>
              </a:solidFill>
              <a:prstDash val="solid"/>
            </a:ln>
          </p:spPr>
        </p:sp>
        <p:sp>
          <p:nvSpPr>
            <p:cNvPr id="126" name="Text 27">
              <a:extLst>
                <a:ext uri="{FF2B5EF4-FFF2-40B4-BE49-F238E27FC236}">
                  <a16:creationId xmlns:a16="http://schemas.microsoft.com/office/drawing/2014/main" id="{B7610952-50F4-E8BE-70AF-F40C89491EBD}"/>
                </a:ext>
              </a:extLst>
            </p:cNvPr>
            <p:cNvSpPr/>
            <p:nvPr/>
          </p:nvSpPr>
          <p:spPr>
            <a:xfrm>
              <a:off x="4953492" y="3950207"/>
              <a:ext cx="3566160" cy="182880"/>
            </a:xfrm>
            <a:prstGeom prst="rect">
              <a:avLst/>
            </a:prstGeom>
            <a:noFill/>
            <a:ln/>
          </p:spPr>
          <p:txBody>
            <a:bodyPr wrap="square" lIns="0" tIns="0" rIns="0" bIns="0" rtlCol="0" anchor="ctr"/>
            <a:lstStyle/>
            <a:p>
              <a:pPr marL="0" indent="0">
                <a:buNone/>
              </a:pPr>
              <a:r>
                <a:rPr lang="en-US" b="1" kern="0" spc="100" dirty="0">
                  <a:latin typeface="Times New Roman" panose="02020603050405020304" pitchFamily="18" charset="0"/>
                  <a:ea typeface="Calibri" pitchFamily="34" charset="-122"/>
                  <a:cs typeface="Times New Roman" panose="02020603050405020304" pitchFamily="18" charset="0"/>
                </a:rPr>
                <a:t>Egress Detection Example:</a:t>
              </a:r>
              <a:endParaRPr lang="en-US" dirty="0">
                <a:latin typeface="Times New Roman" panose="02020603050405020304" pitchFamily="18" charset="0"/>
                <a:cs typeface="Times New Roman" panose="02020603050405020304" pitchFamily="18" charset="0"/>
              </a:endParaRPr>
            </a:p>
          </p:txBody>
        </p:sp>
        <p:sp>
          <p:nvSpPr>
            <p:cNvPr id="127" name="Text 28">
              <a:extLst>
                <a:ext uri="{FF2B5EF4-FFF2-40B4-BE49-F238E27FC236}">
                  <a16:creationId xmlns:a16="http://schemas.microsoft.com/office/drawing/2014/main" id="{1DF35F7A-DE70-4545-7E55-E59B84C38BF2}"/>
                </a:ext>
              </a:extLst>
            </p:cNvPr>
            <p:cNvSpPr/>
            <p:nvPr/>
          </p:nvSpPr>
          <p:spPr>
            <a:xfrm>
              <a:off x="4953492" y="4151375"/>
              <a:ext cx="3566160" cy="457200"/>
            </a:xfrm>
            <a:prstGeom prst="rect">
              <a:avLst/>
            </a:prstGeom>
            <a:noFill/>
            <a:ln/>
          </p:spPr>
          <p:txBody>
            <a:bodyPr wrap="square" lIns="0" tIns="0" rIns="0" bIns="0" rtlCol="0" anchor="ctr"/>
            <a:lstStyle/>
            <a:p>
              <a:pPr marL="0" indent="0">
                <a:buNone/>
              </a:pPr>
              <a:r>
                <a:rPr lang="en-US" sz="1400" dirty="0">
                  <a:latin typeface="Times New Roman" panose="02020603050405020304" pitchFamily="18" charset="0"/>
                  <a:ea typeface="Consolas" pitchFamily="34" charset="-122"/>
                  <a:cs typeface="Times New Roman" panose="02020603050405020304" pitchFamily="18" charset="0"/>
                </a:rPr>
                <a:t>Pan_aadhar_leak.eml</a:t>
              </a:r>
            </a:p>
            <a:p>
              <a:pPr marL="0" indent="0">
                <a:buNone/>
              </a:pPr>
              <a:r>
                <a:rPr lang="en-US" sz="1400" dirty="0">
                  <a:latin typeface="Times New Roman" panose="02020603050405020304" pitchFamily="18" charset="0"/>
                  <a:cs typeface="Times New Roman" panose="02020603050405020304" pitchFamily="18" charset="0"/>
                </a:rPr>
                <a:t>4x PAN + 4x Aadhar | Blocked</a:t>
              </a:r>
            </a:p>
          </p:txBody>
        </p:sp>
      </p:grpSp>
    </p:spTree>
    <p:extLst>
      <p:ext uri="{BB962C8B-B14F-4D97-AF65-F5344CB8AC3E}">
        <p14:creationId xmlns:p14="http://schemas.microsoft.com/office/powerpoint/2010/main" val="22148167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CD877-AB11-C0F3-2A11-5DC512E4842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A0C75945-72BF-39CC-EA6D-5C01B32A5B27}"/>
              </a:ext>
            </a:extLst>
          </p:cNvPr>
          <p:cNvSpPr txBox="1"/>
          <p:nvPr/>
        </p:nvSpPr>
        <p:spPr>
          <a:xfrm>
            <a:off x="139493" y="151684"/>
            <a:ext cx="10685951" cy="584775"/>
          </a:xfrm>
          <a:prstGeom prst="rect">
            <a:avLst/>
          </a:prstGeom>
          <a:noFill/>
        </p:spPr>
        <p:txBody>
          <a:bodyPr wrap="square">
            <a:spAutoFit/>
          </a:bodyPr>
          <a:lstStyle/>
          <a:p>
            <a:r>
              <a:rPr lang="en-GB" sz="3200" b="1" dirty="0">
                <a:latin typeface="Times New Roman" panose="02020603050405020304" pitchFamily="18" charset="0"/>
                <a:cs typeface="Times New Roman" panose="02020603050405020304" pitchFamily="18" charset="0"/>
              </a:rPr>
              <a:t>THREAT INTELLIGENCE &amp; PATTERN ANALYSIS</a:t>
            </a:r>
            <a:endParaRPr lang="en-US" sz="3200" b="1" dirty="0">
              <a:latin typeface="Times New Roman" panose="02020603050405020304" pitchFamily="18" charset="0"/>
              <a:cs typeface="Times New Roman" panose="02020603050405020304" pitchFamily="18" charset="0"/>
            </a:endParaRPr>
          </a:p>
        </p:txBody>
      </p:sp>
      <p:sp>
        <p:nvSpPr>
          <p:cNvPr id="37" name="TextBox 36">
            <a:extLst>
              <a:ext uri="{FF2B5EF4-FFF2-40B4-BE49-F238E27FC236}">
                <a16:creationId xmlns:a16="http://schemas.microsoft.com/office/drawing/2014/main" id="{0FCC8D2F-AB96-DD13-126E-5AA66A0F3A36}"/>
              </a:ext>
            </a:extLst>
          </p:cNvPr>
          <p:cNvSpPr txBox="1"/>
          <p:nvPr/>
        </p:nvSpPr>
        <p:spPr>
          <a:xfrm>
            <a:off x="219075" y="1225689"/>
            <a:ext cx="11087100" cy="5355312"/>
          </a:xfrm>
          <a:prstGeom prst="rect">
            <a:avLst/>
          </a:prstGeom>
          <a:noFill/>
        </p:spPr>
        <p:txBody>
          <a:bodyPr wrap="square">
            <a:spAutoFit/>
          </a:bodyPr>
          <a:lstStyle/>
          <a:p>
            <a:pPr>
              <a:buNone/>
            </a:pPr>
            <a:r>
              <a:rPr lang="en-GB" sz="1800" b="1" dirty="0">
                <a:latin typeface="Times New Roman" panose="02020603050405020304" pitchFamily="18" charset="0"/>
                <a:cs typeface="Times New Roman" panose="02020603050405020304" pitchFamily="18" charset="0"/>
              </a:rPr>
              <a:t>Detecting Coordinated Phishing Campaigns</a:t>
            </a:r>
            <a:endParaRPr lang="en-GB" sz="1800" dirty="0">
              <a:latin typeface="Times New Roman" panose="02020603050405020304" pitchFamily="18" charset="0"/>
              <a:cs typeface="Times New Roman" panose="02020603050405020304" pitchFamily="18" charset="0"/>
            </a:endParaRPr>
          </a:p>
          <a:p>
            <a:pPr>
              <a:buNone/>
            </a:pPr>
            <a:r>
              <a:rPr lang="en-GB" sz="1800" dirty="0">
                <a:latin typeface="Times New Roman" panose="02020603050405020304" pitchFamily="18" charset="0"/>
                <a:cs typeface="Times New Roman" panose="02020603050405020304" pitchFamily="18" charset="0"/>
              </a:rPr>
              <a:t>Beyond </a:t>
            </a:r>
            <a:r>
              <a:rPr lang="en-GB" sz="1800" dirty="0" err="1">
                <a:latin typeface="Times New Roman" panose="02020603050405020304" pitchFamily="18" charset="0"/>
                <a:cs typeface="Times New Roman" panose="02020603050405020304" pitchFamily="18" charset="0"/>
              </a:rPr>
              <a:t>analyzing</a:t>
            </a:r>
            <a:r>
              <a:rPr lang="en-GB" sz="1800" dirty="0">
                <a:latin typeface="Times New Roman" panose="02020603050405020304" pitchFamily="18" charset="0"/>
                <a:cs typeface="Times New Roman" panose="02020603050405020304" pitchFamily="18" charset="0"/>
              </a:rPr>
              <a:t> individual emails, </a:t>
            </a:r>
            <a:r>
              <a:rPr lang="en-GB" sz="1800" dirty="0" err="1">
                <a:latin typeface="Times New Roman" panose="02020603050405020304" pitchFamily="18" charset="0"/>
                <a:cs typeface="Times New Roman" panose="02020603050405020304" pitchFamily="18" charset="0"/>
              </a:rPr>
              <a:t>PhishGuard</a:t>
            </a:r>
            <a:r>
              <a:rPr lang="en-GB" sz="1800" dirty="0">
                <a:latin typeface="Times New Roman" panose="02020603050405020304" pitchFamily="18" charset="0"/>
                <a:cs typeface="Times New Roman" panose="02020603050405020304" pitchFamily="18" charset="0"/>
              </a:rPr>
              <a:t> identifies large-scale phishing campaigns by recognizing recurring patterns across multiple messages.</a:t>
            </a:r>
          </a:p>
          <a:p>
            <a:pPr>
              <a:buNone/>
            </a:pPr>
            <a:endParaRPr lang="en-GB" dirty="0">
              <a:latin typeface="Times New Roman" panose="02020603050405020304" pitchFamily="18" charset="0"/>
              <a:cs typeface="Times New Roman" panose="02020603050405020304" pitchFamily="18" charset="0"/>
            </a:endParaRPr>
          </a:p>
          <a:p>
            <a:pPr>
              <a:buNone/>
            </a:pPr>
            <a:r>
              <a:rPr lang="en-GB" b="1" dirty="0">
                <a:latin typeface="Times New Roman" panose="02020603050405020304" pitchFamily="18" charset="0"/>
                <a:cs typeface="Times New Roman" panose="02020603050405020304" pitchFamily="18" charset="0"/>
              </a:rPr>
              <a:t>1. Repeated Subject Line Analysis</a:t>
            </a:r>
          </a:p>
          <a:p>
            <a:pPr>
              <a:buFont typeface="Arial" panose="020B0604020202020204" pitchFamily="34" charset="0"/>
              <a:buChar char="•"/>
            </a:pPr>
            <a:r>
              <a:rPr lang="en-GB" dirty="0">
                <a:latin typeface="Times New Roman" panose="02020603050405020304" pitchFamily="18" charset="0"/>
                <a:cs typeface="Times New Roman" panose="02020603050405020304" pitchFamily="18" charset="0"/>
              </a:rPr>
              <a:t>Detects identical or similar subject lines across multiple emails. </a:t>
            </a:r>
          </a:p>
          <a:p>
            <a:pPr>
              <a:buFont typeface="Arial" panose="020B0604020202020204" pitchFamily="34" charset="0"/>
              <a:buChar char="•"/>
            </a:pPr>
            <a:r>
              <a:rPr lang="en-GB" dirty="0">
                <a:latin typeface="Times New Roman" panose="02020603050405020304" pitchFamily="18" charset="0"/>
                <a:cs typeface="Times New Roman" panose="02020603050405020304" pitchFamily="18" charset="0"/>
              </a:rPr>
              <a:t>Indicates mass phishing attempts. </a:t>
            </a:r>
          </a:p>
          <a:p>
            <a:pPr>
              <a:buNone/>
            </a:pPr>
            <a:r>
              <a:rPr lang="en-GB" b="1" dirty="0">
                <a:latin typeface="Times New Roman" panose="02020603050405020304" pitchFamily="18" charset="0"/>
                <a:cs typeface="Times New Roman" panose="02020603050405020304" pitchFamily="18" charset="0"/>
              </a:rPr>
              <a:t>Example: </a:t>
            </a:r>
            <a:r>
              <a:rPr lang="en-GB" dirty="0">
                <a:latin typeface="Times New Roman" panose="02020603050405020304" pitchFamily="18" charset="0"/>
                <a:cs typeface="Times New Roman" panose="02020603050405020304" pitchFamily="18" charset="0"/>
              </a:rPr>
              <a:t>"Action Required: Verify Your Account" appearing multiple times.</a:t>
            </a:r>
          </a:p>
          <a:p>
            <a:pPr>
              <a:buNone/>
            </a:pPr>
            <a:endParaRPr lang="en-GB" dirty="0">
              <a:latin typeface="Times New Roman" panose="02020603050405020304" pitchFamily="18" charset="0"/>
              <a:cs typeface="Times New Roman" panose="02020603050405020304" pitchFamily="18" charset="0"/>
            </a:endParaRPr>
          </a:p>
          <a:p>
            <a:r>
              <a:rPr lang="en-GB" b="1" dirty="0">
                <a:latin typeface="Times New Roman" panose="02020603050405020304" pitchFamily="18" charset="0"/>
                <a:cs typeface="Times New Roman" panose="02020603050405020304" pitchFamily="18" charset="0"/>
              </a:rPr>
              <a:t>2. Malicious URL Correlation</a:t>
            </a:r>
          </a:p>
          <a:p>
            <a:r>
              <a:rPr lang="en-GB" dirty="0">
                <a:latin typeface="Times New Roman" panose="02020603050405020304" pitchFamily="18" charset="0"/>
                <a:cs typeface="Times New Roman" panose="02020603050405020304" pitchFamily="18" charset="0"/>
              </a:rPr>
              <a:t>Identifies reused phishing links and attacker-controlled domains. </a:t>
            </a:r>
          </a:p>
          <a:p>
            <a:r>
              <a:rPr lang="en-GB" dirty="0">
                <a:latin typeface="Times New Roman" panose="02020603050405020304" pitchFamily="18" charset="0"/>
                <a:cs typeface="Times New Roman" panose="02020603050405020304" pitchFamily="18" charset="0"/>
              </a:rPr>
              <a:t>Highlights coordinated infrastructure. </a:t>
            </a:r>
          </a:p>
          <a:p>
            <a:r>
              <a:rPr lang="en-GB" b="1" dirty="0">
                <a:latin typeface="Times New Roman" panose="02020603050405020304" pitchFamily="18" charset="0"/>
                <a:cs typeface="Times New Roman" panose="02020603050405020304" pitchFamily="18" charset="0"/>
              </a:rPr>
              <a:t>Example: </a:t>
            </a:r>
            <a:r>
              <a:rPr lang="en-GB" dirty="0">
                <a:latin typeface="Times New Roman" panose="02020603050405020304" pitchFamily="18" charset="0"/>
                <a:cs typeface="Times New Roman" panose="02020603050405020304" pitchFamily="18" charset="0"/>
              </a:rPr>
              <a:t>http://secure-login-alert.com reused across several emails.</a:t>
            </a:r>
          </a:p>
          <a:p>
            <a:pPr>
              <a:buNone/>
            </a:pPr>
            <a:endParaRPr lang="en-GB" dirty="0">
              <a:latin typeface="Times New Roman" panose="02020603050405020304" pitchFamily="18" charset="0"/>
              <a:cs typeface="Times New Roman" panose="02020603050405020304" pitchFamily="18" charset="0"/>
            </a:endParaRPr>
          </a:p>
          <a:p>
            <a:pPr>
              <a:buNone/>
            </a:pPr>
            <a:r>
              <a:rPr lang="en-GB" b="1" dirty="0">
                <a:latin typeface="Times New Roman" panose="02020603050405020304" pitchFamily="18" charset="0"/>
                <a:cs typeface="Times New Roman" panose="02020603050405020304" pitchFamily="18" charset="0"/>
              </a:rPr>
              <a:t>3. Sender Infrastructure Analysis</a:t>
            </a:r>
          </a:p>
          <a:p>
            <a:pPr>
              <a:buFont typeface="Arial" panose="020B0604020202020204" pitchFamily="34" charset="0"/>
              <a:buChar char="•"/>
            </a:pPr>
            <a:r>
              <a:rPr lang="en-GB" dirty="0">
                <a:latin typeface="Times New Roman" panose="02020603050405020304" pitchFamily="18" charset="0"/>
                <a:cs typeface="Times New Roman" panose="02020603050405020304" pitchFamily="18" charset="0"/>
              </a:rPr>
              <a:t>Detects repeated use of suspicious sender addresses or domains. </a:t>
            </a:r>
          </a:p>
          <a:p>
            <a:pPr>
              <a:buFont typeface="Arial" panose="020B0604020202020204" pitchFamily="34" charset="0"/>
              <a:buChar char="•"/>
            </a:pPr>
            <a:r>
              <a:rPr lang="en-GB" dirty="0">
                <a:latin typeface="Times New Roman" panose="02020603050405020304" pitchFamily="18" charset="0"/>
                <a:cs typeface="Times New Roman" panose="02020603050405020304" pitchFamily="18" charset="0"/>
              </a:rPr>
              <a:t>Uncovers spoofed or compromised accounts. </a:t>
            </a:r>
          </a:p>
          <a:p>
            <a:pPr>
              <a:buNone/>
            </a:pPr>
            <a:r>
              <a:rPr lang="en-GB" b="1" dirty="0">
                <a:latin typeface="Times New Roman" panose="02020603050405020304" pitchFamily="18" charset="0"/>
                <a:cs typeface="Times New Roman" panose="02020603050405020304" pitchFamily="18" charset="0"/>
              </a:rPr>
              <a:t>Example: </a:t>
            </a:r>
            <a:r>
              <a:rPr lang="en-GB" dirty="0">
                <a:latin typeface="Times New Roman" panose="02020603050405020304" pitchFamily="18" charset="0"/>
                <a:cs typeface="Times New Roman" panose="02020603050405020304" pitchFamily="18" charset="0"/>
              </a:rPr>
              <a:t>security-alert@gmail.com appearing in multiple messages.</a:t>
            </a:r>
          </a:p>
          <a:p>
            <a:pPr>
              <a:buNone/>
            </a:pPr>
            <a:endParaRPr lang="en-GB"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7046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0B091-33DE-4819-3132-A404BDFAEAE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DADD74CF-618A-0034-10E2-7627F1037C35}"/>
              </a:ext>
            </a:extLst>
          </p:cNvPr>
          <p:cNvSpPr txBox="1"/>
          <p:nvPr/>
        </p:nvSpPr>
        <p:spPr>
          <a:xfrm>
            <a:off x="349044" y="287283"/>
            <a:ext cx="10642806"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DETECTION PIPELINE — END TO END</a:t>
            </a:r>
            <a:endParaRPr lang="en-US" sz="3200" dirty="0">
              <a:latin typeface="Times New Roman" panose="02020603050405020304" pitchFamily="18" charset="0"/>
              <a:cs typeface="Times New Roman" panose="02020603050405020304" pitchFamily="18" charset="0"/>
            </a:endParaRPr>
          </a:p>
        </p:txBody>
      </p:sp>
      <p:grpSp>
        <p:nvGrpSpPr>
          <p:cNvPr id="61" name="Group 60">
            <a:extLst>
              <a:ext uri="{FF2B5EF4-FFF2-40B4-BE49-F238E27FC236}">
                <a16:creationId xmlns:a16="http://schemas.microsoft.com/office/drawing/2014/main" id="{FF91B972-EEE1-0F3F-BE72-4CB6AB0E8FFD}"/>
              </a:ext>
            </a:extLst>
          </p:cNvPr>
          <p:cNvGrpSpPr/>
          <p:nvPr/>
        </p:nvGrpSpPr>
        <p:grpSpPr>
          <a:xfrm>
            <a:off x="365759" y="1164011"/>
            <a:ext cx="10788015" cy="5513013"/>
            <a:chOff x="365759" y="1164011"/>
            <a:chExt cx="10788015" cy="5513013"/>
          </a:xfrm>
        </p:grpSpPr>
        <p:sp>
          <p:nvSpPr>
            <p:cNvPr id="2" name="Shape 7">
              <a:extLst>
                <a:ext uri="{FF2B5EF4-FFF2-40B4-BE49-F238E27FC236}">
                  <a16:creationId xmlns:a16="http://schemas.microsoft.com/office/drawing/2014/main" id="{F28CF25B-75AA-8854-67A1-2C5EC50EDBF8}"/>
                </a:ext>
              </a:extLst>
            </p:cNvPr>
            <p:cNvSpPr/>
            <p:nvPr/>
          </p:nvSpPr>
          <p:spPr>
            <a:xfrm>
              <a:off x="36575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3" name="Text 8">
              <a:extLst>
                <a:ext uri="{FF2B5EF4-FFF2-40B4-BE49-F238E27FC236}">
                  <a16:creationId xmlns:a16="http://schemas.microsoft.com/office/drawing/2014/main" id="{1CC2F952-85C4-EE34-9852-C54D919A1F86}"/>
                </a:ext>
              </a:extLst>
            </p:cNvPr>
            <p:cNvSpPr/>
            <p:nvPr/>
          </p:nvSpPr>
          <p:spPr>
            <a:xfrm>
              <a:off x="36575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.eml Input</a:t>
              </a:r>
              <a:endParaRPr lang="en-US" dirty="0">
                <a:latin typeface="Times New Roman" panose="02020603050405020304" pitchFamily="18" charset="0"/>
                <a:cs typeface="Times New Roman" panose="02020603050405020304" pitchFamily="18" charset="0"/>
              </a:endParaRPr>
            </a:p>
          </p:txBody>
        </p:sp>
        <p:sp>
          <p:nvSpPr>
            <p:cNvPr id="5" name="Shape 9">
              <a:extLst>
                <a:ext uri="{FF2B5EF4-FFF2-40B4-BE49-F238E27FC236}">
                  <a16:creationId xmlns:a16="http://schemas.microsoft.com/office/drawing/2014/main" id="{00BDE876-E1BE-478C-7AD8-91D12E3FD6C9}"/>
                </a:ext>
              </a:extLst>
            </p:cNvPr>
            <p:cNvSpPr/>
            <p:nvPr/>
          </p:nvSpPr>
          <p:spPr>
            <a:xfrm>
              <a:off x="1983961" y="2059468"/>
              <a:ext cx="187618" cy="199524"/>
            </a:xfrm>
            <a:prstGeom prst="rect">
              <a:avLst/>
            </a:prstGeom>
            <a:solidFill>
              <a:srgbClr val="00B4D8"/>
            </a:solidFill>
            <a:ln w="12700">
              <a:solidFill>
                <a:srgbClr val="00B4D8"/>
              </a:solidFill>
              <a:prstDash val="solid"/>
            </a:ln>
          </p:spPr>
        </p:sp>
        <p:sp>
          <p:nvSpPr>
            <p:cNvPr id="6" name="Shape 10">
              <a:extLst>
                <a:ext uri="{FF2B5EF4-FFF2-40B4-BE49-F238E27FC236}">
                  <a16:creationId xmlns:a16="http://schemas.microsoft.com/office/drawing/2014/main" id="{3004D9AD-3F48-6A0B-40AE-BD1B97593392}"/>
                </a:ext>
              </a:extLst>
            </p:cNvPr>
            <p:cNvSpPr/>
            <p:nvPr/>
          </p:nvSpPr>
          <p:spPr>
            <a:xfrm>
              <a:off x="217157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7" name="Text 11">
              <a:extLst>
                <a:ext uri="{FF2B5EF4-FFF2-40B4-BE49-F238E27FC236}">
                  <a16:creationId xmlns:a16="http://schemas.microsoft.com/office/drawing/2014/main" id="{7A3C2150-F1A4-46EA-8440-15DD7BFD0CD0}"/>
                </a:ext>
              </a:extLst>
            </p:cNvPr>
            <p:cNvSpPr/>
            <p:nvPr/>
          </p:nvSpPr>
          <p:spPr>
            <a:xfrm>
              <a:off x="2171579" y="1517903"/>
              <a:ext cx="1618202" cy="1282654"/>
            </a:xfrm>
            <a:prstGeom prst="rect">
              <a:avLst/>
            </a:prstGeom>
            <a:noFill/>
            <a:ln/>
          </p:spPr>
          <p:txBody>
            <a:bodyPr wrap="square" rtlCol="0" anchor="ctr"/>
            <a:lstStyle/>
            <a:p>
              <a:pPr marL="0" indent="0" algn="ctr">
                <a:buNone/>
              </a:pPr>
              <a:r>
                <a:rPr lang="en-US" sz="1200" dirty="0">
                  <a:solidFill>
                    <a:srgbClr val="FFFFFF"/>
                  </a:solidFill>
                  <a:latin typeface="Times New Roman" panose="02020603050405020304" pitchFamily="18" charset="0"/>
                  <a:ea typeface="Calibri" pitchFamily="34" charset="-122"/>
                  <a:cs typeface="Times New Roman" panose="02020603050405020304" pitchFamily="18" charset="0"/>
                </a:rPr>
                <a:t>Parse Headers</a:t>
              </a:r>
              <a:endParaRPr lang="en-US" sz="1200" dirty="0">
                <a:latin typeface="Times New Roman" panose="02020603050405020304" pitchFamily="18" charset="0"/>
                <a:cs typeface="Times New Roman" panose="02020603050405020304" pitchFamily="18" charset="0"/>
              </a:endParaRPr>
            </a:p>
            <a:p>
              <a:pPr marL="0" indent="0" algn="ctr">
                <a:buNone/>
              </a:pPr>
              <a:r>
                <a:rPr lang="en-US" sz="1200" dirty="0">
                  <a:solidFill>
                    <a:srgbClr val="FFFFFF"/>
                  </a:solidFill>
                  <a:latin typeface="Times New Roman" panose="02020603050405020304" pitchFamily="18" charset="0"/>
                  <a:ea typeface="Calibri" pitchFamily="34" charset="-122"/>
                  <a:cs typeface="Times New Roman" panose="02020603050405020304" pitchFamily="18" charset="0"/>
                </a:rPr>
                <a:t>&amp; Body</a:t>
              </a:r>
              <a:endParaRPr lang="en-US" sz="1200" dirty="0">
                <a:latin typeface="Times New Roman" panose="02020603050405020304" pitchFamily="18" charset="0"/>
                <a:cs typeface="Times New Roman" panose="02020603050405020304" pitchFamily="18" charset="0"/>
              </a:endParaRPr>
            </a:p>
          </p:txBody>
        </p:sp>
        <p:sp>
          <p:nvSpPr>
            <p:cNvPr id="9" name="Shape 12">
              <a:extLst>
                <a:ext uri="{FF2B5EF4-FFF2-40B4-BE49-F238E27FC236}">
                  <a16:creationId xmlns:a16="http://schemas.microsoft.com/office/drawing/2014/main" id="{A0BBB139-822D-C560-E568-60E9F76A3D3F}"/>
                </a:ext>
              </a:extLst>
            </p:cNvPr>
            <p:cNvSpPr/>
            <p:nvPr/>
          </p:nvSpPr>
          <p:spPr>
            <a:xfrm>
              <a:off x="3789781" y="2059468"/>
              <a:ext cx="187618" cy="199524"/>
            </a:xfrm>
            <a:prstGeom prst="rect">
              <a:avLst/>
            </a:prstGeom>
            <a:solidFill>
              <a:srgbClr val="00B4D8"/>
            </a:solidFill>
            <a:ln w="12700">
              <a:solidFill>
                <a:srgbClr val="00B4D8"/>
              </a:solidFill>
              <a:prstDash val="solid"/>
            </a:ln>
          </p:spPr>
        </p:sp>
        <p:sp>
          <p:nvSpPr>
            <p:cNvPr id="10" name="Shape 13">
              <a:extLst>
                <a:ext uri="{FF2B5EF4-FFF2-40B4-BE49-F238E27FC236}">
                  <a16:creationId xmlns:a16="http://schemas.microsoft.com/office/drawing/2014/main" id="{53E8C1E6-F8D4-C5AA-51B9-B75F7920A8AC}"/>
                </a:ext>
              </a:extLst>
            </p:cNvPr>
            <p:cNvSpPr/>
            <p:nvPr/>
          </p:nvSpPr>
          <p:spPr>
            <a:xfrm>
              <a:off x="397739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1" name="Text 14">
              <a:extLst>
                <a:ext uri="{FF2B5EF4-FFF2-40B4-BE49-F238E27FC236}">
                  <a16:creationId xmlns:a16="http://schemas.microsoft.com/office/drawing/2014/main" id="{7E27F1E0-85C6-87F2-77CA-CFEF6AD0A662}"/>
                </a:ext>
              </a:extLst>
            </p:cNvPr>
            <p:cNvSpPr/>
            <p:nvPr/>
          </p:nvSpPr>
          <p:spPr>
            <a:xfrm>
              <a:off x="397739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Run 12</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Detectors</a:t>
              </a:r>
              <a:endParaRPr lang="en-US" dirty="0">
                <a:latin typeface="Times New Roman" panose="02020603050405020304" pitchFamily="18" charset="0"/>
                <a:cs typeface="Times New Roman" panose="02020603050405020304" pitchFamily="18" charset="0"/>
              </a:endParaRPr>
            </a:p>
          </p:txBody>
        </p:sp>
        <p:sp>
          <p:nvSpPr>
            <p:cNvPr id="12" name="Shape 15">
              <a:extLst>
                <a:ext uri="{FF2B5EF4-FFF2-40B4-BE49-F238E27FC236}">
                  <a16:creationId xmlns:a16="http://schemas.microsoft.com/office/drawing/2014/main" id="{A372EC8A-88B9-F634-9F97-48842DA7D490}"/>
                </a:ext>
              </a:extLst>
            </p:cNvPr>
            <p:cNvSpPr/>
            <p:nvPr/>
          </p:nvSpPr>
          <p:spPr>
            <a:xfrm>
              <a:off x="5595601" y="2059468"/>
              <a:ext cx="187618" cy="199524"/>
            </a:xfrm>
            <a:prstGeom prst="rect">
              <a:avLst/>
            </a:prstGeom>
            <a:solidFill>
              <a:srgbClr val="00B4D8"/>
            </a:solidFill>
            <a:ln w="12700">
              <a:solidFill>
                <a:srgbClr val="00B4D8"/>
              </a:solidFill>
              <a:prstDash val="solid"/>
            </a:ln>
          </p:spPr>
        </p:sp>
        <p:sp>
          <p:nvSpPr>
            <p:cNvPr id="13" name="Shape 16">
              <a:extLst>
                <a:ext uri="{FF2B5EF4-FFF2-40B4-BE49-F238E27FC236}">
                  <a16:creationId xmlns:a16="http://schemas.microsoft.com/office/drawing/2014/main" id="{C2DD2768-3606-F70E-F714-F185CF06E836}"/>
                </a:ext>
              </a:extLst>
            </p:cNvPr>
            <p:cNvSpPr/>
            <p:nvPr/>
          </p:nvSpPr>
          <p:spPr>
            <a:xfrm>
              <a:off x="578321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4" name="Text 17">
              <a:extLst>
                <a:ext uri="{FF2B5EF4-FFF2-40B4-BE49-F238E27FC236}">
                  <a16:creationId xmlns:a16="http://schemas.microsoft.com/office/drawing/2014/main" id="{76B8D2F8-2974-F897-7461-C9CAD2AE9560}"/>
                </a:ext>
              </a:extLst>
            </p:cNvPr>
            <p:cNvSpPr/>
            <p:nvPr/>
          </p:nvSpPr>
          <p:spPr>
            <a:xfrm>
              <a:off x="578321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Weight</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Scoring</a:t>
              </a:r>
              <a:endParaRPr lang="en-US" dirty="0">
                <a:latin typeface="Times New Roman" panose="02020603050405020304" pitchFamily="18" charset="0"/>
                <a:cs typeface="Times New Roman" panose="02020603050405020304" pitchFamily="18" charset="0"/>
              </a:endParaRPr>
            </a:p>
          </p:txBody>
        </p:sp>
        <p:sp>
          <p:nvSpPr>
            <p:cNvPr id="15" name="Shape 18">
              <a:extLst>
                <a:ext uri="{FF2B5EF4-FFF2-40B4-BE49-F238E27FC236}">
                  <a16:creationId xmlns:a16="http://schemas.microsoft.com/office/drawing/2014/main" id="{0D05DFC1-4124-154B-1CE6-BE1362F87D2E}"/>
                </a:ext>
              </a:extLst>
            </p:cNvPr>
            <p:cNvSpPr/>
            <p:nvPr/>
          </p:nvSpPr>
          <p:spPr>
            <a:xfrm>
              <a:off x="7401421" y="2059468"/>
              <a:ext cx="187618" cy="199524"/>
            </a:xfrm>
            <a:prstGeom prst="rect">
              <a:avLst/>
            </a:prstGeom>
            <a:solidFill>
              <a:srgbClr val="00B4D8"/>
            </a:solidFill>
            <a:ln w="12700">
              <a:solidFill>
                <a:srgbClr val="00B4D8"/>
              </a:solidFill>
              <a:prstDash val="solid"/>
            </a:ln>
          </p:spPr>
        </p:sp>
        <p:sp>
          <p:nvSpPr>
            <p:cNvPr id="16" name="Shape 19">
              <a:extLst>
                <a:ext uri="{FF2B5EF4-FFF2-40B4-BE49-F238E27FC236}">
                  <a16:creationId xmlns:a16="http://schemas.microsoft.com/office/drawing/2014/main" id="{5E1C47FF-FBA8-16CA-831B-398C3AF44A7D}"/>
                </a:ext>
              </a:extLst>
            </p:cNvPr>
            <p:cNvSpPr/>
            <p:nvPr/>
          </p:nvSpPr>
          <p:spPr>
            <a:xfrm>
              <a:off x="758903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7" name="Text 20">
              <a:extLst>
                <a:ext uri="{FF2B5EF4-FFF2-40B4-BE49-F238E27FC236}">
                  <a16:creationId xmlns:a16="http://schemas.microsoft.com/office/drawing/2014/main" id="{98E0D7A9-A952-B8DE-3CE5-9B2376C7E19E}"/>
                </a:ext>
              </a:extLst>
            </p:cNvPr>
            <p:cNvSpPr/>
            <p:nvPr/>
          </p:nvSpPr>
          <p:spPr>
            <a:xfrm>
              <a:off x="758903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Severity</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Label</a:t>
              </a:r>
              <a:endParaRPr lang="en-US" dirty="0">
                <a:latin typeface="Times New Roman" panose="02020603050405020304" pitchFamily="18" charset="0"/>
                <a:cs typeface="Times New Roman" panose="02020603050405020304" pitchFamily="18" charset="0"/>
              </a:endParaRPr>
            </a:p>
          </p:txBody>
        </p:sp>
        <p:sp>
          <p:nvSpPr>
            <p:cNvPr id="18" name="Shape 21">
              <a:extLst>
                <a:ext uri="{FF2B5EF4-FFF2-40B4-BE49-F238E27FC236}">
                  <a16:creationId xmlns:a16="http://schemas.microsoft.com/office/drawing/2014/main" id="{B65812EB-C867-A8CC-4873-F96CDE57BEE1}"/>
                </a:ext>
              </a:extLst>
            </p:cNvPr>
            <p:cNvSpPr/>
            <p:nvPr/>
          </p:nvSpPr>
          <p:spPr>
            <a:xfrm>
              <a:off x="9207241" y="2059468"/>
              <a:ext cx="187618" cy="199524"/>
            </a:xfrm>
            <a:prstGeom prst="rect">
              <a:avLst/>
            </a:prstGeom>
            <a:solidFill>
              <a:srgbClr val="00B4D8"/>
            </a:solidFill>
            <a:ln w="12700">
              <a:solidFill>
                <a:srgbClr val="00B4D8"/>
              </a:solidFill>
              <a:prstDash val="solid"/>
            </a:ln>
          </p:spPr>
        </p:sp>
        <p:sp>
          <p:nvSpPr>
            <p:cNvPr id="19" name="Shape 22">
              <a:extLst>
                <a:ext uri="{FF2B5EF4-FFF2-40B4-BE49-F238E27FC236}">
                  <a16:creationId xmlns:a16="http://schemas.microsoft.com/office/drawing/2014/main" id="{90441E73-7E5B-FAB1-9446-A87A221A81CE}"/>
                </a:ext>
              </a:extLst>
            </p:cNvPr>
            <p:cNvSpPr/>
            <p:nvPr/>
          </p:nvSpPr>
          <p:spPr>
            <a:xfrm>
              <a:off x="9394859" y="1517903"/>
              <a:ext cx="1618202" cy="1282654"/>
            </a:xfrm>
            <a:prstGeom prst="rect">
              <a:avLst/>
            </a:prstGeom>
            <a:solidFill>
              <a:srgbClr val="00B4D8"/>
            </a:solidFill>
            <a:ln w="12700">
              <a:solidFill>
                <a:srgbClr val="00B4D8"/>
              </a:solidFill>
              <a:prstDash val="solid"/>
            </a:ln>
            <a:effectLst>
              <a:outerShdw blurRad="63500" dist="25400" dir="8100000" algn="bl" rotWithShape="0">
                <a:srgbClr val="000000">
                  <a:alpha val="20000"/>
                </a:srgbClr>
              </a:outerShdw>
            </a:effectLst>
          </p:spPr>
        </p:sp>
        <p:sp>
          <p:nvSpPr>
            <p:cNvPr id="20" name="Text 23">
              <a:extLst>
                <a:ext uri="{FF2B5EF4-FFF2-40B4-BE49-F238E27FC236}">
                  <a16:creationId xmlns:a16="http://schemas.microsoft.com/office/drawing/2014/main" id="{D6E52318-CEBB-5588-C024-1A4E330F4ADE}"/>
                </a:ext>
              </a:extLst>
            </p:cNvPr>
            <p:cNvSpPr/>
            <p:nvPr/>
          </p:nvSpPr>
          <p:spPr>
            <a:xfrm>
              <a:off x="9394859" y="1517903"/>
              <a:ext cx="1618202" cy="1282654"/>
            </a:xfrm>
            <a:prstGeom prst="rect">
              <a:avLst/>
            </a:prstGeom>
            <a:noFill/>
            <a:ln/>
          </p:spPr>
          <p:txBody>
            <a:bodyPr wrap="square" rtlCol="0" anchor="ctr"/>
            <a:lstStyle/>
            <a:p>
              <a:pPr marL="0" indent="0" algn="ctr">
                <a:buNone/>
              </a:pPr>
              <a:r>
                <a:rPr lang="en-US" b="1" dirty="0">
                  <a:solidFill>
                    <a:srgbClr val="060F1E"/>
                  </a:solidFill>
                  <a:latin typeface="Times New Roman" panose="02020603050405020304" pitchFamily="18" charset="0"/>
                  <a:ea typeface="Calibri" pitchFamily="34" charset="-122"/>
                  <a:cs typeface="Times New Roman" panose="02020603050405020304" pitchFamily="18" charset="0"/>
                </a:rPr>
                <a:t>Alert</a:t>
              </a:r>
              <a:endParaRPr lang="en-US" dirty="0">
                <a:latin typeface="Times New Roman" panose="02020603050405020304" pitchFamily="18" charset="0"/>
                <a:cs typeface="Times New Roman" panose="02020603050405020304" pitchFamily="18" charset="0"/>
              </a:endParaRPr>
            </a:p>
            <a:p>
              <a:pPr marL="0" indent="0" algn="ctr">
                <a:buNone/>
              </a:pPr>
              <a:r>
                <a:rPr lang="en-US" b="1" dirty="0">
                  <a:solidFill>
                    <a:srgbClr val="060F1E"/>
                  </a:solidFill>
                  <a:latin typeface="Times New Roman" panose="02020603050405020304" pitchFamily="18" charset="0"/>
                  <a:ea typeface="Calibri" pitchFamily="34" charset="-122"/>
                  <a:cs typeface="Times New Roman" panose="02020603050405020304" pitchFamily="18" charset="0"/>
                </a:rPr>
                <a:t>Report</a:t>
              </a:r>
              <a:endParaRPr lang="en-US" dirty="0">
                <a:latin typeface="Times New Roman" panose="02020603050405020304" pitchFamily="18" charset="0"/>
                <a:cs typeface="Times New Roman" panose="02020603050405020304" pitchFamily="18" charset="0"/>
              </a:endParaRPr>
            </a:p>
          </p:txBody>
        </p:sp>
        <p:sp>
          <p:nvSpPr>
            <p:cNvPr id="21" name="Shape 24">
              <a:extLst>
                <a:ext uri="{FF2B5EF4-FFF2-40B4-BE49-F238E27FC236}">
                  <a16:creationId xmlns:a16="http://schemas.microsoft.com/office/drawing/2014/main" id="{98537850-99AC-96BF-1488-C0B86F85DF76}"/>
                </a:ext>
              </a:extLst>
            </p:cNvPr>
            <p:cNvSpPr/>
            <p:nvPr/>
          </p:nvSpPr>
          <p:spPr>
            <a:xfrm>
              <a:off x="365759" y="3028585"/>
              <a:ext cx="2134151" cy="456055"/>
            </a:xfrm>
            <a:prstGeom prst="rect">
              <a:avLst/>
            </a:prstGeom>
            <a:solidFill>
              <a:srgbClr val="2DC653"/>
            </a:solidFill>
            <a:ln w="12700">
              <a:solidFill>
                <a:srgbClr val="2DC653"/>
              </a:solidFill>
              <a:prstDash val="solid"/>
            </a:ln>
          </p:spPr>
        </p:sp>
        <p:sp>
          <p:nvSpPr>
            <p:cNvPr id="22" name="Text 25">
              <a:extLst>
                <a:ext uri="{FF2B5EF4-FFF2-40B4-BE49-F238E27FC236}">
                  <a16:creationId xmlns:a16="http://schemas.microsoft.com/office/drawing/2014/main" id="{06595C94-EEC2-1BDC-A479-B47C90FEA85B}"/>
                </a:ext>
              </a:extLst>
            </p:cNvPr>
            <p:cNvSpPr/>
            <p:nvPr/>
          </p:nvSpPr>
          <p:spPr>
            <a:xfrm>
              <a:off x="365759" y="3028585"/>
              <a:ext cx="2134151" cy="456055"/>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SAFE</a:t>
              </a:r>
              <a:endParaRPr lang="en-US" sz="1200" dirty="0">
                <a:latin typeface="Times New Roman" panose="02020603050405020304" pitchFamily="18" charset="0"/>
                <a:cs typeface="Times New Roman" panose="02020603050405020304" pitchFamily="18" charset="0"/>
              </a:endParaRPr>
            </a:p>
          </p:txBody>
        </p:sp>
        <p:sp>
          <p:nvSpPr>
            <p:cNvPr id="23" name="Shape 26">
              <a:extLst>
                <a:ext uri="{FF2B5EF4-FFF2-40B4-BE49-F238E27FC236}">
                  <a16:creationId xmlns:a16="http://schemas.microsoft.com/office/drawing/2014/main" id="{98F3C9EF-07CA-A2BB-331A-1C84127CE981}"/>
                </a:ext>
              </a:extLst>
            </p:cNvPr>
            <p:cNvSpPr/>
            <p:nvPr/>
          </p:nvSpPr>
          <p:spPr>
            <a:xfrm>
              <a:off x="2499910" y="3028585"/>
              <a:ext cx="2134151" cy="456055"/>
            </a:xfrm>
            <a:prstGeom prst="rect">
              <a:avLst/>
            </a:prstGeom>
            <a:solidFill>
              <a:srgbClr val="52B788"/>
            </a:solidFill>
            <a:ln w="12700">
              <a:solidFill>
                <a:srgbClr val="52B788"/>
              </a:solidFill>
              <a:prstDash val="solid"/>
            </a:ln>
          </p:spPr>
        </p:sp>
        <p:sp>
          <p:nvSpPr>
            <p:cNvPr id="24" name="Text 27">
              <a:extLst>
                <a:ext uri="{FF2B5EF4-FFF2-40B4-BE49-F238E27FC236}">
                  <a16:creationId xmlns:a16="http://schemas.microsoft.com/office/drawing/2014/main" id="{CFA74742-06EA-CCB8-2D3E-F20CC88E01BC}"/>
                </a:ext>
              </a:extLst>
            </p:cNvPr>
            <p:cNvSpPr/>
            <p:nvPr/>
          </p:nvSpPr>
          <p:spPr>
            <a:xfrm>
              <a:off x="2499910" y="3028585"/>
              <a:ext cx="2134151" cy="456055"/>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LOW</a:t>
              </a:r>
              <a:endParaRPr lang="en-US" sz="1200" dirty="0">
                <a:latin typeface="Times New Roman" panose="02020603050405020304" pitchFamily="18" charset="0"/>
                <a:cs typeface="Times New Roman" panose="02020603050405020304" pitchFamily="18" charset="0"/>
              </a:endParaRPr>
            </a:p>
          </p:txBody>
        </p:sp>
        <p:sp>
          <p:nvSpPr>
            <p:cNvPr id="25" name="Shape 28">
              <a:extLst>
                <a:ext uri="{FF2B5EF4-FFF2-40B4-BE49-F238E27FC236}">
                  <a16:creationId xmlns:a16="http://schemas.microsoft.com/office/drawing/2014/main" id="{1A6A6F5E-61E5-6B50-82AC-6807201C7563}"/>
                </a:ext>
              </a:extLst>
            </p:cNvPr>
            <p:cNvSpPr/>
            <p:nvPr/>
          </p:nvSpPr>
          <p:spPr>
            <a:xfrm>
              <a:off x="4634061" y="3028585"/>
              <a:ext cx="2134151" cy="456055"/>
            </a:xfrm>
            <a:prstGeom prst="rect">
              <a:avLst/>
            </a:prstGeom>
            <a:solidFill>
              <a:srgbClr val="F4A261"/>
            </a:solidFill>
            <a:ln w="12700">
              <a:solidFill>
                <a:srgbClr val="F4A261"/>
              </a:solidFill>
              <a:prstDash val="solid"/>
            </a:ln>
          </p:spPr>
        </p:sp>
        <p:sp>
          <p:nvSpPr>
            <p:cNvPr id="26" name="Text 29">
              <a:extLst>
                <a:ext uri="{FF2B5EF4-FFF2-40B4-BE49-F238E27FC236}">
                  <a16:creationId xmlns:a16="http://schemas.microsoft.com/office/drawing/2014/main" id="{052665D7-AF10-E2C0-73D1-744942BB3A15}"/>
                </a:ext>
              </a:extLst>
            </p:cNvPr>
            <p:cNvSpPr/>
            <p:nvPr/>
          </p:nvSpPr>
          <p:spPr>
            <a:xfrm>
              <a:off x="4634061" y="3028585"/>
              <a:ext cx="2134151" cy="456055"/>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MEDIUM</a:t>
              </a:r>
              <a:endParaRPr lang="en-US" sz="1200" dirty="0">
                <a:latin typeface="Times New Roman" panose="02020603050405020304" pitchFamily="18" charset="0"/>
                <a:cs typeface="Times New Roman" panose="02020603050405020304" pitchFamily="18" charset="0"/>
              </a:endParaRPr>
            </a:p>
          </p:txBody>
        </p:sp>
        <p:sp>
          <p:nvSpPr>
            <p:cNvPr id="27" name="Shape 30">
              <a:extLst>
                <a:ext uri="{FF2B5EF4-FFF2-40B4-BE49-F238E27FC236}">
                  <a16:creationId xmlns:a16="http://schemas.microsoft.com/office/drawing/2014/main" id="{DF032CF7-861B-D695-DBC4-FA1A80FD3995}"/>
                </a:ext>
              </a:extLst>
            </p:cNvPr>
            <p:cNvSpPr/>
            <p:nvPr/>
          </p:nvSpPr>
          <p:spPr>
            <a:xfrm>
              <a:off x="6768211" y="3028585"/>
              <a:ext cx="2134151" cy="456055"/>
            </a:xfrm>
            <a:prstGeom prst="rect">
              <a:avLst/>
            </a:prstGeom>
            <a:solidFill>
              <a:srgbClr val="E76F51"/>
            </a:solidFill>
            <a:ln w="12700">
              <a:solidFill>
                <a:srgbClr val="E76F51"/>
              </a:solidFill>
              <a:prstDash val="solid"/>
            </a:ln>
          </p:spPr>
        </p:sp>
        <p:sp>
          <p:nvSpPr>
            <p:cNvPr id="28" name="Text 31">
              <a:extLst>
                <a:ext uri="{FF2B5EF4-FFF2-40B4-BE49-F238E27FC236}">
                  <a16:creationId xmlns:a16="http://schemas.microsoft.com/office/drawing/2014/main" id="{71B741BF-6C69-48E0-459E-E48C2A6778F3}"/>
                </a:ext>
              </a:extLst>
            </p:cNvPr>
            <p:cNvSpPr/>
            <p:nvPr/>
          </p:nvSpPr>
          <p:spPr>
            <a:xfrm>
              <a:off x="6768211" y="3028585"/>
              <a:ext cx="2134151" cy="456055"/>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HIGH</a:t>
              </a:r>
              <a:endParaRPr lang="en-US" sz="1200" dirty="0">
                <a:latin typeface="Times New Roman" panose="02020603050405020304" pitchFamily="18" charset="0"/>
                <a:cs typeface="Times New Roman" panose="02020603050405020304" pitchFamily="18" charset="0"/>
              </a:endParaRPr>
            </a:p>
          </p:txBody>
        </p:sp>
        <p:sp>
          <p:nvSpPr>
            <p:cNvPr id="29" name="Shape 32">
              <a:extLst>
                <a:ext uri="{FF2B5EF4-FFF2-40B4-BE49-F238E27FC236}">
                  <a16:creationId xmlns:a16="http://schemas.microsoft.com/office/drawing/2014/main" id="{392F6A2D-2921-EF3E-AD5E-4DE91730951E}"/>
                </a:ext>
              </a:extLst>
            </p:cNvPr>
            <p:cNvSpPr/>
            <p:nvPr/>
          </p:nvSpPr>
          <p:spPr>
            <a:xfrm>
              <a:off x="8902362" y="3028585"/>
              <a:ext cx="2134151" cy="456055"/>
            </a:xfrm>
            <a:prstGeom prst="rect">
              <a:avLst/>
            </a:prstGeom>
            <a:solidFill>
              <a:srgbClr val="E63946"/>
            </a:solidFill>
            <a:ln w="12700">
              <a:solidFill>
                <a:srgbClr val="E63946"/>
              </a:solidFill>
              <a:prstDash val="solid"/>
            </a:ln>
          </p:spPr>
        </p:sp>
        <p:sp>
          <p:nvSpPr>
            <p:cNvPr id="30" name="Text 33">
              <a:extLst>
                <a:ext uri="{FF2B5EF4-FFF2-40B4-BE49-F238E27FC236}">
                  <a16:creationId xmlns:a16="http://schemas.microsoft.com/office/drawing/2014/main" id="{02808138-3F23-6733-0ECD-88577D19CE7B}"/>
                </a:ext>
              </a:extLst>
            </p:cNvPr>
            <p:cNvSpPr/>
            <p:nvPr/>
          </p:nvSpPr>
          <p:spPr>
            <a:xfrm>
              <a:off x="8902362" y="3028585"/>
              <a:ext cx="2134151" cy="456055"/>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CRITICAL</a:t>
              </a:r>
              <a:endParaRPr lang="en-US" sz="1200" dirty="0">
                <a:latin typeface="Times New Roman" panose="02020603050405020304" pitchFamily="18" charset="0"/>
                <a:cs typeface="Times New Roman" panose="02020603050405020304" pitchFamily="18" charset="0"/>
              </a:endParaRPr>
            </a:p>
          </p:txBody>
        </p:sp>
        <p:sp>
          <p:nvSpPr>
            <p:cNvPr id="31" name="Text 34">
              <a:extLst>
                <a:ext uri="{FF2B5EF4-FFF2-40B4-BE49-F238E27FC236}">
                  <a16:creationId xmlns:a16="http://schemas.microsoft.com/office/drawing/2014/main" id="{CD3A8049-B1D4-74EE-28F0-C141AAB0E800}"/>
                </a:ext>
              </a:extLst>
            </p:cNvPr>
            <p:cNvSpPr/>
            <p:nvPr/>
          </p:nvSpPr>
          <p:spPr>
            <a:xfrm>
              <a:off x="365759" y="3513143"/>
              <a:ext cx="820827"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Score ≥</a:t>
              </a:r>
              <a:endParaRPr lang="en-US" sz="1200" dirty="0">
                <a:latin typeface="Times New Roman" panose="02020603050405020304" pitchFamily="18" charset="0"/>
                <a:cs typeface="Times New Roman" panose="02020603050405020304" pitchFamily="18" charset="0"/>
              </a:endParaRPr>
            </a:p>
          </p:txBody>
        </p:sp>
        <p:sp>
          <p:nvSpPr>
            <p:cNvPr id="32" name="Text 35">
              <a:extLst>
                <a:ext uri="{FF2B5EF4-FFF2-40B4-BE49-F238E27FC236}">
                  <a16:creationId xmlns:a16="http://schemas.microsoft.com/office/drawing/2014/main" id="{B45741E5-F4C2-6440-C7AF-8395758F60BB}"/>
                </a:ext>
              </a:extLst>
            </p:cNvPr>
            <p:cNvSpPr/>
            <p:nvPr/>
          </p:nvSpPr>
          <p:spPr>
            <a:xfrm>
              <a:off x="1069325" y="3513143"/>
              <a:ext cx="1430585"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0</a:t>
              </a:r>
              <a:endParaRPr lang="en-US" sz="1200" dirty="0">
                <a:latin typeface="Times New Roman" panose="02020603050405020304" pitchFamily="18" charset="0"/>
                <a:cs typeface="Times New Roman" panose="02020603050405020304" pitchFamily="18" charset="0"/>
              </a:endParaRPr>
            </a:p>
          </p:txBody>
        </p:sp>
        <p:sp>
          <p:nvSpPr>
            <p:cNvPr id="33" name="Text 36">
              <a:extLst>
                <a:ext uri="{FF2B5EF4-FFF2-40B4-BE49-F238E27FC236}">
                  <a16:creationId xmlns:a16="http://schemas.microsoft.com/office/drawing/2014/main" id="{29FAD6EF-554F-502B-7B95-A6F9773DE0AF}"/>
                </a:ext>
              </a:extLst>
            </p:cNvPr>
            <p:cNvSpPr/>
            <p:nvPr/>
          </p:nvSpPr>
          <p:spPr>
            <a:xfrm>
              <a:off x="3203476" y="3513143"/>
              <a:ext cx="1430585"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1</a:t>
              </a:r>
              <a:endParaRPr lang="en-US" sz="1200" dirty="0">
                <a:latin typeface="Times New Roman" panose="02020603050405020304" pitchFamily="18" charset="0"/>
                <a:cs typeface="Times New Roman" panose="02020603050405020304" pitchFamily="18" charset="0"/>
              </a:endParaRPr>
            </a:p>
          </p:txBody>
        </p:sp>
        <p:sp>
          <p:nvSpPr>
            <p:cNvPr id="34" name="Text 37">
              <a:extLst>
                <a:ext uri="{FF2B5EF4-FFF2-40B4-BE49-F238E27FC236}">
                  <a16:creationId xmlns:a16="http://schemas.microsoft.com/office/drawing/2014/main" id="{80A0DFE8-7932-2FC8-BD33-4AB72C42E74D}"/>
                </a:ext>
              </a:extLst>
            </p:cNvPr>
            <p:cNvSpPr/>
            <p:nvPr/>
          </p:nvSpPr>
          <p:spPr>
            <a:xfrm>
              <a:off x="5337627" y="3513143"/>
              <a:ext cx="1430585"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2–4</a:t>
              </a:r>
              <a:endParaRPr lang="en-US" sz="1200" dirty="0">
                <a:latin typeface="Times New Roman" panose="02020603050405020304" pitchFamily="18" charset="0"/>
                <a:cs typeface="Times New Roman" panose="02020603050405020304" pitchFamily="18" charset="0"/>
              </a:endParaRPr>
            </a:p>
          </p:txBody>
        </p:sp>
        <p:sp>
          <p:nvSpPr>
            <p:cNvPr id="35" name="Text 38">
              <a:extLst>
                <a:ext uri="{FF2B5EF4-FFF2-40B4-BE49-F238E27FC236}">
                  <a16:creationId xmlns:a16="http://schemas.microsoft.com/office/drawing/2014/main" id="{188ACCE4-0F7B-17EC-345B-B1D1FD69EB8B}"/>
                </a:ext>
              </a:extLst>
            </p:cNvPr>
            <p:cNvSpPr/>
            <p:nvPr/>
          </p:nvSpPr>
          <p:spPr>
            <a:xfrm>
              <a:off x="7471778" y="3513143"/>
              <a:ext cx="1430585"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5–9</a:t>
              </a:r>
              <a:endParaRPr lang="en-US" sz="1200" dirty="0">
                <a:latin typeface="Times New Roman" panose="02020603050405020304" pitchFamily="18" charset="0"/>
                <a:cs typeface="Times New Roman" panose="02020603050405020304" pitchFamily="18" charset="0"/>
              </a:endParaRPr>
            </a:p>
          </p:txBody>
        </p:sp>
        <p:sp>
          <p:nvSpPr>
            <p:cNvPr id="36" name="Text 39">
              <a:extLst>
                <a:ext uri="{FF2B5EF4-FFF2-40B4-BE49-F238E27FC236}">
                  <a16:creationId xmlns:a16="http://schemas.microsoft.com/office/drawing/2014/main" id="{62C8C484-8B7C-520E-D908-F8A731146E67}"/>
                </a:ext>
              </a:extLst>
            </p:cNvPr>
            <p:cNvSpPr/>
            <p:nvPr/>
          </p:nvSpPr>
          <p:spPr>
            <a:xfrm>
              <a:off x="9605928" y="3513143"/>
              <a:ext cx="1430585"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≥10</a:t>
              </a:r>
              <a:endParaRPr lang="en-US" sz="1200" dirty="0">
                <a:latin typeface="Times New Roman" panose="02020603050405020304" pitchFamily="18" charset="0"/>
                <a:cs typeface="Times New Roman" panose="02020603050405020304" pitchFamily="18" charset="0"/>
              </a:endParaRPr>
            </a:p>
          </p:txBody>
        </p:sp>
        <p:sp>
          <p:nvSpPr>
            <p:cNvPr id="37" name="Text 40">
              <a:extLst>
                <a:ext uri="{FF2B5EF4-FFF2-40B4-BE49-F238E27FC236}">
                  <a16:creationId xmlns:a16="http://schemas.microsoft.com/office/drawing/2014/main" id="{F3FB42D8-7966-2FFF-1E1F-3631DDCE032A}"/>
                </a:ext>
              </a:extLst>
            </p:cNvPr>
            <p:cNvSpPr/>
            <p:nvPr/>
          </p:nvSpPr>
          <p:spPr>
            <a:xfrm>
              <a:off x="365759" y="4026205"/>
              <a:ext cx="10788015" cy="313538"/>
            </a:xfrm>
            <a:prstGeom prst="rect">
              <a:avLst/>
            </a:prstGeom>
            <a:noFill/>
            <a:ln/>
          </p:spPr>
          <p:txBody>
            <a:bodyPr wrap="square" lIns="0" tIns="0" rIns="0" bIns="0" rtlCol="0" anchor="ctr"/>
            <a:lstStyle/>
            <a:p>
              <a:pPr marL="0" indent="0">
                <a:buNone/>
              </a:pPr>
              <a:r>
                <a:rPr lang="en-US" sz="1600" b="1" kern="0" spc="300" dirty="0">
                  <a:solidFill>
                    <a:srgbClr val="00B050"/>
                  </a:solidFill>
                  <a:latin typeface="Times New Roman" panose="02020603050405020304" pitchFamily="18" charset="0"/>
                  <a:ea typeface="Calibri" pitchFamily="34" charset="-122"/>
                  <a:cs typeface="Times New Roman" panose="02020603050405020304" pitchFamily="18" charset="0"/>
                </a:rPr>
                <a:t>OUTGOING EMAIL PATH (DLP)</a:t>
              </a:r>
              <a:endParaRPr lang="en-US" sz="1600" dirty="0">
                <a:solidFill>
                  <a:srgbClr val="00B050"/>
                </a:solidFill>
                <a:latin typeface="Times New Roman" panose="02020603050405020304" pitchFamily="18" charset="0"/>
                <a:cs typeface="Times New Roman" panose="02020603050405020304" pitchFamily="18" charset="0"/>
              </a:endParaRPr>
            </a:p>
          </p:txBody>
        </p:sp>
        <p:sp>
          <p:nvSpPr>
            <p:cNvPr id="38" name="Shape 41">
              <a:extLst>
                <a:ext uri="{FF2B5EF4-FFF2-40B4-BE49-F238E27FC236}">
                  <a16:creationId xmlns:a16="http://schemas.microsoft.com/office/drawing/2014/main" id="{1ECCE170-3F98-0184-CE2B-21D2DEE6715A}"/>
                </a:ext>
              </a:extLst>
            </p:cNvPr>
            <p:cNvSpPr/>
            <p:nvPr/>
          </p:nvSpPr>
          <p:spPr>
            <a:xfrm>
              <a:off x="36575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39" name="Text 42">
              <a:extLst>
                <a:ext uri="{FF2B5EF4-FFF2-40B4-BE49-F238E27FC236}">
                  <a16:creationId xmlns:a16="http://schemas.microsoft.com/office/drawing/2014/main" id="{B879ED99-D267-1A83-F87A-81EC14D959C9}"/>
                </a:ext>
              </a:extLst>
            </p:cNvPr>
            <p:cNvSpPr/>
            <p:nvPr/>
          </p:nvSpPr>
          <p:spPr>
            <a:xfrm>
              <a:off x="36575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.eml Draft</a:t>
              </a:r>
              <a:endParaRPr lang="en-US" dirty="0">
                <a:latin typeface="Times New Roman" panose="02020603050405020304" pitchFamily="18" charset="0"/>
                <a:cs typeface="Times New Roman" panose="02020603050405020304" pitchFamily="18" charset="0"/>
              </a:endParaRPr>
            </a:p>
          </p:txBody>
        </p:sp>
        <p:sp>
          <p:nvSpPr>
            <p:cNvPr id="40" name="Shape 43">
              <a:extLst>
                <a:ext uri="{FF2B5EF4-FFF2-40B4-BE49-F238E27FC236}">
                  <a16:creationId xmlns:a16="http://schemas.microsoft.com/office/drawing/2014/main" id="{41AE5688-2A56-F827-D35F-8E0CD34C3F37}"/>
                </a:ext>
              </a:extLst>
            </p:cNvPr>
            <p:cNvSpPr/>
            <p:nvPr/>
          </p:nvSpPr>
          <p:spPr>
            <a:xfrm>
              <a:off x="1983961" y="4966818"/>
              <a:ext cx="187618" cy="199524"/>
            </a:xfrm>
            <a:prstGeom prst="rect">
              <a:avLst/>
            </a:prstGeom>
            <a:solidFill>
              <a:srgbClr val="2DC653"/>
            </a:solidFill>
            <a:ln w="12700">
              <a:solidFill>
                <a:srgbClr val="2DC653"/>
              </a:solidFill>
              <a:prstDash val="solid"/>
            </a:ln>
          </p:spPr>
        </p:sp>
        <p:sp>
          <p:nvSpPr>
            <p:cNvPr id="41" name="Shape 44">
              <a:extLst>
                <a:ext uri="{FF2B5EF4-FFF2-40B4-BE49-F238E27FC236}">
                  <a16:creationId xmlns:a16="http://schemas.microsoft.com/office/drawing/2014/main" id="{FDB6A0F2-797A-EB3E-8D99-B4736E43A1D2}"/>
                </a:ext>
              </a:extLst>
            </p:cNvPr>
            <p:cNvSpPr/>
            <p:nvPr/>
          </p:nvSpPr>
          <p:spPr>
            <a:xfrm>
              <a:off x="217157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2" name="Text 45">
              <a:extLst>
                <a:ext uri="{FF2B5EF4-FFF2-40B4-BE49-F238E27FC236}">
                  <a16:creationId xmlns:a16="http://schemas.microsoft.com/office/drawing/2014/main" id="{4D140C61-2CF1-16AB-E17D-7849D0E3FFA9}"/>
                </a:ext>
              </a:extLst>
            </p:cNvPr>
            <p:cNvSpPr/>
            <p:nvPr/>
          </p:nvSpPr>
          <p:spPr>
            <a:xfrm>
              <a:off x="217157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Extract Body</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&amp; Attachments</a:t>
              </a:r>
              <a:endParaRPr lang="en-US" dirty="0">
                <a:latin typeface="Times New Roman" panose="02020603050405020304" pitchFamily="18" charset="0"/>
                <a:cs typeface="Times New Roman" panose="02020603050405020304" pitchFamily="18" charset="0"/>
              </a:endParaRPr>
            </a:p>
          </p:txBody>
        </p:sp>
        <p:sp>
          <p:nvSpPr>
            <p:cNvPr id="43" name="Shape 46">
              <a:extLst>
                <a:ext uri="{FF2B5EF4-FFF2-40B4-BE49-F238E27FC236}">
                  <a16:creationId xmlns:a16="http://schemas.microsoft.com/office/drawing/2014/main" id="{60400730-331E-4DF5-363B-0287E39764FC}"/>
                </a:ext>
              </a:extLst>
            </p:cNvPr>
            <p:cNvSpPr/>
            <p:nvPr/>
          </p:nvSpPr>
          <p:spPr>
            <a:xfrm>
              <a:off x="3789781" y="4966818"/>
              <a:ext cx="187618" cy="199524"/>
            </a:xfrm>
            <a:prstGeom prst="rect">
              <a:avLst/>
            </a:prstGeom>
            <a:solidFill>
              <a:srgbClr val="2DC653"/>
            </a:solidFill>
            <a:ln w="12700">
              <a:solidFill>
                <a:srgbClr val="2DC653"/>
              </a:solidFill>
              <a:prstDash val="solid"/>
            </a:ln>
          </p:spPr>
        </p:sp>
        <p:sp>
          <p:nvSpPr>
            <p:cNvPr id="44" name="Shape 47">
              <a:extLst>
                <a:ext uri="{FF2B5EF4-FFF2-40B4-BE49-F238E27FC236}">
                  <a16:creationId xmlns:a16="http://schemas.microsoft.com/office/drawing/2014/main" id="{B35B6001-062C-4047-4BF7-69E6F70FDF6F}"/>
                </a:ext>
              </a:extLst>
            </p:cNvPr>
            <p:cNvSpPr/>
            <p:nvPr/>
          </p:nvSpPr>
          <p:spPr>
            <a:xfrm>
              <a:off x="397739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5" name="Text 48">
              <a:extLst>
                <a:ext uri="{FF2B5EF4-FFF2-40B4-BE49-F238E27FC236}">
                  <a16:creationId xmlns:a16="http://schemas.microsoft.com/office/drawing/2014/main" id="{FC997A8D-58B2-D1EA-25D0-AB8FA39120C7}"/>
                </a:ext>
              </a:extLst>
            </p:cNvPr>
            <p:cNvSpPr/>
            <p:nvPr/>
          </p:nvSpPr>
          <p:spPr>
            <a:xfrm>
              <a:off x="397739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Regex Scan</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(PAN/Card)</a:t>
              </a:r>
              <a:endParaRPr lang="en-US" dirty="0">
                <a:latin typeface="Times New Roman" panose="02020603050405020304" pitchFamily="18" charset="0"/>
                <a:cs typeface="Times New Roman" panose="02020603050405020304" pitchFamily="18" charset="0"/>
              </a:endParaRPr>
            </a:p>
          </p:txBody>
        </p:sp>
        <p:sp>
          <p:nvSpPr>
            <p:cNvPr id="46" name="Shape 49">
              <a:extLst>
                <a:ext uri="{FF2B5EF4-FFF2-40B4-BE49-F238E27FC236}">
                  <a16:creationId xmlns:a16="http://schemas.microsoft.com/office/drawing/2014/main" id="{7A3983E5-460C-176A-2FED-76F03409CFDB}"/>
                </a:ext>
              </a:extLst>
            </p:cNvPr>
            <p:cNvSpPr/>
            <p:nvPr/>
          </p:nvSpPr>
          <p:spPr>
            <a:xfrm>
              <a:off x="5595601" y="4966818"/>
              <a:ext cx="187618" cy="199524"/>
            </a:xfrm>
            <a:prstGeom prst="rect">
              <a:avLst/>
            </a:prstGeom>
            <a:solidFill>
              <a:srgbClr val="2DC653"/>
            </a:solidFill>
            <a:ln w="12700">
              <a:solidFill>
                <a:srgbClr val="2DC653"/>
              </a:solidFill>
              <a:prstDash val="solid"/>
            </a:ln>
          </p:spPr>
        </p:sp>
        <p:sp>
          <p:nvSpPr>
            <p:cNvPr id="47" name="Shape 50">
              <a:extLst>
                <a:ext uri="{FF2B5EF4-FFF2-40B4-BE49-F238E27FC236}">
                  <a16:creationId xmlns:a16="http://schemas.microsoft.com/office/drawing/2014/main" id="{27ABFE44-A037-319D-2D28-475B7EF910EE}"/>
                </a:ext>
              </a:extLst>
            </p:cNvPr>
            <p:cNvSpPr/>
            <p:nvPr/>
          </p:nvSpPr>
          <p:spPr>
            <a:xfrm>
              <a:off x="578321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8" name="Text 51">
              <a:extLst>
                <a:ext uri="{FF2B5EF4-FFF2-40B4-BE49-F238E27FC236}">
                  <a16:creationId xmlns:a16="http://schemas.microsoft.com/office/drawing/2014/main" id="{927522D7-CFF7-846A-4B8B-F781B683E03E}"/>
                </a:ext>
              </a:extLst>
            </p:cNvPr>
            <p:cNvSpPr/>
            <p:nvPr/>
          </p:nvSpPr>
          <p:spPr>
            <a:xfrm>
              <a:off x="578321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Luhn Card</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Validation</a:t>
              </a:r>
              <a:endParaRPr lang="en-US" dirty="0">
                <a:latin typeface="Times New Roman" panose="02020603050405020304" pitchFamily="18" charset="0"/>
                <a:cs typeface="Times New Roman" panose="02020603050405020304" pitchFamily="18" charset="0"/>
              </a:endParaRPr>
            </a:p>
          </p:txBody>
        </p:sp>
        <p:sp>
          <p:nvSpPr>
            <p:cNvPr id="49" name="Shape 52">
              <a:extLst>
                <a:ext uri="{FF2B5EF4-FFF2-40B4-BE49-F238E27FC236}">
                  <a16:creationId xmlns:a16="http://schemas.microsoft.com/office/drawing/2014/main" id="{48A1A8A5-A17D-243E-EE22-DDB4C07AB4CB}"/>
                </a:ext>
              </a:extLst>
            </p:cNvPr>
            <p:cNvSpPr/>
            <p:nvPr/>
          </p:nvSpPr>
          <p:spPr>
            <a:xfrm>
              <a:off x="7401421" y="4966818"/>
              <a:ext cx="187618" cy="199524"/>
            </a:xfrm>
            <a:prstGeom prst="rect">
              <a:avLst/>
            </a:prstGeom>
            <a:solidFill>
              <a:srgbClr val="2DC653"/>
            </a:solidFill>
            <a:ln w="12700">
              <a:solidFill>
                <a:srgbClr val="2DC653"/>
              </a:solidFill>
              <a:prstDash val="solid"/>
            </a:ln>
          </p:spPr>
        </p:sp>
        <p:sp>
          <p:nvSpPr>
            <p:cNvPr id="50" name="Shape 53">
              <a:extLst>
                <a:ext uri="{FF2B5EF4-FFF2-40B4-BE49-F238E27FC236}">
                  <a16:creationId xmlns:a16="http://schemas.microsoft.com/office/drawing/2014/main" id="{7246AFE8-0288-8FA4-A286-704555D4582D}"/>
                </a:ext>
              </a:extLst>
            </p:cNvPr>
            <p:cNvSpPr/>
            <p:nvPr/>
          </p:nvSpPr>
          <p:spPr>
            <a:xfrm>
              <a:off x="758903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51" name="Text 54">
              <a:extLst>
                <a:ext uri="{FF2B5EF4-FFF2-40B4-BE49-F238E27FC236}">
                  <a16:creationId xmlns:a16="http://schemas.microsoft.com/office/drawing/2014/main" id="{27405643-B348-9906-AE39-A4F9AE82A905}"/>
                </a:ext>
              </a:extLst>
            </p:cNvPr>
            <p:cNvSpPr/>
            <p:nvPr/>
          </p:nvSpPr>
          <p:spPr>
            <a:xfrm>
              <a:off x="7589039" y="4425253"/>
              <a:ext cx="1618202" cy="1282654"/>
            </a:xfrm>
            <a:prstGeom prst="rect">
              <a:avLst/>
            </a:prstGeom>
            <a:noFill/>
            <a:ln/>
          </p:spPr>
          <p:txBody>
            <a:bodyPr wrap="square" rtlCol="0" anchor="ctr"/>
            <a:lstStyle/>
            <a:p>
              <a:pPr marL="0" indent="0" algn="ctr">
                <a:buNone/>
              </a:pPr>
              <a:r>
                <a:rPr lang="en-US" sz="2000" dirty="0">
                  <a:solidFill>
                    <a:srgbClr val="FFFFFF"/>
                  </a:solidFill>
                  <a:latin typeface="Times New Roman" panose="02020603050405020304" pitchFamily="18" charset="0"/>
                  <a:ea typeface="Calibri" pitchFamily="34" charset="-122"/>
                  <a:cs typeface="Times New Roman" panose="02020603050405020304" pitchFamily="18" charset="0"/>
                </a:rPr>
                <a:t>Filename</a:t>
              </a:r>
              <a:endParaRPr lang="en-US" sz="2000" dirty="0">
                <a:latin typeface="Times New Roman" panose="02020603050405020304" pitchFamily="18" charset="0"/>
                <a:cs typeface="Times New Roman" panose="02020603050405020304" pitchFamily="18" charset="0"/>
              </a:endParaRPr>
            </a:p>
            <a:p>
              <a:pPr marL="0" indent="0" algn="ctr">
                <a:buNone/>
              </a:pPr>
              <a:r>
                <a:rPr lang="en-US" sz="2000" dirty="0">
                  <a:solidFill>
                    <a:srgbClr val="FFFFFF"/>
                  </a:solidFill>
                  <a:latin typeface="Times New Roman" panose="02020603050405020304" pitchFamily="18" charset="0"/>
                  <a:ea typeface="Calibri" pitchFamily="34" charset="-122"/>
                  <a:cs typeface="Times New Roman" panose="02020603050405020304" pitchFamily="18" charset="0"/>
                </a:rPr>
                <a:t>Check</a:t>
              </a:r>
              <a:endParaRPr lang="en-US" sz="2000" dirty="0">
                <a:latin typeface="Times New Roman" panose="02020603050405020304" pitchFamily="18" charset="0"/>
                <a:cs typeface="Times New Roman" panose="02020603050405020304" pitchFamily="18" charset="0"/>
              </a:endParaRPr>
            </a:p>
          </p:txBody>
        </p:sp>
        <p:sp>
          <p:nvSpPr>
            <p:cNvPr id="52" name="Shape 55">
              <a:extLst>
                <a:ext uri="{FF2B5EF4-FFF2-40B4-BE49-F238E27FC236}">
                  <a16:creationId xmlns:a16="http://schemas.microsoft.com/office/drawing/2014/main" id="{CF455785-96B9-31D6-D857-9B18C470D076}"/>
                </a:ext>
              </a:extLst>
            </p:cNvPr>
            <p:cNvSpPr/>
            <p:nvPr/>
          </p:nvSpPr>
          <p:spPr>
            <a:xfrm>
              <a:off x="9207241" y="4966818"/>
              <a:ext cx="187618" cy="199524"/>
            </a:xfrm>
            <a:prstGeom prst="rect">
              <a:avLst/>
            </a:prstGeom>
            <a:solidFill>
              <a:srgbClr val="2DC653"/>
            </a:solidFill>
            <a:ln w="12700">
              <a:solidFill>
                <a:srgbClr val="2DC653"/>
              </a:solidFill>
              <a:prstDash val="solid"/>
            </a:ln>
          </p:spPr>
        </p:sp>
        <p:sp>
          <p:nvSpPr>
            <p:cNvPr id="53" name="Shape 56">
              <a:extLst>
                <a:ext uri="{FF2B5EF4-FFF2-40B4-BE49-F238E27FC236}">
                  <a16:creationId xmlns:a16="http://schemas.microsoft.com/office/drawing/2014/main" id="{36AF5A08-5358-219A-2A82-A4EBDAC63CDA}"/>
                </a:ext>
              </a:extLst>
            </p:cNvPr>
            <p:cNvSpPr/>
            <p:nvPr/>
          </p:nvSpPr>
          <p:spPr>
            <a:xfrm>
              <a:off x="9394859" y="4425253"/>
              <a:ext cx="1618202" cy="1282654"/>
            </a:xfrm>
            <a:prstGeom prst="rect">
              <a:avLst/>
            </a:prstGeom>
            <a:solidFill>
              <a:srgbClr val="0D2137"/>
            </a:solidFill>
            <a:ln w="12700">
              <a:solidFill>
                <a:srgbClr val="2DC653"/>
              </a:solidFill>
              <a:prstDash val="solid"/>
            </a:ln>
            <a:effectLst>
              <a:outerShdw blurRad="63500" dist="25400" dir="8100000" algn="bl" rotWithShape="0">
                <a:srgbClr val="000000">
                  <a:alpha val="20000"/>
                </a:srgbClr>
              </a:outerShdw>
            </a:effectLst>
          </p:spPr>
        </p:sp>
        <p:sp>
          <p:nvSpPr>
            <p:cNvPr id="54" name="Text 57">
              <a:extLst>
                <a:ext uri="{FF2B5EF4-FFF2-40B4-BE49-F238E27FC236}">
                  <a16:creationId xmlns:a16="http://schemas.microsoft.com/office/drawing/2014/main" id="{77A541D0-9915-FAEC-AACD-322091C7C6B7}"/>
                </a:ext>
              </a:extLst>
            </p:cNvPr>
            <p:cNvSpPr/>
            <p:nvPr/>
          </p:nvSpPr>
          <p:spPr>
            <a:xfrm>
              <a:off x="9394859" y="4425253"/>
              <a:ext cx="1618202" cy="1282654"/>
            </a:xfrm>
            <a:prstGeom prst="rect">
              <a:avLst/>
            </a:prstGeom>
            <a:noFill/>
            <a:ln/>
          </p:spPr>
          <p:txBody>
            <a:bodyPr wrap="square" rtlCol="0" anchor="ctr"/>
            <a:lstStyle/>
            <a:p>
              <a:pPr marL="0" indent="0" algn="ctr">
                <a:buNone/>
              </a:pPr>
              <a:r>
                <a:rPr lang="en-US" b="1" dirty="0">
                  <a:solidFill>
                    <a:srgbClr val="2DC653"/>
                  </a:solidFill>
                  <a:latin typeface="Times New Roman" panose="02020603050405020304" pitchFamily="18" charset="0"/>
                  <a:ea typeface="Calibri" pitchFamily="34" charset="-122"/>
                  <a:cs typeface="Times New Roman" panose="02020603050405020304" pitchFamily="18" charset="0"/>
                </a:rPr>
                <a:t>BLOCK /</a:t>
              </a:r>
              <a:endParaRPr lang="en-US" dirty="0">
                <a:latin typeface="Times New Roman" panose="02020603050405020304" pitchFamily="18" charset="0"/>
                <a:cs typeface="Times New Roman" panose="02020603050405020304" pitchFamily="18" charset="0"/>
              </a:endParaRPr>
            </a:p>
            <a:p>
              <a:pPr marL="0" indent="0" algn="ctr">
                <a:buNone/>
              </a:pPr>
              <a:r>
                <a:rPr lang="en-US" b="1" dirty="0">
                  <a:solidFill>
                    <a:srgbClr val="2DC653"/>
                  </a:solidFill>
                  <a:latin typeface="Times New Roman" panose="02020603050405020304" pitchFamily="18" charset="0"/>
                  <a:ea typeface="Calibri" pitchFamily="34" charset="-122"/>
                  <a:cs typeface="Times New Roman" panose="02020603050405020304" pitchFamily="18" charset="0"/>
                </a:rPr>
                <a:t>CLEAR</a:t>
              </a:r>
              <a:endParaRPr lang="en-US" dirty="0">
                <a:latin typeface="Times New Roman" panose="02020603050405020304" pitchFamily="18" charset="0"/>
                <a:cs typeface="Times New Roman" panose="02020603050405020304" pitchFamily="18" charset="0"/>
              </a:endParaRPr>
            </a:p>
          </p:txBody>
        </p:sp>
        <p:sp>
          <p:nvSpPr>
            <p:cNvPr id="55" name="Shape 58">
              <a:extLst>
                <a:ext uri="{FF2B5EF4-FFF2-40B4-BE49-F238E27FC236}">
                  <a16:creationId xmlns:a16="http://schemas.microsoft.com/office/drawing/2014/main" id="{62A4E6C5-2EB0-3BF2-87B9-F305B31774D1}"/>
                </a:ext>
              </a:extLst>
            </p:cNvPr>
            <p:cNvSpPr/>
            <p:nvPr/>
          </p:nvSpPr>
          <p:spPr>
            <a:xfrm>
              <a:off x="365759" y="6021445"/>
              <a:ext cx="4455919" cy="655579"/>
            </a:xfrm>
            <a:prstGeom prst="rect">
              <a:avLst/>
            </a:prstGeom>
            <a:solidFill>
              <a:srgbClr val="E63946"/>
            </a:solidFill>
            <a:ln w="12700">
              <a:solidFill>
                <a:srgbClr val="E63946"/>
              </a:solidFill>
              <a:prstDash val="solid"/>
            </a:ln>
          </p:spPr>
        </p:sp>
        <p:sp>
          <p:nvSpPr>
            <p:cNvPr id="56" name="Text 59">
              <a:extLst>
                <a:ext uri="{FF2B5EF4-FFF2-40B4-BE49-F238E27FC236}">
                  <a16:creationId xmlns:a16="http://schemas.microsoft.com/office/drawing/2014/main" id="{E7EB8F7F-2A3E-C200-D332-E55D9CD55D77}"/>
                </a:ext>
              </a:extLst>
            </p:cNvPr>
            <p:cNvSpPr/>
            <p:nvPr/>
          </p:nvSpPr>
          <p:spPr>
            <a:xfrm>
              <a:off x="483020" y="6021445"/>
              <a:ext cx="4338658" cy="655579"/>
            </a:xfrm>
            <a:prstGeom prst="rect">
              <a:avLst/>
            </a:prstGeom>
            <a:noFill/>
            <a:ln/>
          </p:spPr>
          <p:txBody>
            <a:bodyPr wrap="square" lIns="0" tIns="0" rIns="0" bIns="0" rtlCol="0" anchor="ctr"/>
            <a:lstStyle/>
            <a:p>
              <a:pPr marL="0" indent="0">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  BLOCKED — CRITICAL pattern detected (PAN / Aadhaar / Card / Password)</a:t>
              </a:r>
              <a:endParaRPr lang="en-US" sz="1200" dirty="0">
                <a:latin typeface="Times New Roman" panose="02020603050405020304" pitchFamily="18" charset="0"/>
                <a:cs typeface="Times New Roman" panose="02020603050405020304" pitchFamily="18" charset="0"/>
              </a:endParaRPr>
            </a:p>
          </p:txBody>
        </p:sp>
        <p:sp>
          <p:nvSpPr>
            <p:cNvPr id="57" name="Shape 60">
              <a:extLst>
                <a:ext uri="{FF2B5EF4-FFF2-40B4-BE49-F238E27FC236}">
                  <a16:creationId xmlns:a16="http://schemas.microsoft.com/office/drawing/2014/main" id="{55D431AD-6FE5-98B3-388F-B6D3E42D0664}"/>
                </a:ext>
              </a:extLst>
            </p:cNvPr>
            <p:cNvSpPr/>
            <p:nvPr/>
          </p:nvSpPr>
          <p:spPr>
            <a:xfrm>
              <a:off x="5056200" y="6021445"/>
              <a:ext cx="6097574" cy="655579"/>
            </a:xfrm>
            <a:prstGeom prst="rect">
              <a:avLst/>
            </a:prstGeom>
            <a:solidFill>
              <a:srgbClr val="2DC653"/>
            </a:solidFill>
            <a:ln w="12700">
              <a:solidFill>
                <a:srgbClr val="2DC653"/>
              </a:solidFill>
              <a:prstDash val="solid"/>
            </a:ln>
          </p:spPr>
        </p:sp>
        <p:sp>
          <p:nvSpPr>
            <p:cNvPr id="58" name="Text 61">
              <a:extLst>
                <a:ext uri="{FF2B5EF4-FFF2-40B4-BE49-F238E27FC236}">
                  <a16:creationId xmlns:a16="http://schemas.microsoft.com/office/drawing/2014/main" id="{5E15F6CA-BF60-5D89-8814-514FDC3F2C25}"/>
                </a:ext>
              </a:extLst>
            </p:cNvPr>
            <p:cNvSpPr/>
            <p:nvPr/>
          </p:nvSpPr>
          <p:spPr>
            <a:xfrm>
              <a:off x="5173461" y="6021445"/>
              <a:ext cx="5863052" cy="655579"/>
            </a:xfrm>
            <a:prstGeom prst="rect">
              <a:avLst/>
            </a:prstGeom>
            <a:noFill/>
            <a:ln/>
          </p:spPr>
          <p:txBody>
            <a:bodyPr wrap="square" lIns="0" tIns="0" rIns="0" bIns="0" rtlCol="0" anchor="ctr"/>
            <a:lstStyle/>
            <a:p>
              <a:pPr marL="0" indent="0">
                <a:buNone/>
              </a:pPr>
              <a:r>
                <a:rPr lang="en-US" sz="1200" b="1" dirty="0">
                  <a:solidFill>
                    <a:srgbClr val="060F1E"/>
                  </a:solidFill>
                  <a:latin typeface="Times New Roman" panose="02020603050405020304" pitchFamily="18" charset="0"/>
                  <a:ea typeface="Calibri" pitchFamily="34" charset="-122"/>
                  <a:cs typeface="Times New Roman" panose="02020603050405020304" pitchFamily="18" charset="0"/>
                </a:rPr>
                <a:t>✅  CLEARED — No sensitive data found. Safe to transmit.</a:t>
              </a:r>
              <a:endParaRPr lang="en-US" sz="1200" dirty="0">
                <a:latin typeface="Times New Roman" panose="02020603050405020304" pitchFamily="18" charset="0"/>
                <a:cs typeface="Times New Roman" panose="02020603050405020304" pitchFamily="18" charset="0"/>
              </a:endParaRPr>
            </a:p>
          </p:txBody>
        </p:sp>
        <p:sp>
          <p:nvSpPr>
            <p:cNvPr id="60" name="Text 6">
              <a:extLst>
                <a:ext uri="{FF2B5EF4-FFF2-40B4-BE49-F238E27FC236}">
                  <a16:creationId xmlns:a16="http://schemas.microsoft.com/office/drawing/2014/main" id="{9CF7B732-42E6-0571-0160-A1BD505E83E5}"/>
                </a:ext>
              </a:extLst>
            </p:cNvPr>
            <p:cNvSpPr/>
            <p:nvPr/>
          </p:nvSpPr>
          <p:spPr>
            <a:xfrm>
              <a:off x="365759" y="1164011"/>
              <a:ext cx="4572000" cy="201168"/>
            </a:xfrm>
            <a:prstGeom prst="rect">
              <a:avLst/>
            </a:prstGeom>
            <a:noFill/>
            <a:ln/>
          </p:spPr>
          <p:txBody>
            <a:bodyPr wrap="square" lIns="0" tIns="0" rIns="0" bIns="0" rtlCol="0" anchor="ctr"/>
            <a:lstStyle/>
            <a:p>
              <a:pPr marL="0" indent="0">
                <a:buNone/>
              </a:pPr>
              <a:r>
                <a:rPr lang="en-US" sz="1600" b="1" kern="0" spc="300" dirty="0">
                  <a:solidFill>
                    <a:srgbClr val="00B4D8"/>
                  </a:solidFill>
                  <a:latin typeface="Times New Roman" panose="02020603050405020304" pitchFamily="18" charset="0"/>
                  <a:ea typeface="Calibri" pitchFamily="34" charset="-122"/>
                  <a:cs typeface="Times New Roman" panose="02020603050405020304" pitchFamily="18" charset="0"/>
                </a:rPr>
                <a:t>INCOMING EMAIL PATH</a:t>
              </a:r>
              <a:endParaRPr lang="en-US" sz="1600"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28053281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24CBD-9149-EF54-6ED6-F5B07983F7A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98EFB65-D189-CFF2-3480-BFA0EE252237}"/>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LUHN ALGORITHM</a:t>
            </a:r>
            <a:endParaRPr lang="en-US" sz="3200" dirty="0">
              <a:latin typeface="Times New Roman" panose="02020603050405020304" pitchFamily="18" charset="0"/>
              <a:cs typeface="Times New Roman" panose="02020603050405020304" pitchFamily="18" charset="0"/>
            </a:endParaRPr>
          </a:p>
        </p:txBody>
      </p:sp>
      <p:grpSp>
        <p:nvGrpSpPr>
          <p:cNvPr id="391" name="Group 390">
            <a:extLst>
              <a:ext uri="{FF2B5EF4-FFF2-40B4-BE49-F238E27FC236}">
                <a16:creationId xmlns:a16="http://schemas.microsoft.com/office/drawing/2014/main" id="{2B0A5CD7-299F-EA55-2F10-9056F1D2A376}"/>
              </a:ext>
            </a:extLst>
          </p:cNvPr>
          <p:cNvGrpSpPr/>
          <p:nvPr/>
        </p:nvGrpSpPr>
        <p:grpSpPr>
          <a:xfrm>
            <a:off x="365760" y="1304290"/>
            <a:ext cx="11500113" cy="5299752"/>
            <a:chOff x="365760" y="1304290"/>
            <a:chExt cx="11500113" cy="5299752"/>
          </a:xfrm>
        </p:grpSpPr>
        <p:sp>
          <p:nvSpPr>
            <p:cNvPr id="62" name="Shape 6">
              <a:extLst>
                <a:ext uri="{FF2B5EF4-FFF2-40B4-BE49-F238E27FC236}">
                  <a16:creationId xmlns:a16="http://schemas.microsoft.com/office/drawing/2014/main" id="{75BD125F-58BC-CC39-3C97-37CBA88DB35E}"/>
                </a:ext>
              </a:extLst>
            </p:cNvPr>
            <p:cNvSpPr/>
            <p:nvPr/>
          </p:nvSpPr>
          <p:spPr>
            <a:xfrm>
              <a:off x="365760" y="1304290"/>
              <a:ext cx="5052596" cy="1343660"/>
            </a:xfrm>
            <a:prstGeom prst="rect">
              <a:avLst/>
            </a:prstGeom>
            <a:solidFill>
              <a:schemeClr val="bg1"/>
            </a:solidFill>
            <a:ln w="12700">
              <a:solidFill>
                <a:srgbClr val="00B4D8"/>
              </a:solidFill>
              <a:prstDash val="solid"/>
            </a:ln>
            <a:effectLst/>
          </p:spPr>
        </p:sp>
        <p:sp>
          <p:nvSpPr>
            <p:cNvPr id="63" name="Text 7">
              <a:extLst>
                <a:ext uri="{FF2B5EF4-FFF2-40B4-BE49-F238E27FC236}">
                  <a16:creationId xmlns:a16="http://schemas.microsoft.com/office/drawing/2014/main" id="{436FD33D-03D8-5C41-2DF4-3052D03D7399}"/>
                </a:ext>
              </a:extLst>
            </p:cNvPr>
            <p:cNvSpPr/>
            <p:nvPr/>
          </p:nvSpPr>
          <p:spPr>
            <a:xfrm>
              <a:off x="539987" y="1405721"/>
              <a:ext cx="4529914" cy="253577"/>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THE PROBLEM</a:t>
              </a:r>
              <a:endParaRPr lang="en-US" sz="1600" dirty="0">
                <a:latin typeface="Times New Roman" panose="02020603050405020304" pitchFamily="18" charset="0"/>
                <a:cs typeface="Times New Roman" panose="02020603050405020304" pitchFamily="18" charset="0"/>
              </a:endParaRPr>
            </a:p>
          </p:txBody>
        </p:sp>
        <p:sp>
          <p:nvSpPr>
            <p:cNvPr id="64" name="Text 8">
              <a:extLst>
                <a:ext uri="{FF2B5EF4-FFF2-40B4-BE49-F238E27FC236}">
                  <a16:creationId xmlns:a16="http://schemas.microsoft.com/office/drawing/2014/main" id="{AED56F46-A423-3DC6-3ADC-3449471E0006}"/>
                </a:ext>
              </a:extLst>
            </p:cNvPr>
            <p:cNvSpPr/>
            <p:nvPr/>
          </p:nvSpPr>
          <p:spPr>
            <a:xfrm>
              <a:off x="454262" y="1746500"/>
              <a:ext cx="4832114" cy="758575"/>
            </a:xfrm>
            <a:prstGeom prst="rect">
              <a:avLst/>
            </a:prstGeom>
            <a:noFill/>
            <a:ln/>
          </p:spPr>
          <p:txBody>
            <a:bodyPr wrap="square" rtlCol="0" anchor="ctr"/>
            <a:lstStyle/>
            <a:p>
              <a:pPr marL="0" indent="0">
                <a:buNone/>
              </a:pPr>
              <a:r>
                <a:rPr lang="en-US" sz="1400" dirty="0">
                  <a:latin typeface="Times New Roman" panose="02020603050405020304" pitchFamily="18" charset="0"/>
                  <a:ea typeface="Calibri" pitchFamily="34" charset="-122"/>
                  <a:cs typeface="Times New Roman" panose="02020603050405020304" pitchFamily="18" charset="0"/>
                </a:rPr>
                <a:t>Regex alone matches any 13–19 digit sequence. Phone numbers, order IDs, and timestamps all produce false positives at scale.</a:t>
              </a:r>
              <a:endParaRPr lang="en-US" sz="1400" dirty="0">
                <a:latin typeface="Times New Roman" panose="02020603050405020304" pitchFamily="18" charset="0"/>
                <a:cs typeface="Times New Roman" panose="02020603050405020304" pitchFamily="18" charset="0"/>
              </a:endParaRPr>
            </a:p>
          </p:txBody>
        </p:sp>
        <p:sp>
          <p:nvSpPr>
            <p:cNvPr id="65" name="Shape 9">
              <a:extLst>
                <a:ext uri="{FF2B5EF4-FFF2-40B4-BE49-F238E27FC236}">
                  <a16:creationId xmlns:a16="http://schemas.microsoft.com/office/drawing/2014/main" id="{69616E15-FCE1-20EF-CDD9-A946C2EE5E1E}"/>
                </a:ext>
              </a:extLst>
            </p:cNvPr>
            <p:cNvSpPr/>
            <p:nvPr/>
          </p:nvSpPr>
          <p:spPr>
            <a:xfrm>
              <a:off x="5650659" y="1304290"/>
              <a:ext cx="5401051" cy="1343660"/>
            </a:xfrm>
            <a:prstGeom prst="rect">
              <a:avLst/>
            </a:prstGeom>
            <a:solidFill>
              <a:schemeClr val="bg1"/>
            </a:solidFill>
            <a:ln w="12700">
              <a:solidFill>
                <a:srgbClr val="F4A261"/>
              </a:solidFill>
              <a:prstDash val="solid"/>
            </a:ln>
            <a:effectLst/>
          </p:spPr>
        </p:sp>
        <p:sp>
          <p:nvSpPr>
            <p:cNvPr id="66" name="Text 10">
              <a:extLst>
                <a:ext uri="{FF2B5EF4-FFF2-40B4-BE49-F238E27FC236}">
                  <a16:creationId xmlns:a16="http://schemas.microsoft.com/office/drawing/2014/main" id="{F9D772CE-ACAB-6BA6-5C2F-5B9F1EFF5626}"/>
                </a:ext>
              </a:extLst>
            </p:cNvPr>
            <p:cNvSpPr/>
            <p:nvPr/>
          </p:nvSpPr>
          <p:spPr>
            <a:xfrm>
              <a:off x="5824887" y="1405721"/>
              <a:ext cx="4994520" cy="253577"/>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THE SOLUTION</a:t>
              </a:r>
              <a:endParaRPr lang="en-US" sz="1600" dirty="0">
                <a:latin typeface="Times New Roman" panose="02020603050405020304" pitchFamily="18" charset="0"/>
                <a:cs typeface="Times New Roman" panose="02020603050405020304" pitchFamily="18" charset="0"/>
              </a:endParaRPr>
            </a:p>
          </p:txBody>
        </p:sp>
        <p:sp>
          <p:nvSpPr>
            <p:cNvPr id="67" name="Text 11">
              <a:extLst>
                <a:ext uri="{FF2B5EF4-FFF2-40B4-BE49-F238E27FC236}">
                  <a16:creationId xmlns:a16="http://schemas.microsoft.com/office/drawing/2014/main" id="{86B05A15-3FC3-6625-B17C-246C5A8EE96D}"/>
                </a:ext>
              </a:extLst>
            </p:cNvPr>
            <p:cNvSpPr/>
            <p:nvPr/>
          </p:nvSpPr>
          <p:spPr>
            <a:xfrm>
              <a:off x="5729637" y="1833902"/>
              <a:ext cx="5214588" cy="659299"/>
            </a:xfrm>
            <a:prstGeom prst="rect">
              <a:avLst/>
            </a:prstGeom>
            <a:noFill/>
            <a:ln/>
          </p:spPr>
          <p:txBody>
            <a:bodyPr wrap="square" rtlCol="0" anchor="ctr"/>
            <a:lstStyle/>
            <a:p>
              <a:pPr marL="0" indent="0">
                <a:buNone/>
              </a:pPr>
              <a:r>
                <a:rPr lang="en-US" sz="1400" dirty="0">
                  <a:latin typeface="Times New Roman" panose="02020603050405020304" pitchFamily="18" charset="0"/>
                  <a:ea typeface="Calibri" pitchFamily="34" charset="-122"/>
                  <a:cs typeface="Times New Roman" panose="02020603050405020304" pitchFamily="18" charset="0"/>
                </a:rPr>
                <a:t>Luhn (Hans Peter Luhn, IBM 1954) is a checksum formula baked into every major card network — Visa, Mastercard, RuPay. Zero false positives.</a:t>
              </a:r>
              <a:endParaRPr lang="en-US" sz="1400" dirty="0">
                <a:latin typeface="Times New Roman" panose="02020603050405020304" pitchFamily="18" charset="0"/>
                <a:cs typeface="Times New Roman" panose="02020603050405020304" pitchFamily="18" charset="0"/>
              </a:endParaRPr>
            </a:p>
          </p:txBody>
        </p:sp>
        <p:sp>
          <p:nvSpPr>
            <p:cNvPr id="68" name="Text 12">
              <a:extLst>
                <a:ext uri="{FF2B5EF4-FFF2-40B4-BE49-F238E27FC236}">
                  <a16:creationId xmlns:a16="http://schemas.microsoft.com/office/drawing/2014/main" id="{8C65D4CA-2C6D-F7B1-3122-9ADCB6AE4873}"/>
                </a:ext>
              </a:extLst>
            </p:cNvPr>
            <p:cNvSpPr/>
            <p:nvPr/>
          </p:nvSpPr>
          <p:spPr>
            <a:xfrm>
              <a:off x="395996" y="2950693"/>
              <a:ext cx="4646065" cy="278934"/>
            </a:xfrm>
            <a:prstGeom prst="rect">
              <a:avLst/>
            </a:prstGeom>
            <a:noFill/>
            <a:ln/>
          </p:spPr>
          <p:txBody>
            <a:bodyPr wrap="square" lIns="0" tIns="0" rIns="0" bIns="0" rtlCol="0" anchor="ctr"/>
            <a:lstStyle/>
            <a:p>
              <a:pPr marL="0" indent="0">
                <a:buNone/>
              </a:pPr>
              <a:r>
                <a:rPr lang="en-US" sz="1200" b="1" kern="0" spc="300" dirty="0">
                  <a:latin typeface="Times New Roman" panose="02020603050405020304" pitchFamily="18" charset="0"/>
                  <a:ea typeface="Calibri" pitchFamily="34" charset="-122"/>
                  <a:cs typeface="Times New Roman" panose="02020603050405020304" pitchFamily="18" charset="0"/>
                </a:rPr>
                <a:t>ALGORITHM STEPS</a:t>
              </a:r>
              <a:endParaRPr lang="en-US" sz="1200" dirty="0">
                <a:latin typeface="Times New Roman" panose="02020603050405020304" pitchFamily="18" charset="0"/>
                <a:cs typeface="Times New Roman" panose="02020603050405020304" pitchFamily="18" charset="0"/>
              </a:endParaRPr>
            </a:p>
          </p:txBody>
        </p:sp>
        <p:sp>
          <p:nvSpPr>
            <p:cNvPr id="69" name="Shape 13">
              <a:extLst>
                <a:ext uri="{FF2B5EF4-FFF2-40B4-BE49-F238E27FC236}">
                  <a16:creationId xmlns:a16="http://schemas.microsoft.com/office/drawing/2014/main" id="{241B8163-DFB0-3FA9-0AE7-52EFC2DC1BBC}"/>
                </a:ext>
              </a:extLst>
            </p:cNvPr>
            <p:cNvSpPr/>
            <p:nvPr/>
          </p:nvSpPr>
          <p:spPr>
            <a:xfrm>
              <a:off x="395996" y="3280342"/>
              <a:ext cx="487837" cy="532511"/>
            </a:xfrm>
            <a:prstGeom prst="ellipse">
              <a:avLst/>
            </a:prstGeom>
            <a:solidFill>
              <a:srgbClr val="00B4D8"/>
            </a:solidFill>
            <a:ln w="12700">
              <a:solidFill>
                <a:srgbClr val="00B4D8"/>
              </a:solidFill>
              <a:prstDash val="solid"/>
            </a:ln>
          </p:spPr>
        </p:sp>
        <p:sp>
          <p:nvSpPr>
            <p:cNvPr id="70" name="Text 14">
              <a:extLst>
                <a:ext uri="{FF2B5EF4-FFF2-40B4-BE49-F238E27FC236}">
                  <a16:creationId xmlns:a16="http://schemas.microsoft.com/office/drawing/2014/main" id="{89AE9B9B-78FF-FDCD-DC96-4E3E7009089C}"/>
                </a:ext>
              </a:extLst>
            </p:cNvPr>
            <p:cNvSpPr/>
            <p:nvPr/>
          </p:nvSpPr>
          <p:spPr>
            <a:xfrm>
              <a:off x="395996" y="3318379"/>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1</a:t>
              </a:r>
              <a:endParaRPr lang="en-US" sz="1600" dirty="0">
                <a:latin typeface="Times New Roman" panose="02020603050405020304" pitchFamily="18" charset="0"/>
                <a:cs typeface="Times New Roman" panose="02020603050405020304" pitchFamily="18" charset="0"/>
              </a:endParaRPr>
            </a:p>
          </p:txBody>
        </p:sp>
        <p:sp>
          <p:nvSpPr>
            <p:cNvPr id="71" name="Text 15">
              <a:extLst>
                <a:ext uri="{FF2B5EF4-FFF2-40B4-BE49-F238E27FC236}">
                  <a16:creationId xmlns:a16="http://schemas.microsoft.com/office/drawing/2014/main" id="{32F7B9F5-3EB6-D8C1-DAC0-8384811D6108}"/>
                </a:ext>
              </a:extLst>
            </p:cNvPr>
            <p:cNvSpPr/>
            <p:nvPr/>
          </p:nvSpPr>
          <p:spPr>
            <a:xfrm>
              <a:off x="999984" y="3305700"/>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Read all digits from right to left.</a:t>
              </a:r>
              <a:endParaRPr lang="en-US" sz="1600" dirty="0">
                <a:latin typeface="Times New Roman" panose="02020603050405020304" pitchFamily="18" charset="0"/>
                <a:cs typeface="Times New Roman" panose="02020603050405020304" pitchFamily="18" charset="0"/>
              </a:endParaRPr>
            </a:p>
          </p:txBody>
        </p:sp>
        <p:sp>
          <p:nvSpPr>
            <p:cNvPr id="72" name="Shape 16">
              <a:extLst>
                <a:ext uri="{FF2B5EF4-FFF2-40B4-BE49-F238E27FC236}">
                  <a16:creationId xmlns:a16="http://schemas.microsoft.com/office/drawing/2014/main" id="{3F41854B-F872-BC6A-5EDA-C3A2F9C62261}"/>
                </a:ext>
              </a:extLst>
            </p:cNvPr>
            <p:cNvSpPr/>
            <p:nvPr/>
          </p:nvSpPr>
          <p:spPr>
            <a:xfrm>
              <a:off x="395996" y="3888926"/>
              <a:ext cx="487837" cy="532511"/>
            </a:xfrm>
            <a:prstGeom prst="ellipse">
              <a:avLst/>
            </a:prstGeom>
            <a:solidFill>
              <a:srgbClr val="00B4D8"/>
            </a:solidFill>
            <a:ln w="12700">
              <a:solidFill>
                <a:srgbClr val="00B4D8"/>
              </a:solidFill>
              <a:prstDash val="solid"/>
            </a:ln>
          </p:spPr>
        </p:sp>
        <p:sp>
          <p:nvSpPr>
            <p:cNvPr id="73" name="Text 17">
              <a:extLst>
                <a:ext uri="{FF2B5EF4-FFF2-40B4-BE49-F238E27FC236}">
                  <a16:creationId xmlns:a16="http://schemas.microsoft.com/office/drawing/2014/main" id="{C3F4BDC1-1D97-82CD-AE74-74399AD20BBC}"/>
                </a:ext>
              </a:extLst>
            </p:cNvPr>
            <p:cNvSpPr/>
            <p:nvPr/>
          </p:nvSpPr>
          <p:spPr>
            <a:xfrm>
              <a:off x="395996" y="3926963"/>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2</a:t>
              </a:r>
              <a:endParaRPr lang="en-US" sz="1600" dirty="0">
                <a:latin typeface="Times New Roman" panose="02020603050405020304" pitchFamily="18" charset="0"/>
                <a:cs typeface="Times New Roman" panose="02020603050405020304" pitchFamily="18" charset="0"/>
              </a:endParaRPr>
            </a:p>
          </p:txBody>
        </p:sp>
        <p:sp>
          <p:nvSpPr>
            <p:cNvPr id="74" name="Text 18">
              <a:extLst>
                <a:ext uri="{FF2B5EF4-FFF2-40B4-BE49-F238E27FC236}">
                  <a16:creationId xmlns:a16="http://schemas.microsoft.com/office/drawing/2014/main" id="{E431B982-144B-FF09-9BFD-48B67CED9BF7}"/>
                </a:ext>
              </a:extLst>
            </p:cNvPr>
            <p:cNvSpPr/>
            <p:nvPr/>
          </p:nvSpPr>
          <p:spPr>
            <a:xfrm>
              <a:off x="999984" y="3914284"/>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Double every second digit (positions 2, 4, 6 … from the right).</a:t>
              </a:r>
              <a:endParaRPr lang="en-US" sz="1600" dirty="0">
                <a:latin typeface="Times New Roman" panose="02020603050405020304" pitchFamily="18" charset="0"/>
                <a:cs typeface="Times New Roman" panose="02020603050405020304" pitchFamily="18" charset="0"/>
              </a:endParaRPr>
            </a:p>
          </p:txBody>
        </p:sp>
        <p:sp>
          <p:nvSpPr>
            <p:cNvPr id="75" name="Shape 19">
              <a:extLst>
                <a:ext uri="{FF2B5EF4-FFF2-40B4-BE49-F238E27FC236}">
                  <a16:creationId xmlns:a16="http://schemas.microsoft.com/office/drawing/2014/main" id="{D36170DD-8D10-80FB-35D0-48679A83A827}"/>
                </a:ext>
              </a:extLst>
            </p:cNvPr>
            <p:cNvSpPr/>
            <p:nvPr/>
          </p:nvSpPr>
          <p:spPr>
            <a:xfrm>
              <a:off x="395996" y="4497510"/>
              <a:ext cx="487837" cy="532511"/>
            </a:xfrm>
            <a:prstGeom prst="ellipse">
              <a:avLst/>
            </a:prstGeom>
            <a:solidFill>
              <a:srgbClr val="00B4D8"/>
            </a:solidFill>
            <a:ln w="12700">
              <a:solidFill>
                <a:srgbClr val="00B4D8"/>
              </a:solidFill>
              <a:prstDash val="solid"/>
            </a:ln>
          </p:spPr>
        </p:sp>
        <p:sp>
          <p:nvSpPr>
            <p:cNvPr id="76" name="Text 20">
              <a:extLst>
                <a:ext uri="{FF2B5EF4-FFF2-40B4-BE49-F238E27FC236}">
                  <a16:creationId xmlns:a16="http://schemas.microsoft.com/office/drawing/2014/main" id="{B9E41C59-ABE6-B0F5-DA6C-E06D5C74B482}"/>
                </a:ext>
              </a:extLst>
            </p:cNvPr>
            <p:cNvSpPr/>
            <p:nvPr/>
          </p:nvSpPr>
          <p:spPr>
            <a:xfrm>
              <a:off x="395996" y="4535547"/>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3</a:t>
              </a:r>
              <a:endParaRPr lang="en-US" sz="1600" dirty="0">
                <a:latin typeface="Times New Roman" panose="02020603050405020304" pitchFamily="18" charset="0"/>
                <a:cs typeface="Times New Roman" panose="02020603050405020304" pitchFamily="18" charset="0"/>
              </a:endParaRPr>
            </a:p>
          </p:txBody>
        </p:sp>
        <p:sp>
          <p:nvSpPr>
            <p:cNvPr id="77" name="Text 21">
              <a:extLst>
                <a:ext uri="{FF2B5EF4-FFF2-40B4-BE49-F238E27FC236}">
                  <a16:creationId xmlns:a16="http://schemas.microsoft.com/office/drawing/2014/main" id="{3CCBB443-B350-A9A5-9459-9040125F8460}"/>
                </a:ext>
              </a:extLst>
            </p:cNvPr>
            <p:cNvSpPr/>
            <p:nvPr/>
          </p:nvSpPr>
          <p:spPr>
            <a:xfrm>
              <a:off x="999984" y="4522868"/>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If the doubled value exceeds 9, subtract 9 from it.</a:t>
              </a:r>
              <a:endParaRPr lang="en-US" sz="1600" dirty="0">
                <a:latin typeface="Times New Roman" panose="02020603050405020304" pitchFamily="18" charset="0"/>
                <a:cs typeface="Times New Roman" panose="02020603050405020304" pitchFamily="18" charset="0"/>
              </a:endParaRPr>
            </a:p>
          </p:txBody>
        </p:sp>
        <p:sp>
          <p:nvSpPr>
            <p:cNvPr id="78" name="Shape 22">
              <a:extLst>
                <a:ext uri="{FF2B5EF4-FFF2-40B4-BE49-F238E27FC236}">
                  <a16:creationId xmlns:a16="http://schemas.microsoft.com/office/drawing/2014/main" id="{0338B442-CF59-F786-8588-BEA3B1F9282B}"/>
                </a:ext>
              </a:extLst>
            </p:cNvPr>
            <p:cNvSpPr/>
            <p:nvPr/>
          </p:nvSpPr>
          <p:spPr>
            <a:xfrm>
              <a:off x="395996" y="5106094"/>
              <a:ext cx="487837" cy="532511"/>
            </a:xfrm>
            <a:prstGeom prst="ellipse">
              <a:avLst/>
            </a:prstGeom>
            <a:solidFill>
              <a:srgbClr val="00B4D8"/>
            </a:solidFill>
            <a:ln w="12700">
              <a:solidFill>
                <a:srgbClr val="00B4D8"/>
              </a:solidFill>
              <a:prstDash val="solid"/>
            </a:ln>
          </p:spPr>
        </p:sp>
        <p:sp>
          <p:nvSpPr>
            <p:cNvPr id="79" name="Text 23">
              <a:extLst>
                <a:ext uri="{FF2B5EF4-FFF2-40B4-BE49-F238E27FC236}">
                  <a16:creationId xmlns:a16="http://schemas.microsoft.com/office/drawing/2014/main" id="{26F488B4-94AA-3923-D680-1B1C48AA2989}"/>
                </a:ext>
              </a:extLst>
            </p:cNvPr>
            <p:cNvSpPr/>
            <p:nvPr/>
          </p:nvSpPr>
          <p:spPr>
            <a:xfrm>
              <a:off x="395996" y="5144131"/>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4</a:t>
              </a:r>
              <a:endParaRPr lang="en-US" sz="1600" dirty="0">
                <a:latin typeface="Times New Roman" panose="02020603050405020304" pitchFamily="18" charset="0"/>
                <a:cs typeface="Times New Roman" panose="02020603050405020304" pitchFamily="18" charset="0"/>
              </a:endParaRPr>
            </a:p>
          </p:txBody>
        </p:sp>
        <p:sp>
          <p:nvSpPr>
            <p:cNvPr id="80" name="Text 24">
              <a:extLst>
                <a:ext uri="{FF2B5EF4-FFF2-40B4-BE49-F238E27FC236}">
                  <a16:creationId xmlns:a16="http://schemas.microsoft.com/office/drawing/2014/main" id="{E207BEF3-AAA5-E06A-E278-19167E9B9E53}"/>
                </a:ext>
              </a:extLst>
            </p:cNvPr>
            <p:cNvSpPr/>
            <p:nvPr/>
          </p:nvSpPr>
          <p:spPr>
            <a:xfrm>
              <a:off x="999984" y="5131452"/>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Sum all the resulting digits together.</a:t>
              </a:r>
              <a:endParaRPr lang="en-US" sz="1600" dirty="0">
                <a:latin typeface="Times New Roman" panose="02020603050405020304" pitchFamily="18" charset="0"/>
                <a:cs typeface="Times New Roman" panose="02020603050405020304" pitchFamily="18" charset="0"/>
              </a:endParaRPr>
            </a:p>
          </p:txBody>
        </p:sp>
        <p:sp>
          <p:nvSpPr>
            <p:cNvPr id="81" name="Shape 25">
              <a:extLst>
                <a:ext uri="{FF2B5EF4-FFF2-40B4-BE49-F238E27FC236}">
                  <a16:creationId xmlns:a16="http://schemas.microsoft.com/office/drawing/2014/main" id="{79C16DC6-ADBA-3A1C-6948-AF47842A67A1}"/>
                </a:ext>
              </a:extLst>
            </p:cNvPr>
            <p:cNvSpPr/>
            <p:nvPr/>
          </p:nvSpPr>
          <p:spPr>
            <a:xfrm>
              <a:off x="395996" y="5714678"/>
              <a:ext cx="487837" cy="532511"/>
            </a:xfrm>
            <a:prstGeom prst="ellipse">
              <a:avLst/>
            </a:prstGeom>
            <a:solidFill>
              <a:srgbClr val="00B4D8"/>
            </a:solidFill>
            <a:ln w="12700">
              <a:solidFill>
                <a:srgbClr val="00B4D8"/>
              </a:solidFill>
              <a:prstDash val="solid"/>
            </a:ln>
          </p:spPr>
        </p:sp>
        <p:sp>
          <p:nvSpPr>
            <p:cNvPr id="82" name="Text 26">
              <a:extLst>
                <a:ext uri="{FF2B5EF4-FFF2-40B4-BE49-F238E27FC236}">
                  <a16:creationId xmlns:a16="http://schemas.microsoft.com/office/drawing/2014/main" id="{708D4F3E-DC5F-A870-4D09-568AEC13CBCD}"/>
                </a:ext>
              </a:extLst>
            </p:cNvPr>
            <p:cNvSpPr/>
            <p:nvPr/>
          </p:nvSpPr>
          <p:spPr>
            <a:xfrm>
              <a:off x="395996" y="5752715"/>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5</a:t>
              </a:r>
              <a:endParaRPr lang="en-US" sz="1600" dirty="0">
                <a:latin typeface="Times New Roman" panose="02020603050405020304" pitchFamily="18" charset="0"/>
                <a:cs typeface="Times New Roman" panose="02020603050405020304" pitchFamily="18" charset="0"/>
              </a:endParaRPr>
            </a:p>
          </p:txBody>
        </p:sp>
        <p:sp>
          <p:nvSpPr>
            <p:cNvPr id="83" name="Text 27">
              <a:extLst>
                <a:ext uri="{FF2B5EF4-FFF2-40B4-BE49-F238E27FC236}">
                  <a16:creationId xmlns:a16="http://schemas.microsoft.com/office/drawing/2014/main" id="{34041E50-B2CE-464B-19CC-69322A46EC9C}"/>
                </a:ext>
              </a:extLst>
            </p:cNvPr>
            <p:cNvSpPr/>
            <p:nvPr/>
          </p:nvSpPr>
          <p:spPr>
            <a:xfrm>
              <a:off x="999984" y="5740036"/>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If the total modulo 10 equals 0  →  card number is VALID.</a:t>
              </a:r>
              <a:endParaRPr lang="en-US" sz="1600" dirty="0">
                <a:latin typeface="Times New Roman" panose="02020603050405020304" pitchFamily="18" charset="0"/>
                <a:cs typeface="Times New Roman" panose="02020603050405020304" pitchFamily="18" charset="0"/>
              </a:endParaRPr>
            </a:p>
          </p:txBody>
        </p:sp>
        <p:sp>
          <p:nvSpPr>
            <p:cNvPr id="84" name="Shape 28">
              <a:extLst>
                <a:ext uri="{FF2B5EF4-FFF2-40B4-BE49-F238E27FC236}">
                  <a16:creationId xmlns:a16="http://schemas.microsoft.com/office/drawing/2014/main" id="{4F5124A1-477C-F62B-928D-A5460245B40D}"/>
                </a:ext>
              </a:extLst>
            </p:cNvPr>
            <p:cNvSpPr/>
            <p:nvPr/>
          </p:nvSpPr>
          <p:spPr>
            <a:xfrm>
              <a:off x="5620925" y="2800392"/>
              <a:ext cx="5430785" cy="3803650"/>
            </a:xfrm>
            <a:prstGeom prst="rect">
              <a:avLst/>
            </a:prstGeom>
            <a:solidFill>
              <a:schemeClr val="bg1"/>
            </a:solidFill>
            <a:ln w="12700">
              <a:solidFill>
                <a:srgbClr val="00B4D8"/>
              </a:solidFill>
              <a:prstDash val="solid"/>
            </a:ln>
            <a:effectLst/>
          </p:spPr>
        </p:sp>
        <p:sp>
          <p:nvSpPr>
            <p:cNvPr id="223" name="Text 167">
              <a:extLst>
                <a:ext uri="{FF2B5EF4-FFF2-40B4-BE49-F238E27FC236}">
                  <a16:creationId xmlns:a16="http://schemas.microsoft.com/office/drawing/2014/main" id="{922F97F7-2BF8-A41E-B240-1E3E956EAF0D}"/>
                </a:ext>
              </a:extLst>
            </p:cNvPr>
            <p:cNvSpPr/>
            <p:nvPr/>
          </p:nvSpPr>
          <p:spPr>
            <a:xfrm>
              <a:off x="5729637" y="5653130"/>
              <a:ext cx="4994520" cy="456438"/>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Sum = 30   →   30 mod 10 = 0   →   VALID</a:t>
              </a:r>
              <a:endParaRPr lang="en-US" sz="1600" dirty="0">
                <a:latin typeface="Times New Roman" panose="02020603050405020304" pitchFamily="18" charset="0"/>
                <a:cs typeface="Times New Roman" panose="02020603050405020304" pitchFamily="18" charset="0"/>
              </a:endParaRPr>
            </a:p>
          </p:txBody>
        </p:sp>
        <p:pic>
          <p:nvPicPr>
            <p:cNvPr id="227" name="Picture 226">
              <a:extLst>
                <a:ext uri="{FF2B5EF4-FFF2-40B4-BE49-F238E27FC236}">
                  <a16:creationId xmlns:a16="http://schemas.microsoft.com/office/drawing/2014/main" id="{4C215447-AF37-800B-75B3-67392F86DF9F}"/>
                </a:ext>
              </a:extLst>
            </p:cNvPr>
            <p:cNvPicPr>
              <a:picLocks noChangeAspect="1"/>
            </p:cNvPicPr>
            <p:nvPr/>
          </p:nvPicPr>
          <p:blipFill>
            <a:blip r:embed="rId2"/>
            <a:stretch>
              <a:fillRect/>
            </a:stretch>
          </p:blipFill>
          <p:spPr>
            <a:xfrm>
              <a:off x="5695349" y="3422877"/>
              <a:ext cx="5210902" cy="2076740"/>
            </a:xfrm>
            <a:prstGeom prst="rect">
              <a:avLst/>
            </a:prstGeom>
          </p:spPr>
        </p:pic>
        <p:sp>
          <p:nvSpPr>
            <p:cNvPr id="390" name="TextBox 389">
              <a:extLst>
                <a:ext uri="{FF2B5EF4-FFF2-40B4-BE49-F238E27FC236}">
                  <a16:creationId xmlns:a16="http://schemas.microsoft.com/office/drawing/2014/main" id="{9C90A301-C0B9-10D9-29BF-68D180E0F1F9}"/>
                </a:ext>
              </a:extLst>
            </p:cNvPr>
            <p:cNvSpPr txBox="1"/>
            <p:nvPr/>
          </p:nvSpPr>
          <p:spPr>
            <a:xfrm>
              <a:off x="5646049" y="2901103"/>
              <a:ext cx="6219824" cy="369332"/>
            </a:xfrm>
            <a:prstGeom prst="rect">
              <a:avLst/>
            </a:prstGeom>
            <a:noFill/>
          </p:spPr>
          <p:txBody>
            <a:bodyPr wrap="square">
              <a:spAutoFit/>
            </a:bodyPr>
            <a:lstStyle/>
            <a:p>
              <a:pPr marL="0" indent="0">
                <a:buNone/>
              </a:pPr>
              <a:r>
                <a:rPr lang="en-US" sz="1800" b="1" kern="0" spc="300" dirty="0">
                  <a:solidFill>
                    <a:srgbClr val="00B4D8"/>
                  </a:solidFill>
                  <a:latin typeface="Calibri" pitchFamily="34" charset="0"/>
                  <a:ea typeface="Calibri" pitchFamily="34" charset="-122"/>
                  <a:cs typeface="Calibri" pitchFamily="34" charset="-120"/>
                </a:rPr>
                <a:t>WORKED EXAMPLE</a:t>
              </a:r>
              <a:endParaRPr lang="en-US" sz="1800" dirty="0"/>
            </a:p>
          </p:txBody>
        </p:sp>
      </p:grpSp>
    </p:spTree>
    <p:extLst>
      <p:ext uri="{BB962C8B-B14F-4D97-AF65-F5344CB8AC3E}">
        <p14:creationId xmlns:p14="http://schemas.microsoft.com/office/powerpoint/2010/main" val="10655779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74B26-034E-3D3E-F61D-4CB22DBD192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DF39E35-1EDC-B572-615D-75EC8D37B7E5}"/>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DLP OUTGOING SCAN — HOW IT WORKS</a:t>
            </a:r>
            <a:endParaRPr lang="en-US" sz="3200" dirty="0">
              <a:latin typeface="Times New Roman" panose="02020603050405020304" pitchFamily="18" charset="0"/>
              <a:cs typeface="Times New Roman" panose="02020603050405020304" pitchFamily="18" charset="0"/>
            </a:endParaRPr>
          </a:p>
        </p:txBody>
      </p:sp>
      <p:grpSp>
        <p:nvGrpSpPr>
          <p:cNvPr id="32" name="Group 31">
            <a:extLst>
              <a:ext uri="{FF2B5EF4-FFF2-40B4-BE49-F238E27FC236}">
                <a16:creationId xmlns:a16="http://schemas.microsoft.com/office/drawing/2014/main" id="{418A6006-FBE7-6C68-BD0F-D9FE9757D5E6}"/>
              </a:ext>
            </a:extLst>
          </p:cNvPr>
          <p:cNvGrpSpPr/>
          <p:nvPr/>
        </p:nvGrpSpPr>
        <p:grpSpPr>
          <a:xfrm>
            <a:off x="294603" y="1191768"/>
            <a:ext cx="10763921" cy="5514548"/>
            <a:chOff x="365760" y="1572768"/>
            <a:chExt cx="5120640" cy="3218688"/>
          </a:xfrm>
        </p:grpSpPr>
        <p:sp>
          <p:nvSpPr>
            <p:cNvPr id="2" name="Shape 7">
              <a:extLst>
                <a:ext uri="{FF2B5EF4-FFF2-40B4-BE49-F238E27FC236}">
                  <a16:creationId xmlns:a16="http://schemas.microsoft.com/office/drawing/2014/main" id="{0BB68284-3DA1-411C-83CD-2215774E3BA9}"/>
                </a:ext>
              </a:extLst>
            </p:cNvPr>
            <p:cNvSpPr/>
            <p:nvPr/>
          </p:nvSpPr>
          <p:spPr>
            <a:xfrm>
              <a:off x="365760" y="1572768"/>
              <a:ext cx="5120640" cy="585216"/>
            </a:xfrm>
            <a:prstGeom prst="rect">
              <a:avLst/>
            </a:prstGeom>
            <a:solidFill>
              <a:schemeClr val="bg1"/>
            </a:solidFill>
            <a:ln w="12700">
              <a:solidFill>
                <a:srgbClr val="00B4D8"/>
              </a:solidFill>
              <a:prstDash val="solid"/>
            </a:ln>
            <a:effectLst/>
          </p:spPr>
        </p:sp>
        <p:sp>
          <p:nvSpPr>
            <p:cNvPr id="3" name="Shape 8">
              <a:extLst>
                <a:ext uri="{FF2B5EF4-FFF2-40B4-BE49-F238E27FC236}">
                  <a16:creationId xmlns:a16="http://schemas.microsoft.com/office/drawing/2014/main" id="{E2E99FC3-F645-90E7-51F9-D0554C20007A}"/>
                </a:ext>
              </a:extLst>
            </p:cNvPr>
            <p:cNvSpPr/>
            <p:nvPr/>
          </p:nvSpPr>
          <p:spPr>
            <a:xfrm>
              <a:off x="475488" y="1700784"/>
              <a:ext cx="329184" cy="329184"/>
            </a:xfrm>
            <a:prstGeom prst="ellipse">
              <a:avLst/>
            </a:prstGeom>
            <a:solidFill>
              <a:srgbClr val="00B4D8"/>
            </a:solidFill>
            <a:ln w="12700">
              <a:solidFill>
                <a:srgbClr val="00B4D8"/>
              </a:solidFill>
              <a:prstDash val="solid"/>
            </a:ln>
          </p:spPr>
        </p:sp>
        <p:sp>
          <p:nvSpPr>
            <p:cNvPr id="4" name="Text 9">
              <a:extLst>
                <a:ext uri="{FF2B5EF4-FFF2-40B4-BE49-F238E27FC236}">
                  <a16:creationId xmlns:a16="http://schemas.microsoft.com/office/drawing/2014/main" id="{3B7DA558-C194-A4B8-80D0-37D8797F6E74}"/>
                </a:ext>
              </a:extLst>
            </p:cNvPr>
            <p:cNvSpPr/>
            <p:nvPr/>
          </p:nvSpPr>
          <p:spPr>
            <a:xfrm>
              <a:off x="475488" y="1709928"/>
              <a:ext cx="329184" cy="310896"/>
            </a:xfrm>
            <a:prstGeom prst="rect">
              <a:avLst/>
            </a:prstGeom>
            <a:noFill/>
            <a:ln/>
          </p:spPr>
          <p:txBody>
            <a:bodyPr wrap="square" lIns="0" tIns="0" rIns="0" bIns="0" rtlCol="0" anchor="ctr"/>
            <a:lstStyle/>
            <a:p>
              <a:pPr marL="0" indent="0" algn="ctr">
                <a:buNone/>
              </a:pPr>
              <a:r>
                <a:rPr lang="en-US" sz="1600" b="1" dirty="0">
                  <a:solidFill>
                    <a:srgbClr val="060F1E"/>
                  </a:solidFill>
                  <a:latin typeface="Times New Roman" panose="02020603050405020304" pitchFamily="18" charset="0"/>
                  <a:ea typeface="Calibri" pitchFamily="34" charset="-122"/>
                  <a:cs typeface="Times New Roman" panose="02020603050405020304" pitchFamily="18" charset="0"/>
                </a:rPr>
                <a:t>1</a:t>
              </a:r>
              <a:endParaRPr lang="en-US" sz="1600" dirty="0">
                <a:latin typeface="Times New Roman" panose="02020603050405020304" pitchFamily="18" charset="0"/>
                <a:cs typeface="Times New Roman" panose="02020603050405020304" pitchFamily="18" charset="0"/>
              </a:endParaRPr>
            </a:p>
          </p:txBody>
        </p:sp>
        <p:sp>
          <p:nvSpPr>
            <p:cNvPr id="5" name="Text 10">
              <a:extLst>
                <a:ext uri="{FF2B5EF4-FFF2-40B4-BE49-F238E27FC236}">
                  <a16:creationId xmlns:a16="http://schemas.microsoft.com/office/drawing/2014/main" id="{C8846FAA-8E1D-9727-484E-BEDD77596D7E}"/>
                </a:ext>
              </a:extLst>
            </p:cNvPr>
            <p:cNvSpPr/>
            <p:nvPr/>
          </p:nvSpPr>
          <p:spPr>
            <a:xfrm>
              <a:off x="932688" y="1664208"/>
              <a:ext cx="4425696" cy="219456"/>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Parse Body &amp; Attachments</a:t>
              </a:r>
              <a:endParaRPr lang="en-US" sz="1600" dirty="0">
                <a:latin typeface="Times New Roman" panose="02020603050405020304" pitchFamily="18" charset="0"/>
                <a:cs typeface="Times New Roman" panose="02020603050405020304" pitchFamily="18" charset="0"/>
              </a:endParaRPr>
            </a:p>
          </p:txBody>
        </p:sp>
        <p:sp>
          <p:nvSpPr>
            <p:cNvPr id="6" name="Text 11">
              <a:extLst>
                <a:ext uri="{FF2B5EF4-FFF2-40B4-BE49-F238E27FC236}">
                  <a16:creationId xmlns:a16="http://schemas.microsoft.com/office/drawing/2014/main" id="{9317464F-F0FE-03CB-FDB9-06B6B0D363C4}"/>
                </a:ext>
              </a:extLst>
            </p:cNvPr>
            <p:cNvSpPr/>
            <p:nvPr/>
          </p:nvSpPr>
          <p:spPr>
            <a:xfrm>
              <a:off x="932688" y="1892808"/>
              <a:ext cx="4425696" cy="219456"/>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Extract plain text and HTML body. Collect attachment filenames and decode content for scanning.</a:t>
              </a:r>
              <a:endParaRPr lang="en-US" dirty="0">
                <a:latin typeface="Times New Roman" panose="02020603050405020304" pitchFamily="18" charset="0"/>
                <a:cs typeface="Times New Roman" panose="02020603050405020304" pitchFamily="18" charset="0"/>
              </a:endParaRPr>
            </a:p>
          </p:txBody>
        </p:sp>
        <p:sp>
          <p:nvSpPr>
            <p:cNvPr id="7" name="Shape 12">
              <a:extLst>
                <a:ext uri="{FF2B5EF4-FFF2-40B4-BE49-F238E27FC236}">
                  <a16:creationId xmlns:a16="http://schemas.microsoft.com/office/drawing/2014/main" id="{5AB9FF88-0528-DDC3-2574-682227282687}"/>
                </a:ext>
              </a:extLst>
            </p:cNvPr>
            <p:cNvSpPr/>
            <p:nvPr/>
          </p:nvSpPr>
          <p:spPr>
            <a:xfrm>
              <a:off x="621792" y="2157984"/>
              <a:ext cx="36576" cy="73152"/>
            </a:xfrm>
            <a:prstGeom prst="rect">
              <a:avLst/>
            </a:prstGeom>
            <a:solidFill>
              <a:srgbClr val="00B4D8"/>
            </a:solidFill>
            <a:ln w="12700">
              <a:solidFill>
                <a:srgbClr val="00B4D8"/>
              </a:solidFill>
              <a:prstDash val="solid"/>
            </a:ln>
          </p:spPr>
        </p:sp>
        <p:sp>
          <p:nvSpPr>
            <p:cNvPr id="9" name="Shape 13">
              <a:extLst>
                <a:ext uri="{FF2B5EF4-FFF2-40B4-BE49-F238E27FC236}">
                  <a16:creationId xmlns:a16="http://schemas.microsoft.com/office/drawing/2014/main" id="{D8546C1B-0E2D-DDFF-C817-E56803CA2CE1}"/>
                </a:ext>
              </a:extLst>
            </p:cNvPr>
            <p:cNvSpPr/>
            <p:nvPr/>
          </p:nvSpPr>
          <p:spPr>
            <a:xfrm>
              <a:off x="365760" y="2231136"/>
              <a:ext cx="5120640" cy="585216"/>
            </a:xfrm>
            <a:prstGeom prst="rect">
              <a:avLst/>
            </a:prstGeom>
            <a:solidFill>
              <a:schemeClr val="bg1"/>
            </a:solidFill>
            <a:ln w="12700">
              <a:solidFill>
                <a:srgbClr val="F4A261"/>
              </a:solidFill>
              <a:prstDash val="solid"/>
            </a:ln>
            <a:effectLst/>
          </p:spPr>
        </p:sp>
        <p:sp>
          <p:nvSpPr>
            <p:cNvPr id="10" name="Shape 14">
              <a:extLst>
                <a:ext uri="{FF2B5EF4-FFF2-40B4-BE49-F238E27FC236}">
                  <a16:creationId xmlns:a16="http://schemas.microsoft.com/office/drawing/2014/main" id="{CD35B92A-299E-765C-940B-5A77A1768816}"/>
                </a:ext>
              </a:extLst>
            </p:cNvPr>
            <p:cNvSpPr/>
            <p:nvPr/>
          </p:nvSpPr>
          <p:spPr>
            <a:xfrm>
              <a:off x="475488" y="2359152"/>
              <a:ext cx="329184" cy="329184"/>
            </a:xfrm>
            <a:prstGeom prst="ellipse">
              <a:avLst/>
            </a:prstGeom>
            <a:solidFill>
              <a:srgbClr val="F4A261"/>
            </a:solidFill>
            <a:ln w="12700">
              <a:solidFill>
                <a:srgbClr val="F4A261"/>
              </a:solidFill>
              <a:prstDash val="solid"/>
            </a:ln>
          </p:spPr>
        </p:sp>
        <p:sp>
          <p:nvSpPr>
            <p:cNvPr id="11" name="Text 15">
              <a:extLst>
                <a:ext uri="{FF2B5EF4-FFF2-40B4-BE49-F238E27FC236}">
                  <a16:creationId xmlns:a16="http://schemas.microsoft.com/office/drawing/2014/main" id="{F21C4413-94C7-0488-630E-6AE4C9CC2159}"/>
                </a:ext>
              </a:extLst>
            </p:cNvPr>
            <p:cNvSpPr/>
            <p:nvPr/>
          </p:nvSpPr>
          <p:spPr>
            <a:xfrm>
              <a:off x="475488" y="2368296"/>
              <a:ext cx="329184" cy="310896"/>
            </a:xfrm>
            <a:prstGeom prst="rect">
              <a:avLst/>
            </a:prstGeom>
            <a:noFill/>
            <a:ln/>
          </p:spPr>
          <p:txBody>
            <a:bodyPr wrap="square" lIns="0" tIns="0" rIns="0" bIns="0" rtlCol="0" anchor="ctr"/>
            <a:lstStyle/>
            <a:p>
              <a:pPr marL="0" indent="0" algn="ctr">
                <a:buNone/>
              </a:pPr>
              <a:r>
                <a:rPr lang="en-US" sz="1600" b="1" dirty="0">
                  <a:solidFill>
                    <a:srgbClr val="060F1E"/>
                  </a:solidFill>
                  <a:latin typeface="Times New Roman" panose="02020603050405020304" pitchFamily="18" charset="0"/>
                  <a:ea typeface="Calibri" pitchFamily="34" charset="-122"/>
                  <a:cs typeface="Times New Roman" panose="02020603050405020304" pitchFamily="18" charset="0"/>
                </a:rPr>
                <a:t>2</a:t>
              </a:r>
              <a:endParaRPr lang="en-US" sz="1600" dirty="0">
                <a:latin typeface="Times New Roman" panose="02020603050405020304" pitchFamily="18" charset="0"/>
                <a:cs typeface="Times New Roman" panose="02020603050405020304" pitchFamily="18" charset="0"/>
              </a:endParaRPr>
            </a:p>
          </p:txBody>
        </p:sp>
        <p:sp>
          <p:nvSpPr>
            <p:cNvPr id="12" name="Text 16">
              <a:extLst>
                <a:ext uri="{FF2B5EF4-FFF2-40B4-BE49-F238E27FC236}">
                  <a16:creationId xmlns:a16="http://schemas.microsoft.com/office/drawing/2014/main" id="{5C3E51A2-1D02-9074-7A77-A0B808CFDE6C}"/>
                </a:ext>
              </a:extLst>
            </p:cNvPr>
            <p:cNvSpPr/>
            <p:nvPr/>
          </p:nvSpPr>
          <p:spPr>
            <a:xfrm>
              <a:off x="932688" y="2322576"/>
              <a:ext cx="4425696" cy="219456"/>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Regex Pattern Scan</a:t>
              </a:r>
              <a:endParaRPr lang="en-US" sz="1600" dirty="0">
                <a:latin typeface="Times New Roman" panose="02020603050405020304" pitchFamily="18" charset="0"/>
                <a:cs typeface="Times New Roman" panose="02020603050405020304" pitchFamily="18" charset="0"/>
              </a:endParaRPr>
            </a:p>
          </p:txBody>
        </p:sp>
        <p:sp>
          <p:nvSpPr>
            <p:cNvPr id="13" name="Text 17">
              <a:extLst>
                <a:ext uri="{FF2B5EF4-FFF2-40B4-BE49-F238E27FC236}">
                  <a16:creationId xmlns:a16="http://schemas.microsoft.com/office/drawing/2014/main" id="{B987F97F-A527-2E49-AB64-49FCA477074A}"/>
                </a:ext>
              </a:extLst>
            </p:cNvPr>
            <p:cNvSpPr/>
            <p:nvPr/>
          </p:nvSpPr>
          <p:spPr>
            <a:xfrm>
              <a:off x="914399" y="2539055"/>
              <a:ext cx="4553712" cy="219456"/>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Run all patterns (PAN, Aadhaar, Credit Card, Password, IFSC, Bank Account) against the full body text.</a:t>
              </a:r>
              <a:endParaRPr lang="en-US" dirty="0">
                <a:latin typeface="Times New Roman" panose="02020603050405020304" pitchFamily="18" charset="0"/>
                <a:cs typeface="Times New Roman" panose="02020603050405020304" pitchFamily="18" charset="0"/>
              </a:endParaRPr>
            </a:p>
          </p:txBody>
        </p:sp>
        <p:sp>
          <p:nvSpPr>
            <p:cNvPr id="14" name="Shape 18">
              <a:extLst>
                <a:ext uri="{FF2B5EF4-FFF2-40B4-BE49-F238E27FC236}">
                  <a16:creationId xmlns:a16="http://schemas.microsoft.com/office/drawing/2014/main" id="{4A6C930A-8ECC-D376-9BF8-C0667AD18A9B}"/>
                </a:ext>
              </a:extLst>
            </p:cNvPr>
            <p:cNvSpPr/>
            <p:nvPr/>
          </p:nvSpPr>
          <p:spPr>
            <a:xfrm>
              <a:off x="621792" y="2816352"/>
              <a:ext cx="36576" cy="73152"/>
            </a:xfrm>
            <a:prstGeom prst="rect">
              <a:avLst/>
            </a:prstGeom>
            <a:solidFill>
              <a:srgbClr val="F4A261"/>
            </a:solidFill>
            <a:ln w="12700">
              <a:solidFill>
                <a:srgbClr val="F4A261"/>
              </a:solidFill>
              <a:prstDash val="solid"/>
            </a:ln>
          </p:spPr>
        </p:sp>
        <p:sp>
          <p:nvSpPr>
            <p:cNvPr id="15" name="Shape 19">
              <a:extLst>
                <a:ext uri="{FF2B5EF4-FFF2-40B4-BE49-F238E27FC236}">
                  <a16:creationId xmlns:a16="http://schemas.microsoft.com/office/drawing/2014/main" id="{C84171ED-71F6-E46F-C660-97998DC3E4CD}"/>
                </a:ext>
              </a:extLst>
            </p:cNvPr>
            <p:cNvSpPr/>
            <p:nvPr/>
          </p:nvSpPr>
          <p:spPr>
            <a:xfrm>
              <a:off x="365760" y="2889504"/>
              <a:ext cx="5120640" cy="585216"/>
            </a:xfrm>
            <a:prstGeom prst="rect">
              <a:avLst/>
            </a:prstGeom>
            <a:solidFill>
              <a:schemeClr val="bg1"/>
            </a:solidFill>
            <a:ln w="12700">
              <a:solidFill>
                <a:srgbClr val="F4A261"/>
              </a:solidFill>
              <a:prstDash val="solid"/>
            </a:ln>
            <a:effectLst/>
          </p:spPr>
        </p:sp>
        <p:sp>
          <p:nvSpPr>
            <p:cNvPr id="16" name="Shape 20">
              <a:extLst>
                <a:ext uri="{FF2B5EF4-FFF2-40B4-BE49-F238E27FC236}">
                  <a16:creationId xmlns:a16="http://schemas.microsoft.com/office/drawing/2014/main" id="{23FEDAE5-8115-EED2-E3E3-6F420926E7F5}"/>
                </a:ext>
              </a:extLst>
            </p:cNvPr>
            <p:cNvSpPr/>
            <p:nvPr/>
          </p:nvSpPr>
          <p:spPr>
            <a:xfrm>
              <a:off x="475488" y="3017520"/>
              <a:ext cx="329184" cy="329184"/>
            </a:xfrm>
            <a:prstGeom prst="ellipse">
              <a:avLst/>
            </a:prstGeom>
            <a:solidFill>
              <a:srgbClr val="F4A261"/>
            </a:solidFill>
            <a:ln w="12700">
              <a:solidFill>
                <a:srgbClr val="F4A261"/>
              </a:solidFill>
              <a:prstDash val="solid"/>
            </a:ln>
          </p:spPr>
        </p:sp>
        <p:sp>
          <p:nvSpPr>
            <p:cNvPr id="17" name="Text 21">
              <a:extLst>
                <a:ext uri="{FF2B5EF4-FFF2-40B4-BE49-F238E27FC236}">
                  <a16:creationId xmlns:a16="http://schemas.microsoft.com/office/drawing/2014/main" id="{8E1FC215-58A8-2013-5133-9B36DCE7C6D6}"/>
                </a:ext>
              </a:extLst>
            </p:cNvPr>
            <p:cNvSpPr/>
            <p:nvPr/>
          </p:nvSpPr>
          <p:spPr>
            <a:xfrm>
              <a:off x="475488" y="3026664"/>
              <a:ext cx="329184" cy="310896"/>
            </a:xfrm>
            <a:prstGeom prst="rect">
              <a:avLst/>
            </a:prstGeom>
            <a:noFill/>
            <a:ln/>
          </p:spPr>
          <p:txBody>
            <a:bodyPr wrap="square" lIns="0" tIns="0" rIns="0" bIns="0" rtlCol="0" anchor="ctr"/>
            <a:lstStyle/>
            <a:p>
              <a:pPr marL="0" indent="0" algn="ctr">
                <a:buNone/>
              </a:pPr>
              <a:r>
                <a:rPr lang="en-US" sz="1600" b="1" dirty="0">
                  <a:solidFill>
                    <a:srgbClr val="060F1E"/>
                  </a:solidFill>
                  <a:latin typeface="Times New Roman" panose="02020603050405020304" pitchFamily="18" charset="0"/>
                  <a:ea typeface="Calibri" pitchFamily="34" charset="-122"/>
                  <a:cs typeface="Times New Roman" panose="02020603050405020304" pitchFamily="18" charset="0"/>
                </a:rPr>
                <a:t>3</a:t>
              </a:r>
              <a:endParaRPr lang="en-US" sz="1600" dirty="0">
                <a:latin typeface="Times New Roman" panose="02020603050405020304" pitchFamily="18" charset="0"/>
                <a:cs typeface="Times New Roman" panose="02020603050405020304" pitchFamily="18" charset="0"/>
              </a:endParaRPr>
            </a:p>
          </p:txBody>
        </p:sp>
        <p:sp>
          <p:nvSpPr>
            <p:cNvPr id="18" name="Text 22">
              <a:extLst>
                <a:ext uri="{FF2B5EF4-FFF2-40B4-BE49-F238E27FC236}">
                  <a16:creationId xmlns:a16="http://schemas.microsoft.com/office/drawing/2014/main" id="{184131C4-48FC-E0FE-0F89-86450298A2E7}"/>
                </a:ext>
              </a:extLst>
            </p:cNvPr>
            <p:cNvSpPr/>
            <p:nvPr/>
          </p:nvSpPr>
          <p:spPr>
            <a:xfrm>
              <a:off x="932688" y="2980944"/>
              <a:ext cx="4425696" cy="219456"/>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Luhn Algorithm Validation</a:t>
              </a:r>
              <a:endParaRPr lang="en-US" sz="1600" dirty="0">
                <a:latin typeface="Times New Roman" panose="02020603050405020304" pitchFamily="18" charset="0"/>
                <a:cs typeface="Times New Roman" panose="02020603050405020304" pitchFamily="18" charset="0"/>
              </a:endParaRPr>
            </a:p>
          </p:txBody>
        </p:sp>
        <p:sp>
          <p:nvSpPr>
            <p:cNvPr id="19" name="Text 23">
              <a:extLst>
                <a:ext uri="{FF2B5EF4-FFF2-40B4-BE49-F238E27FC236}">
                  <a16:creationId xmlns:a16="http://schemas.microsoft.com/office/drawing/2014/main" id="{BEF7E3E2-F839-A661-2088-D1C674A07618}"/>
                </a:ext>
              </a:extLst>
            </p:cNvPr>
            <p:cNvSpPr/>
            <p:nvPr/>
          </p:nvSpPr>
          <p:spPr>
            <a:xfrm>
              <a:off x="932688" y="3209544"/>
              <a:ext cx="4535423" cy="219456"/>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Filter all card number regex matches through the Luhn checksum — only valid card numbers are flagged as violations.</a:t>
              </a:r>
              <a:endParaRPr lang="en-US" dirty="0">
                <a:latin typeface="Times New Roman" panose="02020603050405020304" pitchFamily="18" charset="0"/>
                <a:cs typeface="Times New Roman" panose="02020603050405020304" pitchFamily="18" charset="0"/>
              </a:endParaRPr>
            </a:p>
          </p:txBody>
        </p:sp>
        <p:sp>
          <p:nvSpPr>
            <p:cNvPr id="20" name="Shape 24">
              <a:extLst>
                <a:ext uri="{FF2B5EF4-FFF2-40B4-BE49-F238E27FC236}">
                  <a16:creationId xmlns:a16="http://schemas.microsoft.com/office/drawing/2014/main" id="{A1D0062C-0CBE-D300-3438-E1CDA0DC51B5}"/>
                </a:ext>
              </a:extLst>
            </p:cNvPr>
            <p:cNvSpPr/>
            <p:nvPr/>
          </p:nvSpPr>
          <p:spPr>
            <a:xfrm>
              <a:off x="621792" y="3474720"/>
              <a:ext cx="36576" cy="73152"/>
            </a:xfrm>
            <a:prstGeom prst="rect">
              <a:avLst/>
            </a:prstGeom>
            <a:solidFill>
              <a:srgbClr val="F4A261"/>
            </a:solidFill>
            <a:ln w="12700">
              <a:solidFill>
                <a:srgbClr val="F4A261"/>
              </a:solidFill>
              <a:prstDash val="solid"/>
            </a:ln>
          </p:spPr>
        </p:sp>
        <p:sp>
          <p:nvSpPr>
            <p:cNvPr id="21" name="Shape 25">
              <a:extLst>
                <a:ext uri="{FF2B5EF4-FFF2-40B4-BE49-F238E27FC236}">
                  <a16:creationId xmlns:a16="http://schemas.microsoft.com/office/drawing/2014/main" id="{A8A0BC64-F486-93D8-CDA1-8658CD4A6F06}"/>
                </a:ext>
              </a:extLst>
            </p:cNvPr>
            <p:cNvSpPr/>
            <p:nvPr/>
          </p:nvSpPr>
          <p:spPr>
            <a:xfrm>
              <a:off x="365760" y="3547872"/>
              <a:ext cx="5120640" cy="585216"/>
            </a:xfrm>
            <a:prstGeom prst="rect">
              <a:avLst/>
            </a:prstGeom>
            <a:solidFill>
              <a:schemeClr val="bg1"/>
            </a:solidFill>
            <a:ln w="12700">
              <a:solidFill>
                <a:srgbClr val="F4A261"/>
              </a:solidFill>
              <a:prstDash val="solid"/>
            </a:ln>
            <a:effectLst/>
          </p:spPr>
        </p:sp>
        <p:sp>
          <p:nvSpPr>
            <p:cNvPr id="22" name="Shape 26">
              <a:extLst>
                <a:ext uri="{FF2B5EF4-FFF2-40B4-BE49-F238E27FC236}">
                  <a16:creationId xmlns:a16="http://schemas.microsoft.com/office/drawing/2014/main" id="{D4E073DE-85A8-FCAA-5DCC-8F27644FD82D}"/>
                </a:ext>
              </a:extLst>
            </p:cNvPr>
            <p:cNvSpPr/>
            <p:nvPr/>
          </p:nvSpPr>
          <p:spPr>
            <a:xfrm>
              <a:off x="475488" y="3675888"/>
              <a:ext cx="329184" cy="329184"/>
            </a:xfrm>
            <a:prstGeom prst="ellipse">
              <a:avLst/>
            </a:prstGeom>
            <a:solidFill>
              <a:srgbClr val="F4A261"/>
            </a:solidFill>
            <a:ln w="12700">
              <a:solidFill>
                <a:srgbClr val="F4A261"/>
              </a:solidFill>
              <a:prstDash val="solid"/>
            </a:ln>
          </p:spPr>
        </p:sp>
        <p:sp>
          <p:nvSpPr>
            <p:cNvPr id="23" name="Text 27">
              <a:extLst>
                <a:ext uri="{FF2B5EF4-FFF2-40B4-BE49-F238E27FC236}">
                  <a16:creationId xmlns:a16="http://schemas.microsoft.com/office/drawing/2014/main" id="{F1DCB65A-1990-D471-DA78-2994B61A6D65}"/>
                </a:ext>
              </a:extLst>
            </p:cNvPr>
            <p:cNvSpPr/>
            <p:nvPr/>
          </p:nvSpPr>
          <p:spPr>
            <a:xfrm>
              <a:off x="475488" y="3685032"/>
              <a:ext cx="329184" cy="310896"/>
            </a:xfrm>
            <a:prstGeom prst="rect">
              <a:avLst/>
            </a:prstGeom>
            <a:noFill/>
            <a:ln/>
          </p:spPr>
          <p:txBody>
            <a:bodyPr wrap="square" lIns="0" tIns="0" rIns="0" bIns="0" rtlCol="0" anchor="ctr"/>
            <a:lstStyle/>
            <a:p>
              <a:pPr marL="0" indent="0" algn="ctr">
                <a:buNone/>
              </a:pPr>
              <a:r>
                <a:rPr lang="en-US" sz="1600" b="1" dirty="0">
                  <a:solidFill>
                    <a:srgbClr val="060F1E"/>
                  </a:solidFill>
                  <a:latin typeface="Times New Roman" panose="02020603050405020304" pitchFamily="18" charset="0"/>
                  <a:ea typeface="Calibri" pitchFamily="34" charset="-122"/>
                  <a:cs typeface="Times New Roman" panose="02020603050405020304" pitchFamily="18" charset="0"/>
                </a:rPr>
                <a:t>4</a:t>
              </a:r>
              <a:endParaRPr lang="en-US" sz="1600" dirty="0">
                <a:latin typeface="Times New Roman" panose="02020603050405020304" pitchFamily="18" charset="0"/>
                <a:cs typeface="Times New Roman" panose="02020603050405020304" pitchFamily="18" charset="0"/>
              </a:endParaRPr>
            </a:p>
          </p:txBody>
        </p:sp>
        <p:sp>
          <p:nvSpPr>
            <p:cNvPr id="24" name="Text 28">
              <a:extLst>
                <a:ext uri="{FF2B5EF4-FFF2-40B4-BE49-F238E27FC236}">
                  <a16:creationId xmlns:a16="http://schemas.microsoft.com/office/drawing/2014/main" id="{7888BA0B-0D00-69DD-F71D-69943BABB320}"/>
                </a:ext>
              </a:extLst>
            </p:cNvPr>
            <p:cNvSpPr/>
            <p:nvPr/>
          </p:nvSpPr>
          <p:spPr>
            <a:xfrm>
              <a:off x="932688" y="3639312"/>
              <a:ext cx="4425696" cy="219456"/>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Sensitive Filename Check</a:t>
              </a:r>
              <a:endParaRPr lang="en-US" sz="1600" dirty="0">
                <a:latin typeface="Times New Roman" panose="02020603050405020304" pitchFamily="18" charset="0"/>
                <a:cs typeface="Times New Roman" panose="02020603050405020304" pitchFamily="18" charset="0"/>
              </a:endParaRPr>
            </a:p>
          </p:txBody>
        </p:sp>
        <p:sp>
          <p:nvSpPr>
            <p:cNvPr id="25" name="Text 29">
              <a:extLst>
                <a:ext uri="{FF2B5EF4-FFF2-40B4-BE49-F238E27FC236}">
                  <a16:creationId xmlns:a16="http://schemas.microsoft.com/office/drawing/2014/main" id="{EDDA4EBA-E4B2-F90E-0F6C-8591E791CEE2}"/>
                </a:ext>
              </a:extLst>
            </p:cNvPr>
            <p:cNvSpPr/>
            <p:nvPr/>
          </p:nvSpPr>
          <p:spPr>
            <a:xfrm>
              <a:off x="932688" y="3867912"/>
              <a:ext cx="4425696" cy="219456"/>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Match attachment names against patterns: HR_Data, Payroll, Employee, Confidential, PII, Aadhaar, Passport.</a:t>
              </a:r>
              <a:endParaRPr lang="en-US" dirty="0">
                <a:latin typeface="Times New Roman" panose="02020603050405020304" pitchFamily="18" charset="0"/>
                <a:cs typeface="Times New Roman" panose="02020603050405020304" pitchFamily="18" charset="0"/>
              </a:endParaRPr>
            </a:p>
          </p:txBody>
        </p:sp>
        <p:sp>
          <p:nvSpPr>
            <p:cNvPr id="26" name="Shape 30">
              <a:extLst>
                <a:ext uri="{FF2B5EF4-FFF2-40B4-BE49-F238E27FC236}">
                  <a16:creationId xmlns:a16="http://schemas.microsoft.com/office/drawing/2014/main" id="{D54695C4-D91E-B782-D39A-B8B615C06682}"/>
                </a:ext>
              </a:extLst>
            </p:cNvPr>
            <p:cNvSpPr/>
            <p:nvPr/>
          </p:nvSpPr>
          <p:spPr>
            <a:xfrm>
              <a:off x="621792" y="4133088"/>
              <a:ext cx="36576" cy="73152"/>
            </a:xfrm>
            <a:prstGeom prst="rect">
              <a:avLst/>
            </a:prstGeom>
            <a:solidFill>
              <a:srgbClr val="F4A261"/>
            </a:solidFill>
            <a:ln w="12700">
              <a:solidFill>
                <a:srgbClr val="F4A261"/>
              </a:solidFill>
              <a:prstDash val="solid"/>
            </a:ln>
          </p:spPr>
        </p:sp>
        <p:sp>
          <p:nvSpPr>
            <p:cNvPr id="27" name="Shape 31">
              <a:extLst>
                <a:ext uri="{FF2B5EF4-FFF2-40B4-BE49-F238E27FC236}">
                  <a16:creationId xmlns:a16="http://schemas.microsoft.com/office/drawing/2014/main" id="{420AE49B-7F19-6EFB-9C68-FBAB935E2A56}"/>
                </a:ext>
              </a:extLst>
            </p:cNvPr>
            <p:cNvSpPr/>
            <p:nvPr/>
          </p:nvSpPr>
          <p:spPr>
            <a:xfrm>
              <a:off x="365760" y="4206240"/>
              <a:ext cx="5120640" cy="585216"/>
            </a:xfrm>
            <a:prstGeom prst="rect">
              <a:avLst/>
            </a:prstGeom>
            <a:solidFill>
              <a:schemeClr val="bg1"/>
            </a:solidFill>
            <a:ln w="12700">
              <a:solidFill>
                <a:srgbClr val="E63946"/>
              </a:solidFill>
              <a:prstDash val="solid"/>
            </a:ln>
            <a:effectLst/>
          </p:spPr>
        </p:sp>
        <p:sp>
          <p:nvSpPr>
            <p:cNvPr id="28" name="Shape 32">
              <a:extLst>
                <a:ext uri="{FF2B5EF4-FFF2-40B4-BE49-F238E27FC236}">
                  <a16:creationId xmlns:a16="http://schemas.microsoft.com/office/drawing/2014/main" id="{36A6D7A8-E894-F0BD-9783-53E04930855C}"/>
                </a:ext>
              </a:extLst>
            </p:cNvPr>
            <p:cNvSpPr/>
            <p:nvPr/>
          </p:nvSpPr>
          <p:spPr>
            <a:xfrm>
              <a:off x="475488" y="4334256"/>
              <a:ext cx="329184" cy="329184"/>
            </a:xfrm>
            <a:prstGeom prst="ellipse">
              <a:avLst/>
            </a:prstGeom>
            <a:solidFill>
              <a:srgbClr val="E63946"/>
            </a:solidFill>
            <a:ln w="12700">
              <a:solidFill>
                <a:srgbClr val="E63946"/>
              </a:solidFill>
              <a:prstDash val="solid"/>
            </a:ln>
          </p:spPr>
        </p:sp>
        <p:sp>
          <p:nvSpPr>
            <p:cNvPr id="29" name="Text 33">
              <a:extLst>
                <a:ext uri="{FF2B5EF4-FFF2-40B4-BE49-F238E27FC236}">
                  <a16:creationId xmlns:a16="http://schemas.microsoft.com/office/drawing/2014/main" id="{56206517-94B8-6C14-3BE4-2A45A1C3C0B6}"/>
                </a:ext>
              </a:extLst>
            </p:cNvPr>
            <p:cNvSpPr/>
            <p:nvPr/>
          </p:nvSpPr>
          <p:spPr>
            <a:xfrm>
              <a:off x="475488" y="4343400"/>
              <a:ext cx="329184" cy="310896"/>
            </a:xfrm>
            <a:prstGeom prst="rect">
              <a:avLst/>
            </a:prstGeom>
            <a:noFill/>
            <a:ln/>
          </p:spPr>
          <p:txBody>
            <a:bodyPr wrap="square" lIns="0" tIns="0" rIns="0" bIns="0" rtlCol="0" anchor="ctr"/>
            <a:lstStyle/>
            <a:p>
              <a:pPr marL="0" indent="0" algn="ctr">
                <a:buNone/>
              </a:pPr>
              <a:r>
                <a:rPr lang="en-US" sz="1600" b="1" dirty="0">
                  <a:solidFill>
                    <a:srgbClr val="060F1E"/>
                  </a:solidFill>
                  <a:latin typeface="Times New Roman" panose="02020603050405020304" pitchFamily="18" charset="0"/>
                  <a:ea typeface="Calibri" pitchFamily="34" charset="-122"/>
                  <a:cs typeface="Times New Roman" panose="02020603050405020304" pitchFamily="18" charset="0"/>
                </a:rPr>
                <a:t>5</a:t>
              </a:r>
              <a:endParaRPr lang="en-US" sz="1600" dirty="0">
                <a:latin typeface="Times New Roman" panose="02020603050405020304" pitchFamily="18" charset="0"/>
                <a:cs typeface="Times New Roman" panose="02020603050405020304" pitchFamily="18" charset="0"/>
              </a:endParaRPr>
            </a:p>
          </p:txBody>
        </p:sp>
        <p:sp>
          <p:nvSpPr>
            <p:cNvPr id="30" name="Text 34">
              <a:extLst>
                <a:ext uri="{FF2B5EF4-FFF2-40B4-BE49-F238E27FC236}">
                  <a16:creationId xmlns:a16="http://schemas.microsoft.com/office/drawing/2014/main" id="{27BFA411-AECD-6FF7-9812-E9CF51120F63}"/>
                </a:ext>
              </a:extLst>
            </p:cNvPr>
            <p:cNvSpPr/>
            <p:nvPr/>
          </p:nvSpPr>
          <p:spPr>
            <a:xfrm>
              <a:off x="932688" y="4297680"/>
              <a:ext cx="4425696" cy="219456"/>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Classify &amp; Block</a:t>
              </a:r>
              <a:endParaRPr lang="en-US" sz="1600" dirty="0">
                <a:latin typeface="Times New Roman" panose="02020603050405020304" pitchFamily="18" charset="0"/>
                <a:cs typeface="Times New Roman" panose="02020603050405020304" pitchFamily="18" charset="0"/>
              </a:endParaRPr>
            </a:p>
          </p:txBody>
        </p:sp>
        <p:sp>
          <p:nvSpPr>
            <p:cNvPr id="31" name="Text 35">
              <a:extLst>
                <a:ext uri="{FF2B5EF4-FFF2-40B4-BE49-F238E27FC236}">
                  <a16:creationId xmlns:a16="http://schemas.microsoft.com/office/drawing/2014/main" id="{055BF147-CDDF-AFD4-DC6A-919DACE69364}"/>
                </a:ext>
              </a:extLst>
            </p:cNvPr>
            <p:cNvSpPr/>
            <p:nvPr/>
          </p:nvSpPr>
          <p:spPr>
            <a:xfrm>
              <a:off x="932688" y="4526280"/>
              <a:ext cx="4425696" cy="219456"/>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Any CRITICAL match → email BLOCKED. HIGH match → WARNING for analyst review. No violation → CLEARED.</a:t>
              </a:r>
              <a:endParaRPr lang="en-US"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260724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2DD8B-04E5-228F-701E-3590E497A3B9}"/>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2C61BD6F-9649-B61F-872E-3576DCEE1F2A}"/>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KEY TAKEAWAYS FOR SECURITY PRACTITIONERS</a:t>
            </a:r>
            <a:endParaRPr lang="en-US" sz="3200" dirty="0">
              <a:latin typeface="Times New Roman" panose="02020603050405020304" pitchFamily="18" charset="0"/>
              <a:cs typeface="Times New Roman" panose="02020603050405020304" pitchFamily="18" charset="0"/>
            </a:endParaRPr>
          </a:p>
        </p:txBody>
      </p:sp>
      <p:grpSp>
        <p:nvGrpSpPr>
          <p:cNvPr id="27" name="Group 26">
            <a:extLst>
              <a:ext uri="{FF2B5EF4-FFF2-40B4-BE49-F238E27FC236}">
                <a16:creationId xmlns:a16="http://schemas.microsoft.com/office/drawing/2014/main" id="{7CCB2435-D335-83BD-40FF-FA0649E43415}"/>
              </a:ext>
            </a:extLst>
          </p:cNvPr>
          <p:cNvGrpSpPr/>
          <p:nvPr/>
        </p:nvGrpSpPr>
        <p:grpSpPr>
          <a:xfrm>
            <a:off x="365760" y="1389888"/>
            <a:ext cx="10685950" cy="5316428"/>
            <a:chOff x="365760" y="1389888"/>
            <a:chExt cx="8412480" cy="3493008"/>
          </a:xfrm>
        </p:grpSpPr>
        <p:sp>
          <p:nvSpPr>
            <p:cNvPr id="2" name="Shape 6">
              <a:extLst>
                <a:ext uri="{FF2B5EF4-FFF2-40B4-BE49-F238E27FC236}">
                  <a16:creationId xmlns:a16="http://schemas.microsoft.com/office/drawing/2014/main" id="{90316F29-0BBE-769F-A123-5090F96A4337}"/>
                </a:ext>
              </a:extLst>
            </p:cNvPr>
            <p:cNvSpPr/>
            <p:nvPr/>
          </p:nvSpPr>
          <p:spPr>
            <a:xfrm>
              <a:off x="365760" y="1389888"/>
              <a:ext cx="4114800" cy="1682496"/>
            </a:xfrm>
            <a:prstGeom prst="rect">
              <a:avLst/>
            </a:prstGeom>
            <a:solidFill>
              <a:schemeClr val="bg1"/>
            </a:solidFill>
            <a:ln w="12700">
              <a:solidFill>
                <a:srgbClr val="00B4D8"/>
              </a:solidFill>
              <a:prstDash val="solid"/>
            </a:ln>
            <a:effectLst/>
          </p:spPr>
        </p:sp>
        <p:sp>
          <p:nvSpPr>
            <p:cNvPr id="3" name="Shape 7">
              <a:extLst>
                <a:ext uri="{FF2B5EF4-FFF2-40B4-BE49-F238E27FC236}">
                  <a16:creationId xmlns:a16="http://schemas.microsoft.com/office/drawing/2014/main" id="{CA2BE115-FF78-EFCA-7D9A-EE2F68CF9FC2}"/>
                </a:ext>
              </a:extLst>
            </p:cNvPr>
            <p:cNvSpPr/>
            <p:nvPr/>
          </p:nvSpPr>
          <p:spPr>
            <a:xfrm>
              <a:off x="365760" y="1389888"/>
              <a:ext cx="54864" cy="1682496"/>
            </a:xfrm>
            <a:prstGeom prst="rect">
              <a:avLst/>
            </a:prstGeom>
            <a:solidFill>
              <a:srgbClr val="00B4D8"/>
            </a:solidFill>
            <a:ln w="12700">
              <a:solidFill>
                <a:srgbClr val="00B4D8"/>
              </a:solidFill>
              <a:prstDash val="solid"/>
            </a:ln>
          </p:spPr>
        </p:sp>
        <p:sp>
          <p:nvSpPr>
            <p:cNvPr id="6" name="Text 10">
              <a:extLst>
                <a:ext uri="{FF2B5EF4-FFF2-40B4-BE49-F238E27FC236}">
                  <a16:creationId xmlns:a16="http://schemas.microsoft.com/office/drawing/2014/main" id="{702EBCC3-DF56-4BC0-20FC-2FB90B67ED1A}"/>
                </a:ext>
              </a:extLst>
            </p:cNvPr>
            <p:cNvSpPr/>
            <p:nvPr/>
          </p:nvSpPr>
          <p:spPr>
            <a:xfrm>
              <a:off x="512064" y="1490471"/>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Rules Beat Black Boxes for Explainability</a:t>
              </a:r>
              <a:endParaRPr lang="en-US" sz="2000" dirty="0">
                <a:latin typeface="Times New Roman" panose="02020603050405020304" pitchFamily="18" charset="0"/>
                <a:cs typeface="Times New Roman" panose="02020603050405020304" pitchFamily="18" charset="0"/>
              </a:endParaRPr>
            </a:p>
          </p:txBody>
        </p:sp>
        <p:sp>
          <p:nvSpPr>
            <p:cNvPr id="7" name="Text 11">
              <a:extLst>
                <a:ext uri="{FF2B5EF4-FFF2-40B4-BE49-F238E27FC236}">
                  <a16:creationId xmlns:a16="http://schemas.microsoft.com/office/drawing/2014/main" id="{2E5F276A-0696-0D57-1020-8D8D0A6B4105}"/>
                </a:ext>
              </a:extLst>
            </p:cNvPr>
            <p:cNvSpPr/>
            <p:nvPr/>
          </p:nvSpPr>
          <p:spPr>
            <a:xfrm>
              <a:off x="512064" y="1874068"/>
              <a:ext cx="3822192" cy="999497"/>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Every PhishGuard decision maps to a named rule with a documented weight. Incident responders reconstruct exactly why an email was flagged — critical for forensic investigation and compliance reporting.</a:t>
              </a:r>
              <a:endParaRPr lang="en-US" dirty="0">
                <a:latin typeface="Times New Roman" panose="02020603050405020304" pitchFamily="18" charset="0"/>
                <a:cs typeface="Times New Roman" panose="02020603050405020304" pitchFamily="18" charset="0"/>
              </a:endParaRPr>
            </a:p>
          </p:txBody>
        </p:sp>
        <p:sp>
          <p:nvSpPr>
            <p:cNvPr id="9" name="Shape 12">
              <a:extLst>
                <a:ext uri="{FF2B5EF4-FFF2-40B4-BE49-F238E27FC236}">
                  <a16:creationId xmlns:a16="http://schemas.microsoft.com/office/drawing/2014/main" id="{8418D42A-612E-F1E0-297F-EE5AAE696B68}"/>
                </a:ext>
              </a:extLst>
            </p:cNvPr>
            <p:cNvSpPr/>
            <p:nvPr/>
          </p:nvSpPr>
          <p:spPr>
            <a:xfrm>
              <a:off x="365760" y="3200400"/>
              <a:ext cx="4114800" cy="1682496"/>
            </a:xfrm>
            <a:prstGeom prst="rect">
              <a:avLst/>
            </a:prstGeom>
            <a:solidFill>
              <a:schemeClr val="bg1"/>
            </a:solidFill>
            <a:ln w="12700">
              <a:solidFill>
                <a:srgbClr val="F4A261"/>
              </a:solidFill>
              <a:prstDash val="solid"/>
            </a:ln>
            <a:effectLst/>
          </p:spPr>
        </p:sp>
        <p:sp>
          <p:nvSpPr>
            <p:cNvPr id="10" name="Shape 13">
              <a:extLst>
                <a:ext uri="{FF2B5EF4-FFF2-40B4-BE49-F238E27FC236}">
                  <a16:creationId xmlns:a16="http://schemas.microsoft.com/office/drawing/2014/main" id="{D2000921-1EC3-0754-F0F5-B349641CE9C8}"/>
                </a:ext>
              </a:extLst>
            </p:cNvPr>
            <p:cNvSpPr/>
            <p:nvPr/>
          </p:nvSpPr>
          <p:spPr>
            <a:xfrm>
              <a:off x="365760" y="3200400"/>
              <a:ext cx="54864" cy="1682496"/>
            </a:xfrm>
            <a:prstGeom prst="rect">
              <a:avLst/>
            </a:prstGeom>
            <a:solidFill>
              <a:srgbClr val="F4A261"/>
            </a:solidFill>
            <a:ln w="12700">
              <a:solidFill>
                <a:srgbClr val="F4A261"/>
              </a:solidFill>
              <a:prstDash val="solid"/>
            </a:ln>
          </p:spPr>
        </p:sp>
        <p:sp>
          <p:nvSpPr>
            <p:cNvPr id="13" name="Text 16">
              <a:extLst>
                <a:ext uri="{FF2B5EF4-FFF2-40B4-BE49-F238E27FC236}">
                  <a16:creationId xmlns:a16="http://schemas.microsoft.com/office/drawing/2014/main" id="{E723799F-FE9D-596D-1F92-B8AC3B5A88F2}"/>
                </a:ext>
              </a:extLst>
            </p:cNvPr>
            <p:cNvSpPr/>
            <p:nvPr/>
          </p:nvSpPr>
          <p:spPr>
            <a:xfrm>
              <a:off x="539496" y="3300983"/>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Authentication Is the Fastest First Filter</a:t>
              </a:r>
              <a:endParaRPr lang="en-US" sz="2000" dirty="0">
                <a:latin typeface="Times New Roman" panose="02020603050405020304" pitchFamily="18" charset="0"/>
                <a:cs typeface="Times New Roman" panose="02020603050405020304" pitchFamily="18" charset="0"/>
              </a:endParaRPr>
            </a:p>
          </p:txBody>
        </p:sp>
        <p:sp>
          <p:nvSpPr>
            <p:cNvPr id="14" name="Text 17">
              <a:extLst>
                <a:ext uri="{FF2B5EF4-FFF2-40B4-BE49-F238E27FC236}">
                  <a16:creationId xmlns:a16="http://schemas.microsoft.com/office/drawing/2014/main" id="{24A183E3-6C4F-B948-468D-0C51F89B3CAC}"/>
                </a:ext>
              </a:extLst>
            </p:cNvPr>
            <p:cNvSpPr/>
            <p:nvPr/>
          </p:nvSpPr>
          <p:spPr>
            <a:xfrm>
              <a:off x="512064" y="3715560"/>
              <a:ext cx="3822192" cy="749808"/>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94% of phishing emails fail SPF or DKIM. Checking the Authentication-Results header costs zero compute and immediately eliminates most spoofed senders before any content analysis runs.</a:t>
              </a:r>
              <a:endParaRPr lang="en-US" dirty="0">
                <a:latin typeface="Times New Roman" panose="02020603050405020304" pitchFamily="18" charset="0"/>
                <a:cs typeface="Times New Roman" panose="02020603050405020304" pitchFamily="18" charset="0"/>
              </a:endParaRPr>
            </a:p>
          </p:txBody>
        </p:sp>
        <p:sp>
          <p:nvSpPr>
            <p:cNvPr id="15" name="Shape 18">
              <a:extLst>
                <a:ext uri="{FF2B5EF4-FFF2-40B4-BE49-F238E27FC236}">
                  <a16:creationId xmlns:a16="http://schemas.microsoft.com/office/drawing/2014/main" id="{68834B16-4B4A-48CA-684B-8353C3E8C70D}"/>
                </a:ext>
              </a:extLst>
            </p:cNvPr>
            <p:cNvSpPr/>
            <p:nvPr/>
          </p:nvSpPr>
          <p:spPr>
            <a:xfrm>
              <a:off x="4663440" y="1389888"/>
              <a:ext cx="4114800" cy="1682496"/>
            </a:xfrm>
            <a:prstGeom prst="rect">
              <a:avLst/>
            </a:prstGeom>
            <a:solidFill>
              <a:schemeClr val="bg1"/>
            </a:solidFill>
            <a:ln w="12700">
              <a:solidFill>
                <a:srgbClr val="2DC653"/>
              </a:solidFill>
              <a:prstDash val="solid"/>
            </a:ln>
            <a:effectLst/>
          </p:spPr>
        </p:sp>
        <p:sp>
          <p:nvSpPr>
            <p:cNvPr id="16" name="Shape 19">
              <a:extLst>
                <a:ext uri="{FF2B5EF4-FFF2-40B4-BE49-F238E27FC236}">
                  <a16:creationId xmlns:a16="http://schemas.microsoft.com/office/drawing/2014/main" id="{FB487C92-C890-3D5D-AD97-87878B2BA243}"/>
                </a:ext>
              </a:extLst>
            </p:cNvPr>
            <p:cNvSpPr/>
            <p:nvPr/>
          </p:nvSpPr>
          <p:spPr>
            <a:xfrm>
              <a:off x="4663440" y="1389888"/>
              <a:ext cx="54864" cy="1682496"/>
            </a:xfrm>
            <a:prstGeom prst="rect">
              <a:avLst/>
            </a:prstGeom>
            <a:solidFill>
              <a:srgbClr val="2DC653"/>
            </a:solidFill>
            <a:ln w="12700">
              <a:solidFill>
                <a:srgbClr val="2DC653"/>
              </a:solidFill>
              <a:prstDash val="solid"/>
            </a:ln>
          </p:spPr>
        </p:sp>
        <p:sp>
          <p:nvSpPr>
            <p:cNvPr id="19" name="Text 22">
              <a:extLst>
                <a:ext uri="{FF2B5EF4-FFF2-40B4-BE49-F238E27FC236}">
                  <a16:creationId xmlns:a16="http://schemas.microsoft.com/office/drawing/2014/main" id="{B8C7D9B2-2693-6A51-2A7C-67F8E8420034}"/>
                </a:ext>
              </a:extLst>
            </p:cNvPr>
            <p:cNvSpPr/>
            <p:nvPr/>
          </p:nvSpPr>
          <p:spPr>
            <a:xfrm>
              <a:off x="4876873" y="1490470"/>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DLP Must Be Pre-Transmission, Not Post</a:t>
              </a:r>
              <a:endParaRPr lang="en-US" sz="2000" dirty="0">
                <a:latin typeface="Times New Roman" panose="02020603050405020304" pitchFamily="18" charset="0"/>
                <a:cs typeface="Times New Roman" panose="02020603050405020304" pitchFamily="18" charset="0"/>
              </a:endParaRPr>
            </a:p>
          </p:txBody>
        </p:sp>
        <p:sp>
          <p:nvSpPr>
            <p:cNvPr id="20" name="Text 23">
              <a:extLst>
                <a:ext uri="{FF2B5EF4-FFF2-40B4-BE49-F238E27FC236}">
                  <a16:creationId xmlns:a16="http://schemas.microsoft.com/office/drawing/2014/main" id="{72527F16-FE10-0E87-962F-E2A0146197D3}"/>
                </a:ext>
              </a:extLst>
            </p:cNvPr>
            <p:cNvSpPr/>
            <p:nvPr/>
          </p:nvSpPr>
          <p:spPr>
            <a:xfrm>
              <a:off x="4828032" y="1874068"/>
              <a:ext cx="3822192" cy="1080853"/>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Post-transmission DLP is reactive — the data has already left. PhishGuard intercepts outgoing drafts before sending, enforcing PCI-DSS, DPDP Act 2023, and UIDAI obligations at the perimeter.</a:t>
              </a:r>
              <a:endParaRPr lang="en-US" dirty="0">
                <a:latin typeface="Times New Roman" panose="02020603050405020304" pitchFamily="18" charset="0"/>
                <a:cs typeface="Times New Roman" panose="02020603050405020304" pitchFamily="18" charset="0"/>
              </a:endParaRPr>
            </a:p>
          </p:txBody>
        </p:sp>
        <p:sp>
          <p:nvSpPr>
            <p:cNvPr id="21" name="Shape 24">
              <a:extLst>
                <a:ext uri="{FF2B5EF4-FFF2-40B4-BE49-F238E27FC236}">
                  <a16:creationId xmlns:a16="http://schemas.microsoft.com/office/drawing/2014/main" id="{0193A121-5412-FAE4-6988-884DF14C3D56}"/>
                </a:ext>
              </a:extLst>
            </p:cNvPr>
            <p:cNvSpPr/>
            <p:nvPr/>
          </p:nvSpPr>
          <p:spPr>
            <a:xfrm>
              <a:off x="4663440" y="3200400"/>
              <a:ext cx="4114800" cy="1682496"/>
            </a:xfrm>
            <a:prstGeom prst="rect">
              <a:avLst/>
            </a:prstGeom>
            <a:solidFill>
              <a:schemeClr val="bg1"/>
            </a:solidFill>
            <a:ln w="12700">
              <a:solidFill>
                <a:srgbClr val="E63946"/>
              </a:solidFill>
              <a:prstDash val="solid"/>
            </a:ln>
            <a:effectLst/>
          </p:spPr>
        </p:sp>
        <p:sp>
          <p:nvSpPr>
            <p:cNvPr id="22" name="Shape 25">
              <a:extLst>
                <a:ext uri="{FF2B5EF4-FFF2-40B4-BE49-F238E27FC236}">
                  <a16:creationId xmlns:a16="http://schemas.microsoft.com/office/drawing/2014/main" id="{852B29AA-CD58-E4F4-50F5-5081FD75AE39}"/>
                </a:ext>
              </a:extLst>
            </p:cNvPr>
            <p:cNvSpPr/>
            <p:nvPr/>
          </p:nvSpPr>
          <p:spPr>
            <a:xfrm>
              <a:off x="4663440" y="3200400"/>
              <a:ext cx="54864" cy="1682496"/>
            </a:xfrm>
            <a:prstGeom prst="rect">
              <a:avLst/>
            </a:prstGeom>
            <a:solidFill>
              <a:srgbClr val="E63946"/>
            </a:solidFill>
            <a:ln w="12700">
              <a:solidFill>
                <a:srgbClr val="E63946"/>
              </a:solidFill>
              <a:prstDash val="solid"/>
            </a:ln>
          </p:spPr>
        </p:sp>
        <p:sp>
          <p:nvSpPr>
            <p:cNvPr id="25" name="Text 28">
              <a:extLst>
                <a:ext uri="{FF2B5EF4-FFF2-40B4-BE49-F238E27FC236}">
                  <a16:creationId xmlns:a16="http://schemas.microsoft.com/office/drawing/2014/main" id="{DD626320-7836-651B-42D7-99A0572F8B88}"/>
                </a:ext>
              </a:extLst>
            </p:cNvPr>
            <p:cNvSpPr/>
            <p:nvPr/>
          </p:nvSpPr>
          <p:spPr>
            <a:xfrm>
              <a:off x="4828032" y="3300983"/>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Campaign Thinking Beats Per-Email Thinking</a:t>
              </a:r>
              <a:endParaRPr lang="en-US" sz="2000" dirty="0">
                <a:latin typeface="Times New Roman" panose="02020603050405020304" pitchFamily="18" charset="0"/>
                <a:cs typeface="Times New Roman" panose="02020603050405020304" pitchFamily="18" charset="0"/>
              </a:endParaRPr>
            </a:p>
          </p:txBody>
        </p:sp>
        <p:sp>
          <p:nvSpPr>
            <p:cNvPr id="26" name="Text 29">
              <a:extLst>
                <a:ext uri="{FF2B5EF4-FFF2-40B4-BE49-F238E27FC236}">
                  <a16:creationId xmlns:a16="http://schemas.microsoft.com/office/drawing/2014/main" id="{9EB39EDB-520A-52A5-E950-182A31FA7E45}"/>
                </a:ext>
              </a:extLst>
            </p:cNvPr>
            <p:cNvSpPr/>
            <p:nvPr/>
          </p:nvSpPr>
          <p:spPr>
            <a:xfrm>
              <a:off x="4809744" y="3707113"/>
              <a:ext cx="3822192" cy="749808"/>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A single email scoring MEDIUM may pass. The same phishing URL in 50 emails within one hour is an unambiguous campaign. Batch Counter analysis turns individual noise into a high-confidence signal.</a:t>
              </a:r>
              <a:endParaRPr lang="en-US"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1156106156"/>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docProps/app.xml><?xml version="1.0" encoding="utf-8"?>
<Properties xmlns="http://schemas.openxmlformats.org/officeDocument/2006/extended-properties" xmlns:vt="http://schemas.openxmlformats.org/officeDocument/2006/docPropsVTypes">
  <Template>TM03457515[[fn=View]]</Template>
  <TotalTime>129</TotalTime>
  <Words>1086</Words>
  <Application>Microsoft Office PowerPoint</Application>
  <PresentationFormat>Widescreen</PresentationFormat>
  <Paragraphs>168</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Arial</vt:lpstr>
      <vt:lpstr>Calibri</vt:lpstr>
      <vt:lpstr>Century Schoolbook</vt:lpstr>
      <vt:lpstr>Times New Roman</vt:lpstr>
      <vt:lpstr>Wingdings 2</vt:lpstr>
      <vt:lpstr>View</vt:lpstr>
      <vt:lpstr>PhishGuard  Rule Based Email Security Phishing Detection &amp; Data Loss Prevention “Detect. Defend. Prevent.”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Preet Amin</dc:creator>
  <cp:lastModifiedBy>Preet Amin</cp:lastModifiedBy>
  <cp:revision>27</cp:revision>
  <dcterms:created xsi:type="dcterms:W3CDTF">2026-04-12T06:16:11Z</dcterms:created>
  <dcterms:modified xsi:type="dcterms:W3CDTF">2026-04-17T09:03:35Z</dcterms:modified>
</cp:coreProperties>
</file>