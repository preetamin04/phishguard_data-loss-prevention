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0"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032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0D2137"/>
          </a:solidFill>
          <a:ln w="12700">
            <a:solidFill>
              <a:srgbClr val="0D2137"/>
            </a:solidFill>
            <a:prstDash val="solid"/>
          </a:ln>
        </p:spPr>
      </p:sp>
      <p:sp>
        <p:nvSpPr>
          <p:cNvPr id="3" name="Shape 1"/>
          <p:cNvSpPr/>
          <p:nvPr/>
        </p:nvSpPr>
        <p:spPr>
          <a:xfrm>
            <a:off x="5029200" y="0"/>
            <a:ext cx="45720" cy="5143500"/>
          </a:xfrm>
          <a:prstGeom prst="rect">
            <a:avLst/>
          </a:prstGeom>
          <a:solidFill>
            <a:srgbClr val="00B4D8"/>
          </a:solidFill>
          <a:ln w="12700">
            <a:solidFill>
              <a:srgbClr val="00B4D8"/>
            </a:solidFill>
            <a:prstDash val="solid"/>
          </a:ln>
        </p:spPr>
      </p:sp>
      <p:pic>
        <p:nvPicPr>
          <p:cNvPr id="4" name="Image 0" descr="preencoded.png"/>
          <p:cNvPicPr>
            <a:picLocks noChangeAspect="1"/>
          </p:cNvPicPr>
          <p:nvPr/>
        </p:nvPicPr>
        <p:blipFill>
          <a:blip r:embed="rId3"/>
          <a:stretch>
            <a:fillRect/>
          </a:stretch>
        </p:blipFill>
        <p:spPr>
          <a:xfrm>
            <a:off x="1371600" y="822960"/>
            <a:ext cx="2286000" cy="2286000"/>
          </a:xfrm>
          <a:prstGeom prst="rect">
            <a:avLst/>
          </a:prstGeom>
        </p:spPr>
      </p:pic>
      <p:sp>
        <p:nvSpPr>
          <p:cNvPr id="5" name="Text 2"/>
          <p:cNvSpPr/>
          <p:nvPr/>
        </p:nvSpPr>
        <p:spPr>
          <a:xfrm>
            <a:off x="274320" y="3337560"/>
            <a:ext cx="4480560" cy="237744"/>
          </a:xfrm>
          <a:prstGeom prst="rect">
            <a:avLst/>
          </a:prstGeom>
          <a:noFill/>
          <a:ln/>
        </p:spPr>
        <p:txBody>
          <a:bodyPr wrap="square" lIns="0" tIns="0" rIns="0" bIns="0" rtlCol="0" anchor="ctr"/>
          <a:lstStyle/>
          <a:p>
            <a:pPr marL="0" indent="0">
              <a:buNone/>
            </a:pPr>
            <a:r>
              <a:rPr lang="en-US" sz="850" b="1" kern="0" spc="300" dirty="0">
                <a:solidFill>
                  <a:srgbClr val="5A8FAA"/>
                </a:solidFill>
                <a:latin typeface="Calibri" pitchFamily="34" charset="0"/>
                <a:ea typeface="Calibri" pitchFamily="34" charset="-122"/>
                <a:cs typeface="Calibri" pitchFamily="34" charset="-120"/>
              </a:rPr>
              <a:t>CYBERSECURITY PROJECT  2025–26</a:t>
            </a:r>
            <a:endParaRPr lang="en-US" sz="850" dirty="0"/>
          </a:p>
        </p:txBody>
      </p:sp>
      <p:sp>
        <p:nvSpPr>
          <p:cNvPr id="6" name="Shape 3"/>
          <p:cNvSpPr/>
          <p:nvPr/>
        </p:nvSpPr>
        <p:spPr>
          <a:xfrm>
            <a:off x="274320" y="3621024"/>
            <a:ext cx="4480560" cy="22860"/>
          </a:xfrm>
          <a:prstGeom prst="rect">
            <a:avLst/>
          </a:prstGeom>
          <a:solidFill>
            <a:srgbClr val="5A8FAA"/>
          </a:solidFill>
          <a:ln w="12700">
            <a:solidFill>
              <a:srgbClr val="5A8FAA"/>
            </a:solidFill>
            <a:prstDash val="solid"/>
          </a:ln>
        </p:spPr>
      </p:sp>
      <p:sp>
        <p:nvSpPr>
          <p:cNvPr id="7" name="Text 4"/>
          <p:cNvSpPr/>
          <p:nvPr/>
        </p:nvSpPr>
        <p:spPr>
          <a:xfrm>
            <a:off x="274320" y="3703320"/>
            <a:ext cx="4480560" cy="237744"/>
          </a:xfrm>
          <a:prstGeom prst="rect">
            <a:avLst/>
          </a:prstGeom>
          <a:noFill/>
          <a:ln/>
        </p:spPr>
        <p:txBody>
          <a:bodyPr wrap="square" lIns="0" tIns="0" rIns="0" bIns="0" rtlCol="0" anchor="ctr"/>
          <a:lstStyle/>
          <a:p>
            <a:pPr marL="0" indent="0">
              <a:buNone/>
            </a:pPr>
            <a:r>
              <a:rPr lang="en-US" sz="1000" i="1" dirty="0">
                <a:solidFill>
                  <a:srgbClr val="5A8FAA"/>
                </a:solidFill>
                <a:latin typeface="Calibri" pitchFamily="34" charset="0"/>
                <a:ea typeface="Calibri" pitchFamily="34" charset="-122"/>
                <a:cs typeface="Calibri" pitchFamily="34" charset="-120"/>
              </a:rPr>
              <a:t>No AI  ·  No Internet  ·  No External APIs</a:t>
            </a:r>
            <a:endParaRPr lang="en-US" sz="1000" dirty="0"/>
          </a:p>
        </p:txBody>
      </p:sp>
      <p:sp>
        <p:nvSpPr>
          <p:cNvPr id="8" name="Text 5"/>
          <p:cNvSpPr/>
          <p:nvPr/>
        </p:nvSpPr>
        <p:spPr>
          <a:xfrm>
            <a:off x="5394960" y="1280160"/>
            <a:ext cx="3474720" cy="82296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PhishGuard</a:t>
            </a:r>
            <a:endParaRPr lang="en-US" sz="5000" dirty="0"/>
          </a:p>
        </p:txBody>
      </p:sp>
      <p:sp>
        <p:nvSpPr>
          <p:cNvPr id="9" name="Text 6"/>
          <p:cNvSpPr/>
          <p:nvPr/>
        </p:nvSpPr>
        <p:spPr>
          <a:xfrm>
            <a:off x="5394960" y="2176272"/>
            <a:ext cx="3474720" cy="384048"/>
          </a:xfrm>
          <a:prstGeom prst="rect">
            <a:avLst/>
          </a:prstGeom>
          <a:noFill/>
          <a:ln/>
        </p:spPr>
        <p:txBody>
          <a:bodyPr wrap="square" lIns="0" tIns="0" rIns="0" bIns="0" rtlCol="0" anchor="ctr"/>
          <a:lstStyle/>
          <a:p>
            <a:pPr marL="0" indent="0">
              <a:buNone/>
            </a:pPr>
            <a:r>
              <a:rPr lang="en-US" sz="1800" dirty="0">
                <a:solidFill>
                  <a:srgbClr val="00B4D8"/>
                </a:solidFill>
                <a:latin typeface="Calibri" pitchFamily="34" charset="0"/>
                <a:ea typeface="Calibri" pitchFamily="34" charset="-122"/>
                <a:cs typeface="Calibri" pitchFamily="34" charset="-120"/>
              </a:rPr>
              <a:t>Rule-Based Email Security</a:t>
            </a:r>
            <a:endParaRPr lang="en-US" sz="1800" dirty="0"/>
          </a:p>
        </p:txBody>
      </p:sp>
      <p:sp>
        <p:nvSpPr>
          <p:cNvPr id="10" name="Text 7"/>
          <p:cNvSpPr/>
          <p:nvPr/>
        </p:nvSpPr>
        <p:spPr>
          <a:xfrm>
            <a:off x="5394960" y="2651760"/>
            <a:ext cx="3474720" cy="640080"/>
          </a:xfrm>
          <a:prstGeom prst="rect">
            <a:avLst/>
          </a:prstGeom>
          <a:noFill/>
          <a:ln/>
        </p:spPr>
        <p:txBody>
          <a:bodyPr wrap="square" lIns="0" tIns="0" rIns="0" bIns="0" rtlCol="0" anchor="ctr"/>
          <a:lstStyle/>
          <a:p>
            <a:pPr marL="0" indent="0">
              <a:buNone/>
            </a:pPr>
            <a:r>
              <a:rPr lang="en-US" sz="1400" dirty="0">
                <a:solidFill>
                  <a:srgbClr val="D0E4F5"/>
                </a:solidFill>
                <a:latin typeface="Calibri" pitchFamily="34" charset="0"/>
                <a:ea typeface="Calibri" pitchFamily="34" charset="-122"/>
                <a:cs typeface="Calibri" pitchFamily="34" charset="-120"/>
              </a:rPr>
              <a:t>Phishing Detection</a:t>
            </a:r>
            <a:endParaRPr lang="en-US" sz="1400" dirty="0"/>
          </a:p>
          <a:p>
            <a:pPr marL="0" indent="0">
              <a:buNone/>
            </a:pPr>
            <a:r>
              <a:rPr lang="en-US" sz="1400" dirty="0">
                <a:solidFill>
                  <a:srgbClr val="D0E4F5"/>
                </a:solidFill>
                <a:latin typeface="Calibri" pitchFamily="34" charset="0"/>
                <a:ea typeface="Calibri" pitchFamily="34" charset="-122"/>
                <a:cs typeface="Calibri" pitchFamily="34" charset="-120"/>
              </a:rPr>
              <a:t>&amp; Data Loss Prevention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01 · THREAT LANDSCAPE</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The Email Attack Surface</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Shape 6"/>
          <p:cNvSpPr/>
          <p:nvPr/>
        </p:nvSpPr>
        <p:spPr>
          <a:xfrm>
            <a:off x="365760" y="1261872"/>
            <a:ext cx="1874520" cy="1005840"/>
          </a:xfrm>
          <a:prstGeom prst="rect">
            <a:avLst/>
          </a:prstGeom>
          <a:solidFill>
            <a:srgbClr val="0A1A2E"/>
          </a:solidFill>
          <a:ln w="12700">
            <a:solidFill>
              <a:srgbClr val="E63946"/>
            </a:solidFill>
            <a:prstDash val="solid"/>
          </a:ln>
          <a:effectLst>
            <a:outerShdw blurRad="127000" dist="50800" dir="8100000" algn="bl" rotWithShape="0">
              <a:srgbClr val="000000">
                <a:alpha val="30000"/>
              </a:srgbClr>
            </a:outerShdw>
          </a:effectLst>
        </p:spPr>
      </p:sp>
      <p:sp>
        <p:nvSpPr>
          <p:cNvPr id="9" name="Shape 7"/>
          <p:cNvSpPr/>
          <p:nvPr/>
        </p:nvSpPr>
        <p:spPr>
          <a:xfrm>
            <a:off x="365760" y="1261872"/>
            <a:ext cx="1874520" cy="54864"/>
          </a:xfrm>
          <a:prstGeom prst="rect">
            <a:avLst/>
          </a:prstGeom>
          <a:solidFill>
            <a:srgbClr val="E63946"/>
          </a:solidFill>
          <a:ln w="12700">
            <a:solidFill>
              <a:srgbClr val="E63946"/>
            </a:solidFill>
            <a:prstDash val="solid"/>
          </a:ln>
        </p:spPr>
      </p:sp>
      <p:sp>
        <p:nvSpPr>
          <p:cNvPr id="10" name="Text 8"/>
          <p:cNvSpPr/>
          <p:nvPr/>
        </p:nvSpPr>
        <p:spPr>
          <a:xfrm>
            <a:off x="365760" y="1353312"/>
            <a:ext cx="1874520" cy="512064"/>
          </a:xfrm>
          <a:prstGeom prst="rect">
            <a:avLst/>
          </a:prstGeom>
          <a:noFill/>
          <a:ln/>
        </p:spPr>
        <p:txBody>
          <a:bodyPr wrap="square" lIns="0" tIns="0" rIns="0" bIns="0" rtlCol="0" anchor="ctr"/>
          <a:lstStyle/>
          <a:p>
            <a:pPr marL="0" indent="0" algn="ctr">
              <a:buNone/>
            </a:pPr>
            <a:r>
              <a:rPr lang="en-US" sz="3400" b="1" dirty="0">
                <a:solidFill>
                  <a:srgbClr val="E63946"/>
                </a:solidFill>
                <a:latin typeface="Calibri" pitchFamily="34" charset="0"/>
                <a:ea typeface="Calibri" pitchFamily="34" charset="-122"/>
                <a:cs typeface="Calibri" pitchFamily="34" charset="-120"/>
              </a:rPr>
              <a:t>3.4B</a:t>
            </a:r>
            <a:endParaRPr lang="en-US" sz="3400" dirty="0"/>
          </a:p>
        </p:txBody>
      </p:sp>
      <p:sp>
        <p:nvSpPr>
          <p:cNvPr id="11" name="Text 9"/>
          <p:cNvSpPr/>
          <p:nvPr/>
        </p:nvSpPr>
        <p:spPr>
          <a:xfrm>
            <a:off x="365760" y="1901952"/>
            <a:ext cx="1874520" cy="292608"/>
          </a:xfrm>
          <a:prstGeom prst="rect">
            <a:avLst/>
          </a:prstGeom>
          <a:noFill/>
          <a:ln/>
        </p:spPr>
        <p:txBody>
          <a:bodyPr wrap="square" lIns="0" tIns="0" rIns="0" bIns="0" rtlCol="0" anchor="ctr"/>
          <a:lstStyle/>
          <a:p>
            <a:pPr marL="0" indent="0" algn="ctr">
              <a:buNone/>
            </a:pPr>
            <a:r>
              <a:rPr lang="en-US" sz="950" dirty="0">
                <a:solidFill>
                  <a:srgbClr val="5A8FAA"/>
                </a:solidFill>
                <a:latin typeface="Calibri" pitchFamily="34" charset="0"/>
                <a:ea typeface="Calibri" pitchFamily="34" charset="-122"/>
                <a:cs typeface="Calibri" pitchFamily="34" charset="-120"/>
              </a:rPr>
              <a:t>Phishing emails/day</a:t>
            </a:r>
            <a:endParaRPr lang="en-US" sz="950" dirty="0"/>
          </a:p>
        </p:txBody>
      </p:sp>
      <p:sp>
        <p:nvSpPr>
          <p:cNvPr id="12" name="Shape 10"/>
          <p:cNvSpPr/>
          <p:nvPr/>
        </p:nvSpPr>
        <p:spPr>
          <a:xfrm>
            <a:off x="2395728" y="1261872"/>
            <a:ext cx="1874520" cy="1005840"/>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13" name="Shape 11"/>
          <p:cNvSpPr/>
          <p:nvPr/>
        </p:nvSpPr>
        <p:spPr>
          <a:xfrm>
            <a:off x="2395728" y="1261872"/>
            <a:ext cx="1874520" cy="54864"/>
          </a:xfrm>
          <a:prstGeom prst="rect">
            <a:avLst/>
          </a:prstGeom>
          <a:solidFill>
            <a:srgbClr val="F4A261"/>
          </a:solidFill>
          <a:ln w="12700">
            <a:solidFill>
              <a:srgbClr val="F4A261"/>
            </a:solidFill>
            <a:prstDash val="solid"/>
          </a:ln>
        </p:spPr>
      </p:sp>
      <p:sp>
        <p:nvSpPr>
          <p:cNvPr id="14" name="Text 12"/>
          <p:cNvSpPr/>
          <p:nvPr/>
        </p:nvSpPr>
        <p:spPr>
          <a:xfrm>
            <a:off x="2395728" y="1353312"/>
            <a:ext cx="1874520" cy="512064"/>
          </a:xfrm>
          <a:prstGeom prst="rect">
            <a:avLst/>
          </a:prstGeom>
          <a:noFill/>
          <a:ln/>
        </p:spPr>
        <p:txBody>
          <a:bodyPr wrap="square" lIns="0" tIns="0" rIns="0" bIns="0" rtlCol="0" anchor="ctr"/>
          <a:lstStyle/>
          <a:p>
            <a:pPr marL="0" indent="0" algn="ctr">
              <a:buNone/>
            </a:pPr>
            <a:r>
              <a:rPr lang="en-US" sz="3400" b="1" dirty="0">
                <a:solidFill>
                  <a:srgbClr val="F4A261"/>
                </a:solidFill>
                <a:latin typeface="Calibri" pitchFamily="34" charset="0"/>
                <a:ea typeface="Calibri" pitchFamily="34" charset="-122"/>
                <a:cs typeface="Calibri" pitchFamily="34" charset="-120"/>
              </a:rPr>
              <a:t>91%</a:t>
            </a:r>
            <a:endParaRPr lang="en-US" sz="3400" dirty="0"/>
          </a:p>
        </p:txBody>
      </p:sp>
      <p:sp>
        <p:nvSpPr>
          <p:cNvPr id="15" name="Text 13"/>
          <p:cNvSpPr/>
          <p:nvPr/>
        </p:nvSpPr>
        <p:spPr>
          <a:xfrm>
            <a:off x="2395728" y="1901952"/>
            <a:ext cx="1874520" cy="292608"/>
          </a:xfrm>
          <a:prstGeom prst="rect">
            <a:avLst/>
          </a:prstGeom>
          <a:noFill/>
          <a:ln/>
        </p:spPr>
        <p:txBody>
          <a:bodyPr wrap="square" lIns="0" tIns="0" rIns="0" bIns="0" rtlCol="0" anchor="ctr"/>
          <a:lstStyle/>
          <a:p>
            <a:pPr marL="0" indent="0" algn="ctr">
              <a:buNone/>
            </a:pPr>
            <a:r>
              <a:rPr lang="en-US" sz="950" dirty="0">
                <a:solidFill>
                  <a:srgbClr val="5A8FAA"/>
                </a:solidFill>
                <a:latin typeface="Calibri" pitchFamily="34" charset="0"/>
                <a:ea typeface="Calibri" pitchFamily="34" charset="-122"/>
                <a:cs typeface="Calibri" pitchFamily="34" charset="-120"/>
              </a:rPr>
              <a:t>Attacks start via email</a:t>
            </a:r>
            <a:endParaRPr lang="en-US" sz="950" dirty="0"/>
          </a:p>
        </p:txBody>
      </p:sp>
      <p:sp>
        <p:nvSpPr>
          <p:cNvPr id="16" name="Shape 14"/>
          <p:cNvSpPr/>
          <p:nvPr/>
        </p:nvSpPr>
        <p:spPr>
          <a:xfrm>
            <a:off x="4425696" y="1261872"/>
            <a:ext cx="1874520" cy="1005840"/>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17" name="Shape 15"/>
          <p:cNvSpPr/>
          <p:nvPr/>
        </p:nvSpPr>
        <p:spPr>
          <a:xfrm>
            <a:off x="4425696" y="1261872"/>
            <a:ext cx="1874520" cy="54864"/>
          </a:xfrm>
          <a:prstGeom prst="rect">
            <a:avLst/>
          </a:prstGeom>
          <a:solidFill>
            <a:srgbClr val="00B4D8"/>
          </a:solidFill>
          <a:ln w="12700">
            <a:solidFill>
              <a:srgbClr val="00B4D8"/>
            </a:solidFill>
            <a:prstDash val="solid"/>
          </a:ln>
        </p:spPr>
      </p:sp>
      <p:sp>
        <p:nvSpPr>
          <p:cNvPr id="18" name="Text 16"/>
          <p:cNvSpPr/>
          <p:nvPr/>
        </p:nvSpPr>
        <p:spPr>
          <a:xfrm>
            <a:off x="4425696" y="1353312"/>
            <a:ext cx="1874520" cy="512064"/>
          </a:xfrm>
          <a:prstGeom prst="rect">
            <a:avLst/>
          </a:prstGeom>
          <a:noFill/>
          <a:ln/>
        </p:spPr>
        <p:txBody>
          <a:bodyPr wrap="square" lIns="0" tIns="0" rIns="0" bIns="0" rtlCol="0" anchor="ctr"/>
          <a:lstStyle/>
          <a:p>
            <a:pPr marL="0" indent="0" algn="ctr">
              <a:buNone/>
            </a:pPr>
            <a:r>
              <a:rPr lang="en-US" sz="3400" b="1" dirty="0">
                <a:solidFill>
                  <a:srgbClr val="00B4D8"/>
                </a:solidFill>
                <a:latin typeface="Calibri" pitchFamily="34" charset="0"/>
                <a:ea typeface="Calibri" pitchFamily="34" charset="-122"/>
                <a:cs typeface="Calibri" pitchFamily="34" charset="-120"/>
              </a:rPr>
              <a:t>₹8.2L</a:t>
            </a:r>
            <a:endParaRPr lang="en-US" sz="3400" dirty="0"/>
          </a:p>
        </p:txBody>
      </p:sp>
      <p:sp>
        <p:nvSpPr>
          <p:cNvPr id="19" name="Text 17"/>
          <p:cNvSpPr/>
          <p:nvPr/>
        </p:nvSpPr>
        <p:spPr>
          <a:xfrm>
            <a:off x="4425696" y="1901952"/>
            <a:ext cx="1874520" cy="292608"/>
          </a:xfrm>
          <a:prstGeom prst="rect">
            <a:avLst/>
          </a:prstGeom>
          <a:noFill/>
          <a:ln/>
        </p:spPr>
        <p:txBody>
          <a:bodyPr wrap="square" lIns="0" tIns="0" rIns="0" bIns="0" rtlCol="0" anchor="ctr"/>
          <a:lstStyle/>
          <a:p>
            <a:pPr marL="0" indent="0" algn="ctr">
              <a:buNone/>
            </a:pPr>
            <a:r>
              <a:rPr lang="en-US" sz="950" dirty="0">
                <a:solidFill>
                  <a:srgbClr val="5A8FAA"/>
                </a:solidFill>
                <a:latin typeface="Calibri" pitchFamily="34" charset="0"/>
                <a:ea typeface="Calibri" pitchFamily="34" charset="-122"/>
                <a:cs typeface="Calibri" pitchFamily="34" charset="-120"/>
              </a:rPr>
              <a:t>Avg breach cost in India</a:t>
            </a:r>
            <a:endParaRPr lang="en-US" sz="950" dirty="0"/>
          </a:p>
        </p:txBody>
      </p:sp>
      <p:sp>
        <p:nvSpPr>
          <p:cNvPr id="20" name="Shape 18"/>
          <p:cNvSpPr/>
          <p:nvPr/>
        </p:nvSpPr>
        <p:spPr>
          <a:xfrm>
            <a:off x="6455664" y="1261872"/>
            <a:ext cx="1874520" cy="1005840"/>
          </a:xfrm>
          <a:prstGeom prst="rect">
            <a:avLst/>
          </a:prstGeom>
          <a:solidFill>
            <a:srgbClr val="0A1A2E"/>
          </a:solidFill>
          <a:ln w="12700">
            <a:solidFill>
              <a:srgbClr val="7B2FBE"/>
            </a:solidFill>
            <a:prstDash val="solid"/>
          </a:ln>
          <a:effectLst>
            <a:outerShdw blurRad="127000" dist="50800" dir="8100000" algn="bl" rotWithShape="0">
              <a:srgbClr val="000000">
                <a:alpha val="30000"/>
              </a:srgbClr>
            </a:outerShdw>
          </a:effectLst>
        </p:spPr>
      </p:sp>
      <p:sp>
        <p:nvSpPr>
          <p:cNvPr id="21" name="Shape 19"/>
          <p:cNvSpPr/>
          <p:nvPr/>
        </p:nvSpPr>
        <p:spPr>
          <a:xfrm>
            <a:off x="6455664" y="1261872"/>
            <a:ext cx="1874520" cy="54864"/>
          </a:xfrm>
          <a:prstGeom prst="rect">
            <a:avLst/>
          </a:prstGeom>
          <a:solidFill>
            <a:srgbClr val="7B2FBE"/>
          </a:solidFill>
          <a:ln w="12700">
            <a:solidFill>
              <a:srgbClr val="7B2FBE"/>
            </a:solidFill>
            <a:prstDash val="solid"/>
          </a:ln>
        </p:spPr>
      </p:sp>
      <p:sp>
        <p:nvSpPr>
          <p:cNvPr id="22" name="Text 20"/>
          <p:cNvSpPr/>
          <p:nvPr/>
        </p:nvSpPr>
        <p:spPr>
          <a:xfrm>
            <a:off x="6455664" y="1353312"/>
            <a:ext cx="1874520" cy="512064"/>
          </a:xfrm>
          <a:prstGeom prst="rect">
            <a:avLst/>
          </a:prstGeom>
          <a:noFill/>
          <a:ln/>
        </p:spPr>
        <p:txBody>
          <a:bodyPr wrap="square" lIns="0" tIns="0" rIns="0" bIns="0" rtlCol="0" anchor="ctr"/>
          <a:lstStyle/>
          <a:p>
            <a:pPr marL="0" indent="0" algn="ctr">
              <a:buNone/>
            </a:pPr>
            <a:r>
              <a:rPr lang="en-US" sz="3400" b="1" dirty="0">
                <a:solidFill>
                  <a:srgbClr val="7B2FBE"/>
                </a:solidFill>
                <a:latin typeface="Calibri" pitchFamily="34" charset="0"/>
                <a:ea typeface="Calibri" pitchFamily="34" charset="-122"/>
                <a:cs typeface="Calibri" pitchFamily="34" charset="-120"/>
              </a:rPr>
              <a:t>17 min</a:t>
            </a:r>
            <a:endParaRPr lang="en-US" sz="3400" dirty="0"/>
          </a:p>
        </p:txBody>
      </p:sp>
      <p:sp>
        <p:nvSpPr>
          <p:cNvPr id="23" name="Text 21"/>
          <p:cNvSpPr/>
          <p:nvPr/>
        </p:nvSpPr>
        <p:spPr>
          <a:xfrm>
            <a:off x="6455664" y="1901952"/>
            <a:ext cx="1874520" cy="292608"/>
          </a:xfrm>
          <a:prstGeom prst="rect">
            <a:avLst/>
          </a:prstGeom>
          <a:noFill/>
          <a:ln/>
        </p:spPr>
        <p:txBody>
          <a:bodyPr wrap="square" lIns="0" tIns="0" rIns="0" bIns="0" rtlCol="0" anchor="ctr"/>
          <a:lstStyle/>
          <a:p>
            <a:pPr marL="0" indent="0" algn="ctr">
              <a:buNone/>
            </a:pPr>
            <a:r>
              <a:rPr lang="en-US" sz="950" dirty="0">
                <a:solidFill>
                  <a:srgbClr val="5A8FAA"/>
                </a:solidFill>
                <a:latin typeface="Calibri" pitchFamily="34" charset="0"/>
                <a:ea typeface="Calibri" pitchFamily="34" charset="-122"/>
                <a:cs typeface="Calibri" pitchFamily="34" charset="-120"/>
              </a:rPr>
              <a:t>Median time to first click</a:t>
            </a:r>
            <a:endParaRPr lang="en-US" sz="950" dirty="0"/>
          </a:p>
        </p:txBody>
      </p:sp>
      <p:sp>
        <p:nvSpPr>
          <p:cNvPr id="24" name="Shape 22"/>
          <p:cNvSpPr/>
          <p:nvPr/>
        </p:nvSpPr>
        <p:spPr>
          <a:xfrm>
            <a:off x="365760" y="2450592"/>
            <a:ext cx="4160520" cy="2395728"/>
          </a:xfrm>
          <a:prstGeom prst="rect">
            <a:avLst/>
          </a:prstGeom>
          <a:solidFill>
            <a:srgbClr val="0A1A2E"/>
          </a:solidFill>
          <a:ln w="12700">
            <a:solidFill>
              <a:srgbClr val="112B47"/>
            </a:solidFill>
            <a:prstDash val="solid"/>
          </a:ln>
          <a:effectLst>
            <a:outerShdw blurRad="127000" dist="50800" dir="8100000" algn="bl" rotWithShape="0">
              <a:srgbClr val="000000">
                <a:alpha val="30000"/>
              </a:srgbClr>
            </a:outerShdw>
          </a:effectLst>
        </p:spPr>
      </p:sp>
      <p:sp>
        <p:nvSpPr>
          <p:cNvPr id="25" name="Text 23"/>
          <p:cNvSpPr/>
          <p:nvPr/>
        </p:nvSpPr>
        <p:spPr>
          <a:xfrm>
            <a:off x="548640" y="2542032"/>
            <a:ext cx="3749040" cy="219456"/>
          </a:xfrm>
          <a:prstGeom prst="rect">
            <a:avLst/>
          </a:prstGeom>
          <a:noFill/>
          <a:ln/>
        </p:spPr>
        <p:txBody>
          <a:bodyPr wrap="square" lIns="0" tIns="0" rIns="0" bIns="0" rtlCol="0" anchor="ctr"/>
          <a:lstStyle/>
          <a:p>
            <a:pPr marL="0" indent="0">
              <a:buNone/>
            </a:pPr>
            <a:r>
              <a:rPr lang="en-US" sz="850" b="1" kern="0" spc="300" dirty="0">
                <a:solidFill>
                  <a:srgbClr val="5A8FAA"/>
                </a:solidFill>
                <a:latin typeface="Calibri" pitchFamily="34" charset="0"/>
                <a:ea typeface="Calibri" pitchFamily="34" charset="-122"/>
                <a:cs typeface="Calibri" pitchFamily="34" charset="-120"/>
              </a:rPr>
              <a:t>ATTACK TAXONOMY</a:t>
            </a:r>
            <a:endParaRPr lang="en-US" sz="850" dirty="0"/>
          </a:p>
        </p:txBody>
      </p:sp>
      <p:sp>
        <p:nvSpPr>
          <p:cNvPr id="26" name="Shape 24"/>
          <p:cNvSpPr/>
          <p:nvPr/>
        </p:nvSpPr>
        <p:spPr>
          <a:xfrm>
            <a:off x="457200" y="2834640"/>
            <a:ext cx="3977640" cy="329184"/>
          </a:xfrm>
          <a:prstGeom prst="rect">
            <a:avLst/>
          </a:prstGeom>
          <a:solidFill>
            <a:srgbClr val="080F1C"/>
          </a:solidFill>
          <a:ln w="12700">
            <a:solidFill>
              <a:srgbClr val="112B47"/>
            </a:solidFill>
            <a:prstDash val="solid"/>
          </a:ln>
        </p:spPr>
      </p:sp>
      <p:sp>
        <p:nvSpPr>
          <p:cNvPr id="27" name="Shape 25"/>
          <p:cNvSpPr/>
          <p:nvPr/>
        </p:nvSpPr>
        <p:spPr>
          <a:xfrm>
            <a:off x="457200" y="2834640"/>
            <a:ext cx="45720" cy="329184"/>
          </a:xfrm>
          <a:prstGeom prst="rect">
            <a:avLst/>
          </a:prstGeom>
          <a:solidFill>
            <a:srgbClr val="E63946"/>
          </a:solidFill>
          <a:ln w="12700">
            <a:solidFill>
              <a:srgbClr val="E63946"/>
            </a:solidFill>
            <a:prstDash val="solid"/>
          </a:ln>
        </p:spPr>
      </p:sp>
      <p:sp>
        <p:nvSpPr>
          <p:cNvPr id="28" name="Text 26"/>
          <p:cNvSpPr/>
          <p:nvPr/>
        </p:nvSpPr>
        <p:spPr>
          <a:xfrm>
            <a:off x="594360" y="2889504"/>
            <a:ext cx="1325880" cy="219456"/>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Spear Phishing</a:t>
            </a:r>
            <a:endParaRPr lang="en-US" sz="1000" dirty="0"/>
          </a:p>
        </p:txBody>
      </p:sp>
      <p:sp>
        <p:nvSpPr>
          <p:cNvPr id="29" name="Text 27"/>
          <p:cNvSpPr/>
          <p:nvPr/>
        </p:nvSpPr>
        <p:spPr>
          <a:xfrm>
            <a:off x="1956816" y="2889504"/>
            <a:ext cx="2377440"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Targeted, personalised lure using victim context</a:t>
            </a:r>
            <a:endParaRPr lang="en-US" sz="1000" dirty="0"/>
          </a:p>
        </p:txBody>
      </p:sp>
      <p:sp>
        <p:nvSpPr>
          <p:cNvPr id="30" name="Shape 28"/>
          <p:cNvSpPr/>
          <p:nvPr/>
        </p:nvSpPr>
        <p:spPr>
          <a:xfrm>
            <a:off x="457200" y="3218688"/>
            <a:ext cx="3977640" cy="329184"/>
          </a:xfrm>
          <a:prstGeom prst="rect">
            <a:avLst/>
          </a:prstGeom>
          <a:solidFill>
            <a:srgbClr val="0A1A2E"/>
          </a:solidFill>
          <a:ln w="12700">
            <a:solidFill>
              <a:srgbClr val="112B47"/>
            </a:solidFill>
            <a:prstDash val="solid"/>
          </a:ln>
        </p:spPr>
      </p:sp>
      <p:sp>
        <p:nvSpPr>
          <p:cNvPr id="31" name="Shape 29"/>
          <p:cNvSpPr/>
          <p:nvPr/>
        </p:nvSpPr>
        <p:spPr>
          <a:xfrm>
            <a:off x="457200" y="3218688"/>
            <a:ext cx="45720" cy="329184"/>
          </a:xfrm>
          <a:prstGeom prst="rect">
            <a:avLst/>
          </a:prstGeom>
          <a:solidFill>
            <a:srgbClr val="E63946"/>
          </a:solidFill>
          <a:ln w="12700">
            <a:solidFill>
              <a:srgbClr val="E63946"/>
            </a:solidFill>
            <a:prstDash val="solid"/>
          </a:ln>
        </p:spPr>
      </p:sp>
      <p:sp>
        <p:nvSpPr>
          <p:cNvPr id="32" name="Text 30"/>
          <p:cNvSpPr/>
          <p:nvPr/>
        </p:nvSpPr>
        <p:spPr>
          <a:xfrm>
            <a:off x="594360" y="3273552"/>
            <a:ext cx="1325880" cy="219456"/>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Brand Impersonation</a:t>
            </a:r>
            <a:endParaRPr lang="en-US" sz="1000" dirty="0"/>
          </a:p>
        </p:txBody>
      </p:sp>
      <p:sp>
        <p:nvSpPr>
          <p:cNvPr id="33" name="Text 31"/>
          <p:cNvSpPr/>
          <p:nvPr/>
        </p:nvSpPr>
        <p:spPr>
          <a:xfrm>
            <a:off x="1956816" y="3273552"/>
            <a:ext cx="2377440"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Fake PayPal, Amazon, Google sender identity</a:t>
            </a:r>
            <a:endParaRPr lang="en-US" sz="1000" dirty="0"/>
          </a:p>
        </p:txBody>
      </p:sp>
      <p:sp>
        <p:nvSpPr>
          <p:cNvPr id="34" name="Shape 32"/>
          <p:cNvSpPr/>
          <p:nvPr/>
        </p:nvSpPr>
        <p:spPr>
          <a:xfrm>
            <a:off x="457200" y="3602736"/>
            <a:ext cx="3977640" cy="329184"/>
          </a:xfrm>
          <a:prstGeom prst="rect">
            <a:avLst/>
          </a:prstGeom>
          <a:solidFill>
            <a:srgbClr val="080F1C"/>
          </a:solidFill>
          <a:ln w="12700">
            <a:solidFill>
              <a:srgbClr val="112B47"/>
            </a:solidFill>
            <a:prstDash val="solid"/>
          </a:ln>
        </p:spPr>
      </p:sp>
      <p:sp>
        <p:nvSpPr>
          <p:cNvPr id="35" name="Shape 33"/>
          <p:cNvSpPr/>
          <p:nvPr/>
        </p:nvSpPr>
        <p:spPr>
          <a:xfrm>
            <a:off x="457200" y="3602736"/>
            <a:ext cx="45720" cy="329184"/>
          </a:xfrm>
          <a:prstGeom prst="rect">
            <a:avLst/>
          </a:prstGeom>
          <a:solidFill>
            <a:srgbClr val="E63946"/>
          </a:solidFill>
          <a:ln w="12700">
            <a:solidFill>
              <a:srgbClr val="E63946"/>
            </a:solidFill>
            <a:prstDash val="solid"/>
          </a:ln>
        </p:spPr>
      </p:sp>
      <p:sp>
        <p:nvSpPr>
          <p:cNvPr id="36" name="Text 34"/>
          <p:cNvSpPr/>
          <p:nvPr/>
        </p:nvSpPr>
        <p:spPr>
          <a:xfrm>
            <a:off x="594360" y="3657600"/>
            <a:ext cx="1325880" cy="219456"/>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Advance-Fee (419)</a:t>
            </a:r>
            <a:endParaRPr lang="en-US" sz="1000" dirty="0"/>
          </a:p>
        </p:txBody>
      </p:sp>
      <p:sp>
        <p:nvSpPr>
          <p:cNvPr id="37" name="Text 35"/>
          <p:cNvSpPr/>
          <p:nvPr/>
        </p:nvSpPr>
        <p:spPr>
          <a:xfrm>
            <a:off x="1956816" y="3657600"/>
            <a:ext cx="2377440"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Social engineering via financial gain promise</a:t>
            </a:r>
            <a:endParaRPr lang="en-US" sz="1000" dirty="0"/>
          </a:p>
        </p:txBody>
      </p:sp>
      <p:sp>
        <p:nvSpPr>
          <p:cNvPr id="38" name="Shape 36"/>
          <p:cNvSpPr/>
          <p:nvPr/>
        </p:nvSpPr>
        <p:spPr>
          <a:xfrm>
            <a:off x="457200" y="3986784"/>
            <a:ext cx="3977640" cy="329184"/>
          </a:xfrm>
          <a:prstGeom prst="rect">
            <a:avLst/>
          </a:prstGeom>
          <a:solidFill>
            <a:srgbClr val="0A1A2E"/>
          </a:solidFill>
          <a:ln w="12700">
            <a:solidFill>
              <a:srgbClr val="112B47"/>
            </a:solidFill>
            <a:prstDash val="solid"/>
          </a:ln>
        </p:spPr>
      </p:sp>
      <p:sp>
        <p:nvSpPr>
          <p:cNvPr id="39" name="Shape 37"/>
          <p:cNvSpPr/>
          <p:nvPr/>
        </p:nvSpPr>
        <p:spPr>
          <a:xfrm>
            <a:off x="457200" y="3986784"/>
            <a:ext cx="45720" cy="329184"/>
          </a:xfrm>
          <a:prstGeom prst="rect">
            <a:avLst/>
          </a:prstGeom>
          <a:solidFill>
            <a:srgbClr val="E63946"/>
          </a:solidFill>
          <a:ln w="12700">
            <a:solidFill>
              <a:srgbClr val="E63946"/>
            </a:solidFill>
            <a:prstDash val="solid"/>
          </a:ln>
        </p:spPr>
      </p:sp>
      <p:sp>
        <p:nvSpPr>
          <p:cNvPr id="40" name="Text 38"/>
          <p:cNvSpPr/>
          <p:nvPr/>
        </p:nvSpPr>
        <p:spPr>
          <a:xfrm>
            <a:off x="594360" y="4041648"/>
            <a:ext cx="1325880" cy="219456"/>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Crypto Bait</a:t>
            </a:r>
            <a:endParaRPr lang="en-US" sz="1000" dirty="0"/>
          </a:p>
        </p:txBody>
      </p:sp>
      <p:sp>
        <p:nvSpPr>
          <p:cNvPr id="41" name="Text 39"/>
          <p:cNvSpPr/>
          <p:nvPr/>
        </p:nvSpPr>
        <p:spPr>
          <a:xfrm>
            <a:off x="1956816" y="4041648"/>
            <a:ext cx="2377440"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Fake airdrop / giveaway via free-email domains</a:t>
            </a:r>
            <a:endParaRPr lang="en-US" sz="1000" dirty="0"/>
          </a:p>
        </p:txBody>
      </p:sp>
      <p:sp>
        <p:nvSpPr>
          <p:cNvPr id="42" name="Shape 40"/>
          <p:cNvSpPr/>
          <p:nvPr/>
        </p:nvSpPr>
        <p:spPr>
          <a:xfrm>
            <a:off x="457200" y="4370832"/>
            <a:ext cx="3977640" cy="329184"/>
          </a:xfrm>
          <a:prstGeom prst="rect">
            <a:avLst/>
          </a:prstGeom>
          <a:solidFill>
            <a:srgbClr val="080F1C"/>
          </a:solidFill>
          <a:ln w="12700">
            <a:solidFill>
              <a:srgbClr val="112B47"/>
            </a:solidFill>
            <a:prstDash val="solid"/>
          </a:ln>
        </p:spPr>
      </p:sp>
      <p:sp>
        <p:nvSpPr>
          <p:cNvPr id="43" name="Shape 41"/>
          <p:cNvSpPr/>
          <p:nvPr/>
        </p:nvSpPr>
        <p:spPr>
          <a:xfrm>
            <a:off x="457200" y="4370832"/>
            <a:ext cx="45720" cy="329184"/>
          </a:xfrm>
          <a:prstGeom prst="rect">
            <a:avLst/>
          </a:prstGeom>
          <a:solidFill>
            <a:srgbClr val="E63946"/>
          </a:solidFill>
          <a:ln w="12700">
            <a:solidFill>
              <a:srgbClr val="E63946"/>
            </a:solidFill>
            <a:prstDash val="solid"/>
          </a:ln>
        </p:spPr>
      </p:sp>
      <p:sp>
        <p:nvSpPr>
          <p:cNvPr id="44" name="Text 42"/>
          <p:cNvSpPr/>
          <p:nvPr/>
        </p:nvSpPr>
        <p:spPr>
          <a:xfrm>
            <a:off x="594360" y="4425696"/>
            <a:ext cx="1325880" cy="219456"/>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Credential Harvest</a:t>
            </a:r>
            <a:endParaRPr lang="en-US" sz="1000" dirty="0"/>
          </a:p>
        </p:txBody>
      </p:sp>
      <p:sp>
        <p:nvSpPr>
          <p:cNvPr id="45" name="Text 43"/>
          <p:cNvSpPr/>
          <p:nvPr/>
        </p:nvSpPr>
        <p:spPr>
          <a:xfrm>
            <a:off x="1956816" y="4425696"/>
            <a:ext cx="2377440"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Embedded HTML forms collect passwords in-email</a:t>
            </a:r>
            <a:endParaRPr lang="en-US" sz="1000" dirty="0"/>
          </a:p>
        </p:txBody>
      </p:sp>
      <p:sp>
        <p:nvSpPr>
          <p:cNvPr id="46" name="Shape 44"/>
          <p:cNvSpPr/>
          <p:nvPr/>
        </p:nvSpPr>
        <p:spPr>
          <a:xfrm>
            <a:off x="4709160" y="2450592"/>
            <a:ext cx="4069080" cy="2395728"/>
          </a:xfrm>
          <a:prstGeom prst="rect">
            <a:avLst/>
          </a:prstGeom>
          <a:solidFill>
            <a:srgbClr val="0A1A2E"/>
          </a:solidFill>
          <a:ln w="12700">
            <a:solidFill>
              <a:srgbClr val="112B47"/>
            </a:solidFill>
            <a:prstDash val="solid"/>
          </a:ln>
          <a:effectLst>
            <a:outerShdw blurRad="127000" dist="50800" dir="8100000" algn="bl" rotWithShape="0">
              <a:srgbClr val="000000">
                <a:alpha val="30000"/>
              </a:srgbClr>
            </a:outerShdw>
          </a:effectLst>
        </p:spPr>
      </p:sp>
      <p:sp>
        <p:nvSpPr>
          <p:cNvPr id="47" name="Text 45"/>
          <p:cNvSpPr/>
          <p:nvPr/>
        </p:nvSpPr>
        <p:spPr>
          <a:xfrm>
            <a:off x="4892040" y="2542032"/>
            <a:ext cx="3703320" cy="219456"/>
          </a:xfrm>
          <a:prstGeom prst="rect">
            <a:avLst/>
          </a:prstGeom>
          <a:noFill/>
          <a:ln/>
        </p:spPr>
        <p:txBody>
          <a:bodyPr wrap="square" lIns="0" tIns="0" rIns="0" bIns="0" rtlCol="0" anchor="ctr"/>
          <a:lstStyle/>
          <a:p>
            <a:pPr marL="0" indent="0">
              <a:buNone/>
            </a:pPr>
            <a:r>
              <a:rPr lang="en-US" sz="850" b="1" kern="0" spc="300" dirty="0">
                <a:solidFill>
                  <a:srgbClr val="5A8FAA"/>
                </a:solidFill>
                <a:latin typeface="Calibri" pitchFamily="34" charset="0"/>
                <a:ea typeface="Calibri" pitchFamily="34" charset="-122"/>
                <a:cs typeface="Calibri" pitchFamily="34" charset="-120"/>
              </a:rPr>
              <a:t>EMAIL KILL CHAIN</a:t>
            </a:r>
            <a:endParaRPr lang="en-US" sz="850" dirty="0"/>
          </a:p>
        </p:txBody>
      </p:sp>
      <p:sp>
        <p:nvSpPr>
          <p:cNvPr id="48" name="Shape 46"/>
          <p:cNvSpPr/>
          <p:nvPr/>
        </p:nvSpPr>
        <p:spPr>
          <a:xfrm>
            <a:off x="4800600" y="2834640"/>
            <a:ext cx="3794760" cy="274320"/>
          </a:xfrm>
          <a:prstGeom prst="rect">
            <a:avLst/>
          </a:prstGeom>
          <a:solidFill>
            <a:srgbClr val="C62828"/>
          </a:solidFill>
          <a:ln w="12700">
            <a:solidFill>
              <a:srgbClr val="C62828"/>
            </a:solidFill>
            <a:prstDash val="solid"/>
          </a:ln>
        </p:spPr>
      </p:sp>
      <p:sp>
        <p:nvSpPr>
          <p:cNvPr id="49" name="Text 47"/>
          <p:cNvSpPr/>
          <p:nvPr/>
        </p:nvSpPr>
        <p:spPr>
          <a:xfrm>
            <a:off x="4864608" y="2834640"/>
            <a:ext cx="36576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Reconnaissance</a:t>
            </a:r>
            <a:endParaRPr lang="en-US" sz="1050" dirty="0"/>
          </a:p>
        </p:txBody>
      </p:sp>
      <p:sp>
        <p:nvSpPr>
          <p:cNvPr id="50" name="Shape 48"/>
          <p:cNvSpPr/>
          <p:nvPr/>
        </p:nvSpPr>
        <p:spPr>
          <a:xfrm>
            <a:off x="4800600" y="3172968"/>
            <a:ext cx="3794760" cy="274320"/>
          </a:xfrm>
          <a:prstGeom prst="rect">
            <a:avLst/>
          </a:prstGeom>
          <a:solidFill>
            <a:srgbClr val="D32F2F"/>
          </a:solidFill>
          <a:ln w="12700">
            <a:solidFill>
              <a:srgbClr val="D32F2F"/>
            </a:solidFill>
            <a:prstDash val="solid"/>
          </a:ln>
        </p:spPr>
      </p:sp>
      <p:sp>
        <p:nvSpPr>
          <p:cNvPr id="51" name="Text 49"/>
          <p:cNvSpPr/>
          <p:nvPr/>
        </p:nvSpPr>
        <p:spPr>
          <a:xfrm>
            <a:off x="4864608" y="3172968"/>
            <a:ext cx="36576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  Weaponised Email</a:t>
            </a:r>
            <a:endParaRPr lang="en-US" sz="1050" dirty="0"/>
          </a:p>
        </p:txBody>
      </p:sp>
      <p:sp>
        <p:nvSpPr>
          <p:cNvPr id="52" name="Shape 50"/>
          <p:cNvSpPr/>
          <p:nvPr/>
        </p:nvSpPr>
        <p:spPr>
          <a:xfrm>
            <a:off x="4800600" y="3511296"/>
            <a:ext cx="3794760" cy="274320"/>
          </a:xfrm>
          <a:prstGeom prst="rect">
            <a:avLst/>
          </a:prstGeom>
          <a:solidFill>
            <a:srgbClr val="E53935"/>
          </a:solidFill>
          <a:ln w="12700">
            <a:solidFill>
              <a:srgbClr val="E53935"/>
            </a:solidFill>
            <a:prstDash val="solid"/>
          </a:ln>
        </p:spPr>
      </p:sp>
      <p:sp>
        <p:nvSpPr>
          <p:cNvPr id="53" name="Text 51"/>
          <p:cNvSpPr/>
          <p:nvPr/>
        </p:nvSpPr>
        <p:spPr>
          <a:xfrm>
            <a:off x="4864608" y="3511296"/>
            <a:ext cx="365760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3.  Delivery &amp; Lure</a:t>
            </a:r>
            <a:endParaRPr lang="en-US" sz="1050" dirty="0"/>
          </a:p>
        </p:txBody>
      </p:sp>
      <p:sp>
        <p:nvSpPr>
          <p:cNvPr id="54" name="Shape 52"/>
          <p:cNvSpPr/>
          <p:nvPr/>
        </p:nvSpPr>
        <p:spPr>
          <a:xfrm>
            <a:off x="4800600" y="3849624"/>
            <a:ext cx="3794760" cy="274320"/>
          </a:xfrm>
          <a:prstGeom prst="rect">
            <a:avLst/>
          </a:prstGeom>
          <a:solidFill>
            <a:srgbClr val="E57373"/>
          </a:solidFill>
          <a:ln w="12700">
            <a:solidFill>
              <a:srgbClr val="E57373"/>
            </a:solidFill>
            <a:prstDash val="solid"/>
          </a:ln>
        </p:spPr>
      </p:sp>
      <p:sp>
        <p:nvSpPr>
          <p:cNvPr id="55" name="Text 53"/>
          <p:cNvSpPr/>
          <p:nvPr/>
        </p:nvSpPr>
        <p:spPr>
          <a:xfrm>
            <a:off x="4864608" y="3849624"/>
            <a:ext cx="3657600" cy="274320"/>
          </a:xfrm>
          <a:prstGeom prst="rect">
            <a:avLst/>
          </a:prstGeom>
          <a:noFill/>
          <a:ln/>
        </p:spPr>
        <p:txBody>
          <a:bodyPr wrap="square" lIns="0" tIns="0" rIns="0" bIns="0" rtlCol="0" anchor="ctr"/>
          <a:lstStyle/>
          <a:p>
            <a:pPr marL="0" indent="0">
              <a:buNone/>
            </a:pPr>
            <a:r>
              <a:rPr lang="en-US" sz="1050" dirty="0">
                <a:solidFill>
                  <a:srgbClr val="060F1E"/>
                </a:solidFill>
                <a:latin typeface="Calibri" pitchFamily="34" charset="0"/>
                <a:ea typeface="Calibri" pitchFamily="34" charset="-122"/>
                <a:cs typeface="Calibri" pitchFamily="34" charset="-120"/>
              </a:rPr>
              <a:t>4.  Victim Clicks</a:t>
            </a:r>
            <a:endParaRPr lang="en-US" sz="1050" dirty="0"/>
          </a:p>
        </p:txBody>
      </p:sp>
      <p:sp>
        <p:nvSpPr>
          <p:cNvPr id="56" name="Shape 54"/>
          <p:cNvSpPr/>
          <p:nvPr/>
        </p:nvSpPr>
        <p:spPr>
          <a:xfrm>
            <a:off x="4800600" y="4187952"/>
            <a:ext cx="3794760" cy="274320"/>
          </a:xfrm>
          <a:prstGeom prst="rect">
            <a:avLst/>
          </a:prstGeom>
          <a:solidFill>
            <a:srgbClr val="EF9A9A"/>
          </a:solidFill>
          <a:ln w="12700">
            <a:solidFill>
              <a:srgbClr val="EF9A9A"/>
            </a:solidFill>
            <a:prstDash val="solid"/>
          </a:ln>
        </p:spPr>
      </p:sp>
      <p:sp>
        <p:nvSpPr>
          <p:cNvPr id="57" name="Text 55"/>
          <p:cNvSpPr/>
          <p:nvPr/>
        </p:nvSpPr>
        <p:spPr>
          <a:xfrm>
            <a:off x="4864608" y="4187952"/>
            <a:ext cx="3657600" cy="274320"/>
          </a:xfrm>
          <a:prstGeom prst="rect">
            <a:avLst/>
          </a:prstGeom>
          <a:noFill/>
          <a:ln/>
        </p:spPr>
        <p:txBody>
          <a:bodyPr wrap="square" lIns="0" tIns="0" rIns="0" bIns="0" rtlCol="0" anchor="ctr"/>
          <a:lstStyle/>
          <a:p>
            <a:pPr marL="0" indent="0">
              <a:buNone/>
            </a:pPr>
            <a:r>
              <a:rPr lang="en-US" sz="1050" dirty="0">
                <a:solidFill>
                  <a:srgbClr val="060F1E"/>
                </a:solidFill>
                <a:latin typeface="Calibri" pitchFamily="34" charset="0"/>
                <a:ea typeface="Calibri" pitchFamily="34" charset="-122"/>
                <a:cs typeface="Calibri" pitchFamily="34" charset="-120"/>
              </a:rPr>
              <a:t>5.  Credential/Data Theft</a:t>
            </a:r>
            <a:endParaRPr lang="en-US" sz="1050" dirty="0"/>
          </a:p>
        </p:txBody>
      </p:sp>
      <p:sp>
        <p:nvSpPr>
          <p:cNvPr id="58" name="Shape 56"/>
          <p:cNvSpPr/>
          <p:nvPr/>
        </p:nvSpPr>
        <p:spPr>
          <a:xfrm>
            <a:off x="4800600" y="4526280"/>
            <a:ext cx="3794760" cy="274320"/>
          </a:xfrm>
          <a:prstGeom prst="rect">
            <a:avLst/>
          </a:prstGeom>
          <a:solidFill>
            <a:srgbClr val="FFCDD2"/>
          </a:solidFill>
          <a:ln w="12700">
            <a:solidFill>
              <a:srgbClr val="FFCDD2"/>
            </a:solidFill>
            <a:prstDash val="solid"/>
          </a:ln>
        </p:spPr>
      </p:sp>
      <p:sp>
        <p:nvSpPr>
          <p:cNvPr id="59" name="Text 57"/>
          <p:cNvSpPr/>
          <p:nvPr/>
        </p:nvSpPr>
        <p:spPr>
          <a:xfrm>
            <a:off x="4864608" y="4526280"/>
            <a:ext cx="3657600" cy="274320"/>
          </a:xfrm>
          <a:prstGeom prst="rect">
            <a:avLst/>
          </a:prstGeom>
          <a:noFill/>
          <a:ln/>
        </p:spPr>
        <p:txBody>
          <a:bodyPr wrap="square" lIns="0" tIns="0" rIns="0" bIns="0" rtlCol="0" anchor="ctr"/>
          <a:lstStyle/>
          <a:p>
            <a:pPr marL="0" indent="0">
              <a:buNone/>
            </a:pPr>
            <a:r>
              <a:rPr lang="en-US" sz="1050" dirty="0">
                <a:solidFill>
                  <a:srgbClr val="060F1E"/>
                </a:solidFill>
                <a:latin typeface="Calibri" pitchFamily="34" charset="0"/>
                <a:ea typeface="Calibri" pitchFamily="34" charset="-122"/>
                <a:cs typeface="Calibri" pitchFamily="34" charset="-120"/>
              </a:rPr>
              <a:t>6.  Lateral Movement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02 · PROJECT OVERVIEW</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r>
              <a:rPr lang="en-GB" sz="2800" dirty="0">
                <a:solidFill>
                  <a:schemeClr val="bg1"/>
                </a:solidFill>
              </a:rPr>
              <a:t>DATA LOSS PREVENTION (DLP)</a:t>
            </a:r>
            <a:endParaRPr lang="en-US" sz="2800" dirty="0">
              <a:solidFill>
                <a:schemeClr val="bg1"/>
              </a:solidFill>
            </a:endParaRPr>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35" name="TextBox 34">
            <a:extLst>
              <a:ext uri="{FF2B5EF4-FFF2-40B4-BE49-F238E27FC236}">
                <a16:creationId xmlns:a16="http://schemas.microsoft.com/office/drawing/2014/main" id="{2911B819-2B93-7966-68A3-EAFD09B74168}"/>
              </a:ext>
            </a:extLst>
          </p:cNvPr>
          <p:cNvSpPr txBox="1"/>
          <p:nvPr/>
        </p:nvSpPr>
        <p:spPr>
          <a:xfrm>
            <a:off x="295422" y="1626577"/>
            <a:ext cx="8637563" cy="923330"/>
          </a:xfrm>
          <a:prstGeom prst="rect">
            <a:avLst/>
          </a:prstGeom>
          <a:noFill/>
        </p:spPr>
        <p:txBody>
          <a:bodyPr wrap="square">
            <a:spAutoFit/>
          </a:bodyPr>
          <a:lstStyle/>
          <a:p>
            <a:r>
              <a:rPr lang="en-GB" dirty="0">
                <a:solidFill>
                  <a:schemeClr val="bg1"/>
                </a:solidFill>
              </a:rPr>
              <a:t>While phishing targets incoming emails, sensitive data breaches often occur through outgoing emails. Data Loss Prevention (DLP) protects organizations by detecting and blocking the accidental or intentional transmission of confidential information.</a:t>
            </a:r>
          </a:p>
        </p:txBody>
      </p:sp>
      <p:sp>
        <p:nvSpPr>
          <p:cNvPr id="37" name="TextBox 36">
            <a:extLst>
              <a:ext uri="{FF2B5EF4-FFF2-40B4-BE49-F238E27FC236}">
                <a16:creationId xmlns:a16="http://schemas.microsoft.com/office/drawing/2014/main" id="{366F5167-D48A-B193-A77C-463DD26AB6B9}"/>
              </a:ext>
            </a:extLst>
          </p:cNvPr>
          <p:cNvSpPr txBox="1"/>
          <p:nvPr/>
        </p:nvSpPr>
        <p:spPr>
          <a:xfrm>
            <a:off x="267286" y="1290711"/>
            <a:ext cx="4579034" cy="369332"/>
          </a:xfrm>
          <a:prstGeom prst="rect">
            <a:avLst/>
          </a:prstGeom>
          <a:noFill/>
        </p:spPr>
        <p:txBody>
          <a:bodyPr wrap="square">
            <a:spAutoFit/>
          </a:bodyPr>
          <a:lstStyle/>
          <a:p>
            <a:r>
              <a:rPr lang="en-GB" dirty="0">
                <a:solidFill>
                  <a:schemeClr val="bg1"/>
                </a:solidFill>
              </a:rPr>
              <a:t>Why DLP is Critical in Email Security?</a:t>
            </a:r>
          </a:p>
        </p:txBody>
      </p:sp>
      <p:sp>
        <p:nvSpPr>
          <p:cNvPr id="39" name="TextBox 38">
            <a:extLst>
              <a:ext uri="{FF2B5EF4-FFF2-40B4-BE49-F238E27FC236}">
                <a16:creationId xmlns:a16="http://schemas.microsoft.com/office/drawing/2014/main" id="{45B02EF4-6402-0FB2-0301-4C4EBB4F52D3}"/>
              </a:ext>
            </a:extLst>
          </p:cNvPr>
          <p:cNvSpPr txBox="1"/>
          <p:nvPr/>
        </p:nvSpPr>
        <p:spPr>
          <a:xfrm>
            <a:off x="295422" y="893621"/>
            <a:ext cx="4579034" cy="307777"/>
          </a:xfrm>
          <a:prstGeom prst="rect">
            <a:avLst/>
          </a:prstGeom>
          <a:noFill/>
        </p:spPr>
        <p:txBody>
          <a:bodyPr wrap="square">
            <a:spAutoFit/>
          </a:bodyPr>
          <a:lstStyle/>
          <a:p>
            <a:r>
              <a:rPr lang="en-GB" sz="1400" dirty="0">
                <a:solidFill>
                  <a:schemeClr val="bg1"/>
                </a:solidFill>
              </a:rPr>
              <a:t>If phishing threatens your inbox, DLP protects your outbox.</a:t>
            </a:r>
          </a:p>
        </p:txBody>
      </p:sp>
      <p:graphicFrame>
        <p:nvGraphicFramePr>
          <p:cNvPr id="40" name="Table 39">
            <a:extLst>
              <a:ext uri="{FF2B5EF4-FFF2-40B4-BE49-F238E27FC236}">
                <a16:creationId xmlns:a16="http://schemas.microsoft.com/office/drawing/2014/main" id="{67DE08F9-E774-2581-7353-3A16BDF617F6}"/>
              </a:ext>
            </a:extLst>
          </p:cNvPr>
          <p:cNvGraphicFramePr>
            <a:graphicFrameLocks noGrp="1"/>
          </p:cNvGraphicFramePr>
          <p:nvPr>
            <p:extLst>
              <p:ext uri="{D42A27DB-BD31-4B8C-83A1-F6EECF244321}">
                <p14:modId xmlns:p14="http://schemas.microsoft.com/office/powerpoint/2010/main" val="2595068873"/>
              </p:ext>
            </p:extLst>
          </p:nvPr>
        </p:nvGraphicFramePr>
        <p:xfrm>
          <a:off x="1371600" y="2668993"/>
          <a:ext cx="6550096" cy="2247398"/>
        </p:xfrm>
        <a:graphic>
          <a:graphicData uri="http://schemas.openxmlformats.org/drawingml/2006/table">
            <a:tbl>
              <a:tblPr/>
              <a:tblGrid>
                <a:gridCol w="3275048">
                  <a:extLst>
                    <a:ext uri="{9D8B030D-6E8A-4147-A177-3AD203B41FA5}">
                      <a16:colId xmlns:a16="http://schemas.microsoft.com/office/drawing/2014/main" val="3711821873"/>
                    </a:ext>
                  </a:extLst>
                </a:gridCol>
                <a:gridCol w="3275048">
                  <a:extLst>
                    <a:ext uri="{9D8B030D-6E8A-4147-A177-3AD203B41FA5}">
                      <a16:colId xmlns:a16="http://schemas.microsoft.com/office/drawing/2014/main" val="1597999458"/>
                    </a:ext>
                  </a:extLst>
                </a:gridCol>
              </a:tblGrid>
              <a:tr h="179582">
                <a:tc>
                  <a:txBody>
                    <a:bodyPr/>
                    <a:lstStyle/>
                    <a:p>
                      <a:pPr>
                        <a:buNone/>
                      </a:pPr>
                      <a:r>
                        <a:rPr lang="en-GB" sz="1100">
                          <a:solidFill>
                            <a:schemeClr val="bg1"/>
                          </a:solidFill>
                        </a:rPr>
                        <a:t>Risk</a:t>
                      </a:r>
                    </a:p>
                  </a:txBody>
                  <a:tcPr marL="77674" marR="77674" marT="38837" marB="38837" anchor="ctr">
                    <a:lnL>
                      <a:noFill/>
                    </a:lnL>
                    <a:lnR>
                      <a:noFill/>
                    </a:lnR>
                    <a:lnT>
                      <a:noFill/>
                    </a:lnT>
                    <a:lnB>
                      <a:noFill/>
                    </a:lnB>
                    <a:noFill/>
                  </a:tcPr>
                </a:tc>
                <a:tc>
                  <a:txBody>
                    <a:bodyPr/>
                    <a:lstStyle/>
                    <a:p>
                      <a:pPr>
                        <a:buNone/>
                      </a:pPr>
                      <a:r>
                        <a:rPr lang="en-GB" sz="1100">
                          <a:solidFill>
                            <a:schemeClr val="bg1"/>
                          </a:solidFill>
                        </a:rPr>
                        <a:t>Description</a:t>
                      </a:r>
                    </a:p>
                  </a:txBody>
                  <a:tcPr marL="77674" marR="77674" marT="38837" marB="38837" anchor="ctr">
                    <a:lnL>
                      <a:noFill/>
                    </a:lnL>
                    <a:lnR>
                      <a:noFill/>
                    </a:lnR>
                    <a:lnT>
                      <a:noFill/>
                    </a:lnT>
                    <a:lnB>
                      <a:noFill/>
                    </a:lnB>
                    <a:noFill/>
                  </a:tcPr>
                </a:tc>
                <a:extLst>
                  <a:ext uri="{0D108BD9-81ED-4DB2-BD59-A6C34878D82A}">
                    <a16:rowId xmlns:a16="http://schemas.microsoft.com/office/drawing/2014/main" val="2138692505"/>
                  </a:ext>
                </a:extLst>
              </a:tr>
              <a:tr h="448954">
                <a:tc>
                  <a:txBody>
                    <a:bodyPr/>
                    <a:lstStyle/>
                    <a:p>
                      <a:pPr>
                        <a:buNone/>
                      </a:pPr>
                      <a:r>
                        <a:rPr lang="en-GB" sz="1100" b="1">
                          <a:solidFill>
                            <a:schemeClr val="bg1"/>
                          </a:solidFill>
                        </a:rPr>
                        <a:t>Human Error</a:t>
                      </a:r>
                      <a:endParaRPr lang="en-GB" sz="1100">
                        <a:solidFill>
                          <a:schemeClr val="bg1"/>
                        </a:solidFill>
                      </a:endParaRPr>
                    </a:p>
                  </a:txBody>
                  <a:tcPr marL="77674" marR="77674" marT="38837" marB="38837" anchor="ctr">
                    <a:lnL>
                      <a:noFill/>
                    </a:lnL>
                    <a:lnR>
                      <a:noFill/>
                    </a:lnR>
                    <a:lnT>
                      <a:noFill/>
                    </a:lnT>
                    <a:lnB>
                      <a:noFill/>
                    </a:lnB>
                    <a:noFill/>
                  </a:tcPr>
                </a:tc>
                <a:tc>
                  <a:txBody>
                    <a:bodyPr/>
                    <a:lstStyle/>
                    <a:p>
                      <a:pPr>
                        <a:buNone/>
                      </a:pPr>
                      <a:r>
                        <a:rPr lang="en-GB" sz="1100">
                          <a:solidFill>
                            <a:schemeClr val="bg1"/>
                          </a:solidFill>
                        </a:rPr>
                        <a:t>Employees may unintentionally send sensitive information to unauthorized recipients.</a:t>
                      </a:r>
                    </a:p>
                  </a:txBody>
                  <a:tcPr marL="77674" marR="77674" marT="38837" marB="38837" anchor="ctr">
                    <a:lnL>
                      <a:noFill/>
                    </a:lnL>
                    <a:lnR>
                      <a:noFill/>
                    </a:lnR>
                    <a:lnT>
                      <a:noFill/>
                    </a:lnT>
                    <a:lnB>
                      <a:noFill/>
                    </a:lnB>
                    <a:noFill/>
                  </a:tcPr>
                </a:tc>
                <a:extLst>
                  <a:ext uri="{0D108BD9-81ED-4DB2-BD59-A6C34878D82A}">
                    <a16:rowId xmlns:a16="http://schemas.microsoft.com/office/drawing/2014/main" val="2331722774"/>
                  </a:ext>
                </a:extLst>
              </a:tr>
              <a:tr h="314268">
                <a:tc>
                  <a:txBody>
                    <a:bodyPr/>
                    <a:lstStyle/>
                    <a:p>
                      <a:pPr>
                        <a:buNone/>
                      </a:pPr>
                      <a:r>
                        <a:rPr lang="en-GB" sz="1100" b="1">
                          <a:solidFill>
                            <a:schemeClr val="bg1"/>
                          </a:solidFill>
                        </a:rPr>
                        <a:t>Insider Threats</a:t>
                      </a:r>
                      <a:endParaRPr lang="en-GB" sz="1100">
                        <a:solidFill>
                          <a:schemeClr val="bg1"/>
                        </a:solidFill>
                      </a:endParaRPr>
                    </a:p>
                  </a:txBody>
                  <a:tcPr marL="77674" marR="77674" marT="38837" marB="38837" anchor="ctr">
                    <a:lnL>
                      <a:noFill/>
                    </a:lnL>
                    <a:lnR>
                      <a:noFill/>
                    </a:lnR>
                    <a:lnT>
                      <a:noFill/>
                    </a:lnT>
                    <a:lnB>
                      <a:noFill/>
                    </a:lnB>
                    <a:noFill/>
                  </a:tcPr>
                </a:tc>
                <a:tc>
                  <a:txBody>
                    <a:bodyPr/>
                    <a:lstStyle/>
                    <a:p>
                      <a:pPr>
                        <a:buNone/>
                      </a:pPr>
                      <a:r>
                        <a:rPr lang="en-GB" sz="1100">
                          <a:solidFill>
                            <a:schemeClr val="bg1"/>
                          </a:solidFill>
                        </a:rPr>
                        <a:t>Malicious insiders may intentionally exfiltrate confidential data.</a:t>
                      </a:r>
                    </a:p>
                  </a:txBody>
                  <a:tcPr marL="77674" marR="77674" marT="38837" marB="38837" anchor="ctr">
                    <a:lnL>
                      <a:noFill/>
                    </a:lnL>
                    <a:lnR>
                      <a:noFill/>
                    </a:lnR>
                    <a:lnT>
                      <a:noFill/>
                    </a:lnT>
                    <a:lnB>
                      <a:noFill/>
                    </a:lnB>
                    <a:noFill/>
                  </a:tcPr>
                </a:tc>
                <a:extLst>
                  <a:ext uri="{0D108BD9-81ED-4DB2-BD59-A6C34878D82A}">
                    <a16:rowId xmlns:a16="http://schemas.microsoft.com/office/drawing/2014/main" val="1034185926"/>
                  </a:ext>
                </a:extLst>
              </a:tr>
              <a:tr h="314268">
                <a:tc>
                  <a:txBody>
                    <a:bodyPr/>
                    <a:lstStyle/>
                    <a:p>
                      <a:pPr>
                        <a:buNone/>
                      </a:pPr>
                      <a:r>
                        <a:rPr lang="en-GB" sz="1100" b="1">
                          <a:solidFill>
                            <a:schemeClr val="bg1"/>
                          </a:solidFill>
                        </a:rPr>
                        <a:t>Misaddressed Emails</a:t>
                      </a:r>
                      <a:endParaRPr lang="en-GB" sz="1100">
                        <a:solidFill>
                          <a:schemeClr val="bg1"/>
                        </a:solidFill>
                      </a:endParaRPr>
                    </a:p>
                  </a:txBody>
                  <a:tcPr marL="77674" marR="77674" marT="38837" marB="38837" anchor="ctr">
                    <a:lnL>
                      <a:noFill/>
                    </a:lnL>
                    <a:lnR>
                      <a:noFill/>
                    </a:lnR>
                    <a:lnT>
                      <a:noFill/>
                    </a:lnT>
                    <a:lnB>
                      <a:noFill/>
                    </a:lnB>
                    <a:noFill/>
                  </a:tcPr>
                </a:tc>
                <a:tc>
                  <a:txBody>
                    <a:bodyPr/>
                    <a:lstStyle/>
                    <a:p>
                      <a:pPr>
                        <a:buNone/>
                      </a:pPr>
                      <a:r>
                        <a:rPr lang="en-GB" sz="1100">
                          <a:solidFill>
                            <a:schemeClr val="bg1"/>
                          </a:solidFill>
                        </a:rPr>
                        <a:t>Incorrect recipients can lead to severe data breaches.</a:t>
                      </a:r>
                    </a:p>
                  </a:txBody>
                  <a:tcPr marL="77674" marR="77674" marT="38837" marB="38837" anchor="ctr">
                    <a:lnL>
                      <a:noFill/>
                    </a:lnL>
                    <a:lnR>
                      <a:noFill/>
                    </a:lnR>
                    <a:lnT>
                      <a:noFill/>
                    </a:lnT>
                    <a:lnB>
                      <a:noFill/>
                    </a:lnB>
                    <a:noFill/>
                  </a:tcPr>
                </a:tc>
                <a:extLst>
                  <a:ext uri="{0D108BD9-81ED-4DB2-BD59-A6C34878D82A}">
                    <a16:rowId xmlns:a16="http://schemas.microsoft.com/office/drawing/2014/main" val="3380781762"/>
                  </a:ext>
                </a:extLst>
              </a:tr>
              <a:tr h="314268">
                <a:tc>
                  <a:txBody>
                    <a:bodyPr/>
                    <a:lstStyle/>
                    <a:p>
                      <a:pPr>
                        <a:buNone/>
                      </a:pPr>
                      <a:r>
                        <a:rPr lang="en-GB" sz="1100" b="1">
                          <a:solidFill>
                            <a:schemeClr val="bg1"/>
                          </a:solidFill>
                        </a:rPr>
                        <a:t>Unsecured Attachments</a:t>
                      </a:r>
                      <a:endParaRPr lang="en-GB" sz="1100">
                        <a:solidFill>
                          <a:schemeClr val="bg1"/>
                        </a:solidFill>
                      </a:endParaRPr>
                    </a:p>
                  </a:txBody>
                  <a:tcPr marL="77674" marR="77674" marT="38837" marB="38837" anchor="ctr">
                    <a:lnL>
                      <a:noFill/>
                    </a:lnL>
                    <a:lnR>
                      <a:noFill/>
                    </a:lnR>
                    <a:lnT>
                      <a:noFill/>
                    </a:lnT>
                    <a:lnB>
                      <a:noFill/>
                    </a:lnB>
                    <a:noFill/>
                  </a:tcPr>
                </a:tc>
                <a:tc>
                  <a:txBody>
                    <a:bodyPr/>
                    <a:lstStyle/>
                    <a:p>
                      <a:pPr>
                        <a:buNone/>
                      </a:pPr>
                      <a:r>
                        <a:rPr lang="en-GB" sz="1100">
                          <a:solidFill>
                            <a:schemeClr val="bg1"/>
                          </a:solidFill>
                        </a:rPr>
                        <a:t>Sensitive files may be shared without encryption or authorization.</a:t>
                      </a:r>
                    </a:p>
                  </a:txBody>
                  <a:tcPr marL="77674" marR="77674" marT="38837" marB="38837" anchor="ctr">
                    <a:lnL>
                      <a:noFill/>
                    </a:lnL>
                    <a:lnR>
                      <a:noFill/>
                    </a:lnR>
                    <a:lnT>
                      <a:noFill/>
                    </a:lnT>
                    <a:lnB>
                      <a:noFill/>
                    </a:lnB>
                    <a:noFill/>
                  </a:tcPr>
                </a:tc>
                <a:extLst>
                  <a:ext uri="{0D108BD9-81ED-4DB2-BD59-A6C34878D82A}">
                    <a16:rowId xmlns:a16="http://schemas.microsoft.com/office/drawing/2014/main" val="2559416255"/>
                  </a:ext>
                </a:extLst>
              </a:tr>
              <a:tr h="314268">
                <a:tc>
                  <a:txBody>
                    <a:bodyPr/>
                    <a:lstStyle/>
                    <a:p>
                      <a:pPr>
                        <a:buNone/>
                      </a:pPr>
                      <a:r>
                        <a:rPr lang="en-GB" sz="1100" b="1">
                          <a:solidFill>
                            <a:schemeClr val="bg1"/>
                          </a:solidFill>
                        </a:rPr>
                        <a:t>Lack of Awareness</a:t>
                      </a:r>
                      <a:endParaRPr lang="en-GB" sz="1100">
                        <a:solidFill>
                          <a:schemeClr val="bg1"/>
                        </a:solidFill>
                      </a:endParaRPr>
                    </a:p>
                  </a:txBody>
                  <a:tcPr marL="77674" marR="77674" marT="38837" marB="38837" anchor="ctr">
                    <a:lnL>
                      <a:noFill/>
                    </a:lnL>
                    <a:lnR>
                      <a:noFill/>
                    </a:lnR>
                    <a:lnT>
                      <a:noFill/>
                    </a:lnT>
                    <a:lnB>
                      <a:noFill/>
                    </a:lnB>
                    <a:noFill/>
                  </a:tcPr>
                </a:tc>
                <a:tc>
                  <a:txBody>
                    <a:bodyPr/>
                    <a:lstStyle/>
                    <a:p>
                      <a:pPr>
                        <a:buNone/>
                      </a:pPr>
                      <a:r>
                        <a:rPr lang="en-GB" sz="1100" dirty="0">
                          <a:solidFill>
                            <a:schemeClr val="bg1"/>
                          </a:solidFill>
                        </a:rPr>
                        <a:t>Users may unknowingly violate data protection policies.</a:t>
                      </a:r>
                    </a:p>
                  </a:txBody>
                  <a:tcPr marL="77674" marR="77674" marT="38837" marB="38837" anchor="ctr">
                    <a:lnL>
                      <a:noFill/>
                    </a:lnL>
                    <a:lnR>
                      <a:noFill/>
                    </a:lnR>
                    <a:lnT>
                      <a:noFill/>
                    </a:lnT>
                    <a:lnB>
                      <a:noFill/>
                    </a:lnB>
                    <a:noFill/>
                  </a:tcPr>
                </a:tc>
                <a:extLst>
                  <a:ext uri="{0D108BD9-81ED-4DB2-BD59-A6C34878D82A}">
                    <a16:rowId xmlns:a16="http://schemas.microsoft.com/office/drawing/2014/main" val="83711409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03 · INDICATOR ENGINE</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Phishing Indicator Engine — 12 Detectors</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Text 6"/>
          <p:cNvSpPr/>
          <p:nvPr/>
        </p:nvSpPr>
        <p:spPr>
          <a:xfrm>
            <a:off x="365760" y="1234440"/>
            <a:ext cx="8412480" cy="256032"/>
          </a:xfrm>
          <a:prstGeom prst="rect">
            <a:avLst/>
          </a:prstGeom>
          <a:noFill/>
          <a:ln/>
        </p:spPr>
        <p:txBody>
          <a:bodyPr wrap="square" lIns="0" tIns="0" rIns="0" bIns="0" rtlCol="0" anchor="ctr"/>
          <a:lstStyle/>
          <a:p>
            <a:pPr marL="0" indent="0">
              <a:buNone/>
            </a:pPr>
            <a:r>
              <a:rPr lang="en-US" sz="1200" dirty="0">
                <a:solidFill>
                  <a:srgbClr val="5A8FAA"/>
                </a:solidFill>
                <a:latin typeface="Calibri" pitchFamily="34" charset="0"/>
                <a:ea typeface="Calibri" pitchFamily="34" charset="-122"/>
                <a:cs typeface="Calibri" pitchFamily="34" charset="-120"/>
              </a:rPr>
              <a:t>Each detector runs independently and returns a list of matches. Any non-empty list adds its weight to the total risk score.</a:t>
            </a:r>
            <a:endParaRPr lang="en-US" sz="1200" dirty="0"/>
          </a:p>
        </p:txBody>
      </p:sp>
      <p:sp>
        <p:nvSpPr>
          <p:cNvPr id="9" name="Shape 7"/>
          <p:cNvSpPr/>
          <p:nvPr/>
        </p:nvSpPr>
        <p:spPr>
          <a:xfrm>
            <a:off x="365760" y="1572768"/>
            <a:ext cx="8412480" cy="274320"/>
          </a:xfrm>
          <a:prstGeom prst="rect">
            <a:avLst/>
          </a:prstGeom>
          <a:solidFill>
            <a:srgbClr val="112B47"/>
          </a:solidFill>
          <a:ln w="12700">
            <a:solidFill>
              <a:srgbClr val="112B47"/>
            </a:solidFill>
            <a:prstDash val="solid"/>
          </a:ln>
        </p:spPr>
      </p:sp>
      <p:sp>
        <p:nvSpPr>
          <p:cNvPr id="10" name="Text 8"/>
          <p:cNvSpPr/>
          <p:nvPr/>
        </p:nvSpPr>
        <p:spPr>
          <a:xfrm>
            <a:off x="502920" y="1600200"/>
            <a:ext cx="2926080" cy="219456"/>
          </a:xfrm>
          <a:prstGeom prst="rect">
            <a:avLst/>
          </a:prstGeom>
          <a:noFill/>
          <a:ln/>
        </p:spPr>
        <p:txBody>
          <a:bodyPr wrap="square" lIns="0" tIns="0" rIns="0" bIns="0" rtlCol="0" anchor="ctr"/>
          <a:lstStyle/>
          <a:p>
            <a:pPr marL="0" indent="0">
              <a:buNone/>
            </a:pPr>
            <a:r>
              <a:rPr lang="en-US" sz="900" b="1" kern="0" spc="200" dirty="0">
                <a:solidFill>
                  <a:srgbClr val="5A8FAA"/>
                </a:solidFill>
                <a:latin typeface="Calibri" pitchFamily="34" charset="0"/>
                <a:ea typeface="Calibri" pitchFamily="34" charset="-122"/>
                <a:cs typeface="Calibri" pitchFamily="34" charset="-120"/>
              </a:rPr>
              <a:t>Detector</a:t>
            </a:r>
            <a:endParaRPr lang="en-US" sz="900" dirty="0"/>
          </a:p>
        </p:txBody>
      </p:sp>
      <p:sp>
        <p:nvSpPr>
          <p:cNvPr id="11" name="Text 9"/>
          <p:cNvSpPr/>
          <p:nvPr/>
        </p:nvSpPr>
        <p:spPr>
          <a:xfrm>
            <a:off x="3474720" y="1600200"/>
            <a:ext cx="3566160" cy="219456"/>
          </a:xfrm>
          <a:prstGeom prst="rect">
            <a:avLst/>
          </a:prstGeom>
          <a:noFill/>
          <a:ln/>
        </p:spPr>
        <p:txBody>
          <a:bodyPr wrap="square" lIns="0" tIns="0" rIns="0" bIns="0" rtlCol="0" anchor="ctr"/>
          <a:lstStyle/>
          <a:p>
            <a:pPr marL="0" indent="0">
              <a:buNone/>
            </a:pPr>
            <a:r>
              <a:rPr lang="en-US" sz="900" b="1" kern="0" spc="200" dirty="0">
                <a:solidFill>
                  <a:srgbClr val="5A8FAA"/>
                </a:solidFill>
                <a:latin typeface="Calibri" pitchFamily="34" charset="0"/>
                <a:ea typeface="Calibri" pitchFamily="34" charset="-122"/>
                <a:cs typeface="Calibri" pitchFamily="34" charset="-120"/>
              </a:rPr>
              <a:t>What It Checks</a:t>
            </a:r>
            <a:endParaRPr lang="en-US" sz="900" dirty="0"/>
          </a:p>
        </p:txBody>
      </p:sp>
      <p:sp>
        <p:nvSpPr>
          <p:cNvPr id="12" name="Text 10"/>
          <p:cNvSpPr/>
          <p:nvPr/>
        </p:nvSpPr>
        <p:spPr>
          <a:xfrm>
            <a:off x="7086600" y="1600200"/>
            <a:ext cx="914400" cy="219456"/>
          </a:xfrm>
          <a:prstGeom prst="rect">
            <a:avLst/>
          </a:prstGeom>
          <a:noFill/>
          <a:ln/>
        </p:spPr>
        <p:txBody>
          <a:bodyPr wrap="square" lIns="0" tIns="0" rIns="0" bIns="0" rtlCol="0" anchor="ctr"/>
          <a:lstStyle/>
          <a:p>
            <a:pPr marL="0" indent="0" algn="ctr">
              <a:buNone/>
            </a:pPr>
            <a:r>
              <a:rPr lang="en-US" sz="900" b="1" kern="0" spc="200" dirty="0">
                <a:solidFill>
                  <a:srgbClr val="5A8FAA"/>
                </a:solidFill>
                <a:latin typeface="Calibri" pitchFamily="34" charset="0"/>
                <a:ea typeface="Calibri" pitchFamily="34" charset="-122"/>
                <a:cs typeface="Calibri" pitchFamily="34" charset="-120"/>
              </a:rPr>
              <a:t>Weight</a:t>
            </a:r>
            <a:endParaRPr lang="en-US" sz="900" dirty="0"/>
          </a:p>
        </p:txBody>
      </p:sp>
      <p:sp>
        <p:nvSpPr>
          <p:cNvPr id="13" name="Text 11"/>
          <p:cNvSpPr/>
          <p:nvPr/>
        </p:nvSpPr>
        <p:spPr>
          <a:xfrm>
            <a:off x="8046720" y="1600200"/>
            <a:ext cx="685800" cy="219456"/>
          </a:xfrm>
          <a:prstGeom prst="rect">
            <a:avLst/>
          </a:prstGeom>
          <a:noFill/>
          <a:ln/>
        </p:spPr>
        <p:txBody>
          <a:bodyPr wrap="square" lIns="0" tIns="0" rIns="0" bIns="0" rtlCol="0" anchor="ctr"/>
          <a:lstStyle/>
          <a:p>
            <a:pPr marL="0" indent="0" algn="ctr">
              <a:buNone/>
            </a:pPr>
            <a:r>
              <a:rPr lang="en-US" sz="900" b="1" kern="0" spc="200" dirty="0">
                <a:solidFill>
                  <a:srgbClr val="5A8FAA"/>
                </a:solidFill>
                <a:latin typeface="Calibri" pitchFamily="34" charset="0"/>
                <a:ea typeface="Calibri" pitchFamily="34" charset="-122"/>
                <a:cs typeface="Calibri" pitchFamily="34" charset="-120"/>
              </a:rPr>
              <a:t>Signal</a:t>
            </a:r>
            <a:endParaRPr lang="en-US" sz="900" dirty="0"/>
          </a:p>
        </p:txBody>
      </p:sp>
      <p:sp>
        <p:nvSpPr>
          <p:cNvPr id="14" name="Shape 12"/>
          <p:cNvSpPr/>
          <p:nvPr/>
        </p:nvSpPr>
        <p:spPr>
          <a:xfrm>
            <a:off x="365760" y="1883664"/>
            <a:ext cx="8412480" cy="246888"/>
          </a:xfrm>
          <a:prstGeom prst="rect">
            <a:avLst/>
          </a:prstGeom>
          <a:solidFill>
            <a:srgbClr val="080F1C"/>
          </a:solidFill>
          <a:ln w="12700">
            <a:solidFill>
              <a:srgbClr val="112B47"/>
            </a:solidFill>
            <a:prstDash val="solid"/>
          </a:ln>
        </p:spPr>
      </p:sp>
      <p:sp>
        <p:nvSpPr>
          <p:cNvPr id="15" name="Shape 13"/>
          <p:cNvSpPr/>
          <p:nvPr/>
        </p:nvSpPr>
        <p:spPr>
          <a:xfrm>
            <a:off x="365760" y="1883664"/>
            <a:ext cx="41148" cy="246888"/>
          </a:xfrm>
          <a:prstGeom prst="rect">
            <a:avLst/>
          </a:prstGeom>
          <a:solidFill>
            <a:srgbClr val="E63946"/>
          </a:solidFill>
          <a:ln w="12700">
            <a:solidFill>
              <a:srgbClr val="E63946"/>
            </a:solidFill>
            <a:prstDash val="solid"/>
          </a:ln>
        </p:spPr>
      </p:sp>
      <p:sp>
        <p:nvSpPr>
          <p:cNvPr id="16" name="Text 14"/>
          <p:cNvSpPr/>
          <p:nvPr/>
        </p:nvSpPr>
        <p:spPr>
          <a:xfrm>
            <a:off x="502920" y="1920240"/>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HTML Form Detector</a:t>
            </a:r>
            <a:endParaRPr lang="en-US" sz="1000" dirty="0"/>
          </a:p>
        </p:txBody>
      </p:sp>
      <p:sp>
        <p:nvSpPr>
          <p:cNvPr id="17" name="Text 15"/>
          <p:cNvSpPr/>
          <p:nvPr/>
        </p:nvSpPr>
        <p:spPr>
          <a:xfrm>
            <a:off x="3474720" y="1920240"/>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&lt;form&gt;/&lt;input&gt; tags inside email body — credential harvesting</a:t>
            </a:r>
            <a:endParaRPr lang="en-US" sz="950" dirty="0"/>
          </a:p>
        </p:txBody>
      </p:sp>
      <p:sp>
        <p:nvSpPr>
          <p:cNvPr id="18" name="Shape 16"/>
          <p:cNvSpPr/>
          <p:nvPr/>
        </p:nvSpPr>
        <p:spPr>
          <a:xfrm>
            <a:off x="7114032" y="1920240"/>
            <a:ext cx="402336" cy="182880"/>
          </a:xfrm>
          <a:prstGeom prst="rect">
            <a:avLst/>
          </a:prstGeom>
          <a:solidFill>
            <a:srgbClr val="E63946"/>
          </a:solidFill>
          <a:ln w="12700">
            <a:solidFill>
              <a:srgbClr val="E63946"/>
            </a:solidFill>
            <a:prstDash val="solid"/>
          </a:ln>
        </p:spPr>
      </p:sp>
      <p:sp>
        <p:nvSpPr>
          <p:cNvPr id="19" name="Text 17"/>
          <p:cNvSpPr/>
          <p:nvPr/>
        </p:nvSpPr>
        <p:spPr>
          <a:xfrm>
            <a:off x="7114032" y="1920240"/>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3</a:t>
            </a:r>
            <a:endParaRPr lang="en-US" sz="950" dirty="0"/>
          </a:p>
        </p:txBody>
      </p:sp>
      <p:sp>
        <p:nvSpPr>
          <p:cNvPr id="20" name="Shape 18"/>
          <p:cNvSpPr/>
          <p:nvPr/>
        </p:nvSpPr>
        <p:spPr>
          <a:xfrm>
            <a:off x="8065008" y="1920240"/>
            <a:ext cx="640080" cy="182880"/>
          </a:xfrm>
          <a:prstGeom prst="rect">
            <a:avLst/>
          </a:prstGeom>
          <a:solidFill>
            <a:srgbClr val="E63946">
              <a:alpha val="30000"/>
            </a:srgbClr>
          </a:solidFill>
          <a:ln w="12700">
            <a:solidFill>
              <a:srgbClr val="E63946"/>
            </a:solidFill>
            <a:prstDash val="solid"/>
          </a:ln>
        </p:spPr>
      </p:sp>
      <p:sp>
        <p:nvSpPr>
          <p:cNvPr id="21" name="Text 19"/>
          <p:cNvSpPr/>
          <p:nvPr/>
        </p:nvSpPr>
        <p:spPr>
          <a:xfrm>
            <a:off x="8065008" y="1920240"/>
            <a:ext cx="640080" cy="182880"/>
          </a:xfrm>
          <a:prstGeom prst="rect">
            <a:avLst/>
          </a:prstGeom>
          <a:noFill/>
          <a:ln/>
        </p:spPr>
        <p:txBody>
          <a:bodyPr wrap="square" lIns="0" tIns="0" rIns="0" bIns="0" rtlCol="0" anchor="ctr"/>
          <a:lstStyle/>
          <a:p>
            <a:pPr marL="0" indent="0" algn="ctr">
              <a:buNone/>
            </a:pPr>
            <a:r>
              <a:rPr lang="en-US" sz="800" b="1" dirty="0">
                <a:solidFill>
                  <a:srgbClr val="E63946"/>
                </a:solidFill>
                <a:latin typeface="Calibri" pitchFamily="34" charset="0"/>
                <a:ea typeface="Calibri" pitchFamily="34" charset="-122"/>
                <a:cs typeface="Calibri" pitchFamily="34" charset="-120"/>
              </a:rPr>
              <a:t>HIGH</a:t>
            </a:r>
            <a:endParaRPr lang="en-US" sz="800" dirty="0"/>
          </a:p>
        </p:txBody>
      </p:sp>
      <p:sp>
        <p:nvSpPr>
          <p:cNvPr id="22" name="Shape 20"/>
          <p:cNvSpPr/>
          <p:nvPr/>
        </p:nvSpPr>
        <p:spPr>
          <a:xfrm>
            <a:off x="365760" y="2144268"/>
            <a:ext cx="8412480" cy="246888"/>
          </a:xfrm>
          <a:prstGeom prst="rect">
            <a:avLst/>
          </a:prstGeom>
          <a:solidFill>
            <a:srgbClr val="0A1A2E"/>
          </a:solidFill>
          <a:ln w="12700">
            <a:solidFill>
              <a:srgbClr val="112B47"/>
            </a:solidFill>
            <a:prstDash val="solid"/>
          </a:ln>
        </p:spPr>
      </p:sp>
      <p:sp>
        <p:nvSpPr>
          <p:cNvPr id="23" name="Shape 21"/>
          <p:cNvSpPr/>
          <p:nvPr/>
        </p:nvSpPr>
        <p:spPr>
          <a:xfrm>
            <a:off x="365760" y="2144268"/>
            <a:ext cx="41148" cy="246888"/>
          </a:xfrm>
          <a:prstGeom prst="rect">
            <a:avLst/>
          </a:prstGeom>
          <a:solidFill>
            <a:srgbClr val="E63946"/>
          </a:solidFill>
          <a:ln w="12700">
            <a:solidFill>
              <a:srgbClr val="E63946"/>
            </a:solidFill>
            <a:prstDash val="solid"/>
          </a:ln>
        </p:spPr>
      </p:sp>
      <p:sp>
        <p:nvSpPr>
          <p:cNvPr id="24" name="Text 22"/>
          <p:cNvSpPr/>
          <p:nvPr/>
        </p:nvSpPr>
        <p:spPr>
          <a:xfrm>
            <a:off x="502920" y="2180844"/>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Phishing Template Match</a:t>
            </a:r>
            <a:endParaRPr lang="en-US" sz="1000" dirty="0"/>
          </a:p>
        </p:txBody>
      </p:sp>
      <p:sp>
        <p:nvSpPr>
          <p:cNvPr id="25" name="Text 23"/>
          <p:cNvSpPr/>
          <p:nvPr/>
        </p:nvSpPr>
        <p:spPr>
          <a:xfrm>
            <a:off x="3474720" y="2180844"/>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Regex patterns: DHL, Tax Refund, 419 scam, Crypto Giveaway</a:t>
            </a:r>
            <a:endParaRPr lang="en-US" sz="950" dirty="0"/>
          </a:p>
        </p:txBody>
      </p:sp>
      <p:sp>
        <p:nvSpPr>
          <p:cNvPr id="26" name="Shape 24"/>
          <p:cNvSpPr/>
          <p:nvPr/>
        </p:nvSpPr>
        <p:spPr>
          <a:xfrm>
            <a:off x="7114032" y="2180844"/>
            <a:ext cx="402336" cy="182880"/>
          </a:xfrm>
          <a:prstGeom prst="rect">
            <a:avLst/>
          </a:prstGeom>
          <a:solidFill>
            <a:srgbClr val="E63946"/>
          </a:solidFill>
          <a:ln w="12700">
            <a:solidFill>
              <a:srgbClr val="E63946"/>
            </a:solidFill>
            <a:prstDash val="solid"/>
          </a:ln>
        </p:spPr>
      </p:sp>
      <p:sp>
        <p:nvSpPr>
          <p:cNvPr id="27" name="Text 25"/>
          <p:cNvSpPr/>
          <p:nvPr/>
        </p:nvSpPr>
        <p:spPr>
          <a:xfrm>
            <a:off x="7114032" y="2180844"/>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3</a:t>
            </a:r>
            <a:endParaRPr lang="en-US" sz="950" dirty="0"/>
          </a:p>
        </p:txBody>
      </p:sp>
      <p:sp>
        <p:nvSpPr>
          <p:cNvPr id="28" name="Shape 26"/>
          <p:cNvSpPr/>
          <p:nvPr/>
        </p:nvSpPr>
        <p:spPr>
          <a:xfrm>
            <a:off x="8065008" y="2180844"/>
            <a:ext cx="640080" cy="182880"/>
          </a:xfrm>
          <a:prstGeom prst="rect">
            <a:avLst/>
          </a:prstGeom>
          <a:solidFill>
            <a:srgbClr val="E63946">
              <a:alpha val="30000"/>
            </a:srgbClr>
          </a:solidFill>
          <a:ln w="12700">
            <a:solidFill>
              <a:srgbClr val="E63946"/>
            </a:solidFill>
            <a:prstDash val="solid"/>
          </a:ln>
        </p:spPr>
      </p:sp>
      <p:sp>
        <p:nvSpPr>
          <p:cNvPr id="29" name="Text 27"/>
          <p:cNvSpPr/>
          <p:nvPr/>
        </p:nvSpPr>
        <p:spPr>
          <a:xfrm>
            <a:off x="8065008" y="2180844"/>
            <a:ext cx="640080" cy="182880"/>
          </a:xfrm>
          <a:prstGeom prst="rect">
            <a:avLst/>
          </a:prstGeom>
          <a:noFill/>
          <a:ln/>
        </p:spPr>
        <p:txBody>
          <a:bodyPr wrap="square" lIns="0" tIns="0" rIns="0" bIns="0" rtlCol="0" anchor="ctr"/>
          <a:lstStyle/>
          <a:p>
            <a:pPr marL="0" indent="0" algn="ctr">
              <a:buNone/>
            </a:pPr>
            <a:r>
              <a:rPr lang="en-US" sz="800" b="1" dirty="0">
                <a:solidFill>
                  <a:srgbClr val="E63946"/>
                </a:solidFill>
                <a:latin typeface="Calibri" pitchFamily="34" charset="0"/>
                <a:ea typeface="Calibri" pitchFamily="34" charset="-122"/>
                <a:cs typeface="Calibri" pitchFamily="34" charset="-120"/>
              </a:rPr>
              <a:t>HIGH</a:t>
            </a:r>
            <a:endParaRPr lang="en-US" sz="800" dirty="0"/>
          </a:p>
        </p:txBody>
      </p:sp>
      <p:sp>
        <p:nvSpPr>
          <p:cNvPr id="30" name="Shape 28"/>
          <p:cNvSpPr/>
          <p:nvPr/>
        </p:nvSpPr>
        <p:spPr>
          <a:xfrm>
            <a:off x="365760" y="2404872"/>
            <a:ext cx="8412480" cy="246888"/>
          </a:xfrm>
          <a:prstGeom prst="rect">
            <a:avLst/>
          </a:prstGeom>
          <a:solidFill>
            <a:srgbClr val="080F1C"/>
          </a:solidFill>
          <a:ln w="12700">
            <a:solidFill>
              <a:srgbClr val="112B47"/>
            </a:solidFill>
            <a:prstDash val="solid"/>
          </a:ln>
        </p:spPr>
      </p:sp>
      <p:sp>
        <p:nvSpPr>
          <p:cNvPr id="31" name="Shape 29"/>
          <p:cNvSpPr/>
          <p:nvPr/>
        </p:nvSpPr>
        <p:spPr>
          <a:xfrm>
            <a:off x="365760" y="2404872"/>
            <a:ext cx="41148" cy="246888"/>
          </a:xfrm>
          <a:prstGeom prst="rect">
            <a:avLst/>
          </a:prstGeom>
          <a:solidFill>
            <a:srgbClr val="E63946"/>
          </a:solidFill>
          <a:ln w="12700">
            <a:solidFill>
              <a:srgbClr val="E63946"/>
            </a:solidFill>
            <a:prstDash val="solid"/>
          </a:ln>
        </p:spPr>
      </p:sp>
      <p:sp>
        <p:nvSpPr>
          <p:cNvPr id="32" name="Text 30"/>
          <p:cNvSpPr/>
          <p:nvPr/>
        </p:nvSpPr>
        <p:spPr>
          <a:xfrm>
            <a:off x="502920" y="2441448"/>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Advance Fee Scam</a:t>
            </a:r>
            <a:endParaRPr lang="en-US" sz="1000" dirty="0"/>
          </a:p>
        </p:txBody>
      </p:sp>
      <p:sp>
        <p:nvSpPr>
          <p:cNvPr id="33" name="Text 31"/>
          <p:cNvSpPr/>
          <p:nvPr/>
        </p:nvSpPr>
        <p:spPr>
          <a:xfrm>
            <a:off x="3474720" y="2441448"/>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Keywords: 'late husband', 'Benin Republic', 'next of kin'</a:t>
            </a:r>
            <a:endParaRPr lang="en-US" sz="950" dirty="0"/>
          </a:p>
        </p:txBody>
      </p:sp>
      <p:sp>
        <p:nvSpPr>
          <p:cNvPr id="34" name="Shape 32"/>
          <p:cNvSpPr/>
          <p:nvPr/>
        </p:nvSpPr>
        <p:spPr>
          <a:xfrm>
            <a:off x="7114032" y="2441448"/>
            <a:ext cx="402336" cy="182880"/>
          </a:xfrm>
          <a:prstGeom prst="rect">
            <a:avLst/>
          </a:prstGeom>
          <a:solidFill>
            <a:srgbClr val="E63946"/>
          </a:solidFill>
          <a:ln w="12700">
            <a:solidFill>
              <a:srgbClr val="E63946"/>
            </a:solidFill>
            <a:prstDash val="solid"/>
          </a:ln>
        </p:spPr>
      </p:sp>
      <p:sp>
        <p:nvSpPr>
          <p:cNvPr id="35" name="Text 33"/>
          <p:cNvSpPr/>
          <p:nvPr/>
        </p:nvSpPr>
        <p:spPr>
          <a:xfrm>
            <a:off x="7114032" y="2441448"/>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3</a:t>
            </a:r>
            <a:endParaRPr lang="en-US" sz="950" dirty="0"/>
          </a:p>
        </p:txBody>
      </p:sp>
      <p:sp>
        <p:nvSpPr>
          <p:cNvPr id="36" name="Shape 34"/>
          <p:cNvSpPr/>
          <p:nvPr/>
        </p:nvSpPr>
        <p:spPr>
          <a:xfrm>
            <a:off x="8065008" y="2441448"/>
            <a:ext cx="640080" cy="182880"/>
          </a:xfrm>
          <a:prstGeom prst="rect">
            <a:avLst/>
          </a:prstGeom>
          <a:solidFill>
            <a:srgbClr val="E63946">
              <a:alpha val="30000"/>
            </a:srgbClr>
          </a:solidFill>
          <a:ln w="12700">
            <a:solidFill>
              <a:srgbClr val="E63946"/>
            </a:solidFill>
            <a:prstDash val="solid"/>
          </a:ln>
        </p:spPr>
      </p:sp>
      <p:sp>
        <p:nvSpPr>
          <p:cNvPr id="37" name="Text 35"/>
          <p:cNvSpPr/>
          <p:nvPr/>
        </p:nvSpPr>
        <p:spPr>
          <a:xfrm>
            <a:off x="8065008" y="2441448"/>
            <a:ext cx="640080" cy="182880"/>
          </a:xfrm>
          <a:prstGeom prst="rect">
            <a:avLst/>
          </a:prstGeom>
          <a:noFill/>
          <a:ln/>
        </p:spPr>
        <p:txBody>
          <a:bodyPr wrap="square" lIns="0" tIns="0" rIns="0" bIns="0" rtlCol="0" anchor="ctr"/>
          <a:lstStyle/>
          <a:p>
            <a:pPr marL="0" indent="0" algn="ctr">
              <a:buNone/>
            </a:pPr>
            <a:r>
              <a:rPr lang="en-US" sz="800" b="1" dirty="0">
                <a:solidFill>
                  <a:srgbClr val="E63946"/>
                </a:solidFill>
                <a:latin typeface="Calibri" pitchFamily="34" charset="0"/>
                <a:ea typeface="Calibri" pitchFamily="34" charset="-122"/>
                <a:cs typeface="Calibri" pitchFamily="34" charset="-120"/>
              </a:rPr>
              <a:t>HIGH</a:t>
            </a:r>
            <a:endParaRPr lang="en-US" sz="800" dirty="0"/>
          </a:p>
        </p:txBody>
      </p:sp>
      <p:sp>
        <p:nvSpPr>
          <p:cNvPr id="38" name="Shape 36"/>
          <p:cNvSpPr/>
          <p:nvPr/>
        </p:nvSpPr>
        <p:spPr>
          <a:xfrm>
            <a:off x="365760" y="2665476"/>
            <a:ext cx="8412480" cy="246888"/>
          </a:xfrm>
          <a:prstGeom prst="rect">
            <a:avLst/>
          </a:prstGeom>
          <a:solidFill>
            <a:srgbClr val="0A1A2E"/>
          </a:solidFill>
          <a:ln w="12700">
            <a:solidFill>
              <a:srgbClr val="112B47"/>
            </a:solidFill>
            <a:prstDash val="solid"/>
          </a:ln>
        </p:spPr>
      </p:sp>
      <p:sp>
        <p:nvSpPr>
          <p:cNvPr id="39" name="Shape 37"/>
          <p:cNvSpPr/>
          <p:nvPr/>
        </p:nvSpPr>
        <p:spPr>
          <a:xfrm>
            <a:off x="365760" y="2665476"/>
            <a:ext cx="41148" cy="246888"/>
          </a:xfrm>
          <a:prstGeom prst="rect">
            <a:avLst/>
          </a:prstGeom>
          <a:solidFill>
            <a:srgbClr val="E63946"/>
          </a:solidFill>
          <a:ln w="12700">
            <a:solidFill>
              <a:srgbClr val="E63946"/>
            </a:solidFill>
            <a:prstDash val="solid"/>
          </a:ln>
        </p:spPr>
      </p:sp>
      <p:sp>
        <p:nvSpPr>
          <p:cNvPr id="40" name="Text 38"/>
          <p:cNvSpPr/>
          <p:nvPr/>
        </p:nvSpPr>
        <p:spPr>
          <a:xfrm>
            <a:off x="502920" y="2702052"/>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Crypto Bait</a:t>
            </a:r>
            <a:endParaRPr lang="en-US" sz="1000" dirty="0"/>
          </a:p>
        </p:txBody>
      </p:sp>
      <p:sp>
        <p:nvSpPr>
          <p:cNvPr id="41" name="Text 39"/>
          <p:cNvSpPr/>
          <p:nvPr/>
        </p:nvSpPr>
        <p:spPr>
          <a:xfrm>
            <a:off x="3474720" y="2702052"/>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Keywords: airdrop, wallet, claim BTC — from non-trusted domain</a:t>
            </a:r>
            <a:endParaRPr lang="en-US" sz="950" dirty="0"/>
          </a:p>
        </p:txBody>
      </p:sp>
      <p:sp>
        <p:nvSpPr>
          <p:cNvPr id="42" name="Shape 40"/>
          <p:cNvSpPr/>
          <p:nvPr/>
        </p:nvSpPr>
        <p:spPr>
          <a:xfrm>
            <a:off x="7114032" y="2702052"/>
            <a:ext cx="402336" cy="182880"/>
          </a:xfrm>
          <a:prstGeom prst="rect">
            <a:avLst/>
          </a:prstGeom>
          <a:solidFill>
            <a:srgbClr val="E63946"/>
          </a:solidFill>
          <a:ln w="12700">
            <a:solidFill>
              <a:srgbClr val="E63946"/>
            </a:solidFill>
            <a:prstDash val="solid"/>
          </a:ln>
        </p:spPr>
      </p:sp>
      <p:sp>
        <p:nvSpPr>
          <p:cNvPr id="43" name="Text 41"/>
          <p:cNvSpPr/>
          <p:nvPr/>
        </p:nvSpPr>
        <p:spPr>
          <a:xfrm>
            <a:off x="7114032" y="2702052"/>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3</a:t>
            </a:r>
            <a:endParaRPr lang="en-US" sz="950" dirty="0"/>
          </a:p>
        </p:txBody>
      </p:sp>
      <p:sp>
        <p:nvSpPr>
          <p:cNvPr id="44" name="Shape 42"/>
          <p:cNvSpPr/>
          <p:nvPr/>
        </p:nvSpPr>
        <p:spPr>
          <a:xfrm>
            <a:off x="8065008" y="2702052"/>
            <a:ext cx="640080" cy="182880"/>
          </a:xfrm>
          <a:prstGeom prst="rect">
            <a:avLst/>
          </a:prstGeom>
          <a:solidFill>
            <a:srgbClr val="E63946">
              <a:alpha val="30000"/>
            </a:srgbClr>
          </a:solidFill>
          <a:ln w="12700">
            <a:solidFill>
              <a:srgbClr val="E63946"/>
            </a:solidFill>
            <a:prstDash val="solid"/>
          </a:ln>
        </p:spPr>
      </p:sp>
      <p:sp>
        <p:nvSpPr>
          <p:cNvPr id="45" name="Text 43"/>
          <p:cNvSpPr/>
          <p:nvPr/>
        </p:nvSpPr>
        <p:spPr>
          <a:xfrm>
            <a:off x="8065008" y="2702052"/>
            <a:ext cx="640080" cy="182880"/>
          </a:xfrm>
          <a:prstGeom prst="rect">
            <a:avLst/>
          </a:prstGeom>
          <a:noFill/>
          <a:ln/>
        </p:spPr>
        <p:txBody>
          <a:bodyPr wrap="square" lIns="0" tIns="0" rIns="0" bIns="0" rtlCol="0" anchor="ctr"/>
          <a:lstStyle/>
          <a:p>
            <a:pPr marL="0" indent="0" algn="ctr">
              <a:buNone/>
            </a:pPr>
            <a:r>
              <a:rPr lang="en-US" sz="800" b="1" dirty="0">
                <a:solidFill>
                  <a:srgbClr val="E63946"/>
                </a:solidFill>
                <a:latin typeface="Calibri" pitchFamily="34" charset="0"/>
                <a:ea typeface="Calibri" pitchFamily="34" charset="-122"/>
                <a:cs typeface="Calibri" pitchFamily="34" charset="-120"/>
              </a:rPr>
              <a:t>HIGH</a:t>
            </a:r>
            <a:endParaRPr lang="en-US" sz="800" dirty="0"/>
          </a:p>
        </p:txBody>
      </p:sp>
      <p:sp>
        <p:nvSpPr>
          <p:cNvPr id="46" name="Shape 44"/>
          <p:cNvSpPr/>
          <p:nvPr/>
        </p:nvSpPr>
        <p:spPr>
          <a:xfrm>
            <a:off x="365760" y="2926080"/>
            <a:ext cx="8412480" cy="246888"/>
          </a:xfrm>
          <a:prstGeom prst="rect">
            <a:avLst/>
          </a:prstGeom>
          <a:solidFill>
            <a:srgbClr val="080F1C"/>
          </a:solidFill>
          <a:ln w="12700">
            <a:solidFill>
              <a:srgbClr val="112B47"/>
            </a:solidFill>
            <a:prstDash val="solid"/>
          </a:ln>
        </p:spPr>
      </p:sp>
      <p:sp>
        <p:nvSpPr>
          <p:cNvPr id="47" name="Shape 45"/>
          <p:cNvSpPr/>
          <p:nvPr/>
        </p:nvSpPr>
        <p:spPr>
          <a:xfrm>
            <a:off x="365760" y="2926080"/>
            <a:ext cx="41148" cy="246888"/>
          </a:xfrm>
          <a:prstGeom prst="rect">
            <a:avLst/>
          </a:prstGeom>
          <a:solidFill>
            <a:srgbClr val="F4A261"/>
          </a:solidFill>
          <a:ln w="12700">
            <a:solidFill>
              <a:srgbClr val="F4A261"/>
            </a:solidFill>
            <a:prstDash val="solid"/>
          </a:ln>
        </p:spPr>
      </p:sp>
      <p:sp>
        <p:nvSpPr>
          <p:cNvPr id="48" name="Text 46"/>
          <p:cNvSpPr/>
          <p:nvPr/>
        </p:nvSpPr>
        <p:spPr>
          <a:xfrm>
            <a:off x="502920" y="2962656"/>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Suspicious URL</a:t>
            </a:r>
            <a:endParaRPr lang="en-US" sz="1000" dirty="0"/>
          </a:p>
        </p:txBody>
      </p:sp>
      <p:sp>
        <p:nvSpPr>
          <p:cNvPr id="49" name="Text 47"/>
          <p:cNvSpPr/>
          <p:nvPr/>
        </p:nvSpPr>
        <p:spPr>
          <a:xfrm>
            <a:off x="3474720" y="2962656"/>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IP-based URLs, obfuscated subdomains, domain mismatch to sender</a:t>
            </a:r>
            <a:endParaRPr lang="en-US" sz="950" dirty="0"/>
          </a:p>
        </p:txBody>
      </p:sp>
      <p:sp>
        <p:nvSpPr>
          <p:cNvPr id="50" name="Shape 48"/>
          <p:cNvSpPr/>
          <p:nvPr/>
        </p:nvSpPr>
        <p:spPr>
          <a:xfrm>
            <a:off x="7114032" y="2962656"/>
            <a:ext cx="402336" cy="182880"/>
          </a:xfrm>
          <a:prstGeom prst="rect">
            <a:avLst/>
          </a:prstGeom>
          <a:solidFill>
            <a:srgbClr val="F4A261"/>
          </a:solidFill>
          <a:ln w="12700">
            <a:solidFill>
              <a:srgbClr val="F4A261"/>
            </a:solidFill>
            <a:prstDash val="solid"/>
          </a:ln>
        </p:spPr>
      </p:sp>
      <p:sp>
        <p:nvSpPr>
          <p:cNvPr id="51" name="Text 49"/>
          <p:cNvSpPr/>
          <p:nvPr/>
        </p:nvSpPr>
        <p:spPr>
          <a:xfrm>
            <a:off x="7114032" y="2962656"/>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52" name="Shape 50"/>
          <p:cNvSpPr/>
          <p:nvPr/>
        </p:nvSpPr>
        <p:spPr>
          <a:xfrm>
            <a:off x="8065008" y="2962656"/>
            <a:ext cx="640080" cy="182880"/>
          </a:xfrm>
          <a:prstGeom prst="rect">
            <a:avLst/>
          </a:prstGeom>
          <a:solidFill>
            <a:srgbClr val="F4A261">
              <a:alpha val="30000"/>
            </a:srgbClr>
          </a:solidFill>
          <a:ln w="12700">
            <a:solidFill>
              <a:srgbClr val="F4A261"/>
            </a:solidFill>
            <a:prstDash val="solid"/>
          </a:ln>
        </p:spPr>
      </p:sp>
      <p:sp>
        <p:nvSpPr>
          <p:cNvPr id="53" name="Text 51"/>
          <p:cNvSpPr/>
          <p:nvPr/>
        </p:nvSpPr>
        <p:spPr>
          <a:xfrm>
            <a:off x="8065008" y="2962656"/>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MOD</a:t>
            </a:r>
            <a:endParaRPr lang="en-US" sz="800" dirty="0"/>
          </a:p>
        </p:txBody>
      </p:sp>
      <p:sp>
        <p:nvSpPr>
          <p:cNvPr id="54" name="Shape 52"/>
          <p:cNvSpPr/>
          <p:nvPr/>
        </p:nvSpPr>
        <p:spPr>
          <a:xfrm>
            <a:off x="365760" y="3186684"/>
            <a:ext cx="8412480" cy="246888"/>
          </a:xfrm>
          <a:prstGeom prst="rect">
            <a:avLst/>
          </a:prstGeom>
          <a:solidFill>
            <a:srgbClr val="0A1A2E"/>
          </a:solidFill>
          <a:ln w="12700">
            <a:solidFill>
              <a:srgbClr val="112B47"/>
            </a:solidFill>
            <a:prstDash val="solid"/>
          </a:ln>
        </p:spPr>
      </p:sp>
      <p:sp>
        <p:nvSpPr>
          <p:cNvPr id="55" name="Shape 53"/>
          <p:cNvSpPr/>
          <p:nvPr/>
        </p:nvSpPr>
        <p:spPr>
          <a:xfrm>
            <a:off x="365760" y="3186684"/>
            <a:ext cx="41148" cy="246888"/>
          </a:xfrm>
          <a:prstGeom prst="rect">
            <a:avLst/>
          </a:prstGeom>
          <a:solidFill>
            <a:srgbClr val="F4A261"/>
          </a:solidFill>
          <a:ln w="12700">
            <a:solidFill>
              <a:srgbClr val="F4A261"/>
            </a:solidFill>
            <a:prstDash val="solid"/>
          </a:ln>
        </p:spPr>
      </p:sp>
      <p:sp>
        <p:nvSpPr>
          <p:cNvPr id="56" name="Text 54"/>
          <p:cNvSpPr/>
          <p:nvPr/>
        </p:nvSpPr>
        <p:spPr>
          <a:xfrm>
            <a:off x="502920" y="3223260"/>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Brand Spoofing</a:t>
            </a:r>
            <a:endParaRPr lang="en-US" sz="1000" dirty="0"/>
          </a:p>
        </p:txBody>
      </p:sp>
      <p:sp>
        <p:nvSpPr>
          <p:cNvPr id="57" name="Text 55"/>
          <p:cNvSpPr/>
          <p:nvPr/>
        </p:nvSpPr>
        <p:spPr>
          <a:xfrm>
            <a:off x="3474720" y="3223260"/>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Mentions PayPal/Amazon/Google but sender domain doesn't match</a:t>
            </a:r>
            <a:endParaRPr lang="en-US" sz="950" dirty="0"/>
          </a:p>
        </p:txBody>
      </p:sp>
      <p:sp>
        <p:nvSpPr>
          <p:cNvPr id="58" name="Shape 56"/>
          <p:cNvSpPr/>
          <p:nvPr/>
        </p:nvSpPr>
        <p:spPr>
          <a:xfrm>
            <a:off x="7114032" y="3223260"/>
            <a:ext cx="402336" cy="182880"/>
          </a:xfrm>
          <a:prstGeom prst="rect">
            <a:avLst/>
          </a:prstGeom>
          <a:solidFill>
            <a:srgbClr val="F4A261"/>
          </a:solidFill>
          <a:ln w="12700">
            <a:solidFill>
              <a:srgbClr val="F4A261"/>
            </a:solidFill>
            <a:prstDash val="solid"/>
          </a:ln>
        </p:spPr>
      </p:sp>
      <p:sp>
        <p:nvSpPr>
          <p:cNvPr id="59" name="Text 57"/>
          <p:cNvSpPr/>
          <p:nvPr/>
        </p:nvSpPr>
        <p:spPr>
          <a:xfrm>
            <a:off x="7114032" y="3223260"/>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60" name="Shape 58"/>
          <p:cNvSpPr/>
          <p:nvPr/>
        </p:nvSpPr>
        <p:spPr>
          <a:xfrm>
            <a:off x="8065008" y="3223260"/>
            <a:ext cx="640080" cy="182880"/>
          </a:xfrm>
          <a:prstGeom prst="rect">
            <a:avLst/>
          </a:prstGeom>
          <a:solidFill>
            <a:srgbClr val="F4A261">
              <a:alpha val="30000"/>
            </a:srgbClr>
          </a:solidFill>
          <a:ln w="12700">
            <a:solidFill>
              <a:srgbClr val="F4A261"/>
            </a:solidFill>
            <a:prstDash val="solid"/>
          </a:ln>
        </p:spPr>
      </p:sp>
      <p:sp>
        <p:nvSpPr>
          <p:cNvPr id="61" name="Text 59"/>
          <p:cNvSpPr/>
          <p:nvPr/>
        </p:nvSpPr>
        <p:spPr>
          <a:xfrm>
            <a:off x="8065008" y="3223260"/>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MOD</a:t>
            </a:r>
            <a:endParaRPr lang="en-US" sz="800" dirty="0"/>
          </a:p>
        </p:txBody>
      </p:sp>
      <p:sp>
        <p:nvSpPr>
          <p:cNvPr id="62" name="Shape 60"/>
          <p:cNvSpPr/>
          <p:nvPr/>
        </p:nvSpPr>
        <p:spPr>
          <a:xfrm>
            <a:off x="365760" y="3447288"/>
            <a:ext cx="8412480" cy="246888"/>
          </a:xfrm>
          <a:prstGeom prst="rect">
            <a:avLst/>
          </a:prstGeom>
          <a:solidFill>
            <a:srgbClr val="080F1C"/>
          </a:solidFill>
          <a:ln w="12700">
            <a:solidFill>
              <a:srgbClr val="112B47"/>
            </a:solidFill>
            <a:prstDash val="solid"/>
          </a:ln>
        </p:spPr>
      </p:sp>
      <p:sp>
        <p:nvSpPr>
          <p:cNvPr id="63" name="Shape 61"/>
          <p:cNvSpPr/>
          <p:nvPr/>
        </p:nvSpPr>
        <p:spPr>
          <a:xfrm>
            <a:off x="365760" y="3447288"/>
            <a:ext cx="41148" cy="246888"/>
          </a:xfrm>
          <a:prstGeom prst="rect">
            <a:avLst/>
          </a:prstGeom>
          <a:solidFill>
            <a:srgbClr val="F4A261"/>
          </a:solidFill>
          <a:ln w="12700">
            <a:solidFill>
              <a:srgbClr val="F4A261"/>
            </a:solidFill>
            <a:prstDash val="solid"/>
          </a:ln>
        </p:spPr>
      </p:sp>
      <p:sp>
        <p:nvSpPr>
          <p:cNvPr id="64" name="Text 62"/>
          <p:cNvSpPr/>
          <p:nvPr/>
        </p:nvSpPr>
        <p:spPr>
          <a:xfrm>
            <a:off x="502920" y="3483864"/>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Sender Name Mismatch</a:t>
            </a:r>
            <a:endParaRPr lang="en-US" sz="1000" dirty="0"/>
          </a:p>
        </p:txBody>
      </p:sp>
      <p:sp>
        <p:nvSpPr>
          <p:cNvPr id="65" name="Text 63"/>
          <p:cNvSpPr/>
          <p:nvPr/>
        </p:nvSpPr>
        <p:spPr>
          <a:xfrm>
            <a:off x="3474720" y="3483864"/>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Display name claims a brand; email domain is unrelated</a:t>
            </a:r>
            <a:endParaRPr lang="en-US" sz="950" dirty="0"/>
          </a:p>
        </p:txBody>
      </p:sp>
      <p:sp>
        <p:nvSpPr>
          <p:cNvPr id="66" name="Shape 64"/>
          <p:cNvSpPr/>
          <p:nvPr/>
        </p:nvSpPr>
        <p:spPr>
          <a:xfrm>
            <a:off x="7114032" y="3483864"/>
            <a:ext cx="402336" cy="182880"/>
          </a:xfrm>
          <a:prstGeom prst="rect">
            <a:avLst/>
          </a:prstGeom>
          <a:solidFill>
            <a:srgbClr val="F4A261"/>
          </a:solidFill>
          <a:ln w="12700">
            <a:solidFill>
              <a:srgbClr val="F4A261"/>
            </a:solidFill>
            <a:prstDash val="solid"/>
          </a:ln>
        </p:spPr>
      </p:sp>
      <p:sp>
        <p:nvSpPr>
          <p:cNvPr id="67" name="Text 65"/>
          <p:cNvSpPr/>
          <p:nvPr/>
        </p:nvSpPr>
        <p:spPr>
          <a:xfrm>
            <a:off x="7114032" y="3483864"/>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68" name="Shape 66"/>
          <p:cNvSpPr/>
          <p:nvPr/>
        </p:nvSpPr>
        <p:spPr>
          <a:xfrm>
            <a:off x="8065008" y="3483864"/>
            <a:ext cx="640080" cy="182880"/>
          </a:xfrm>
          <a:prstGeom prst="rect">
            <a:avLst/>
          </a:prstGeom>
          <a:solidFill>
            <a:srgbClr val="F4A261">
              <a:alpha val="30000"/>
            </a:srgbClr>
          </a:solidFill>
          <a:ln w="12700">
            <a:solidFill>
              <a:srgbClr val="F4A261"/>
            </a:solidFill>
            <a:prstDash val="solid"/>
          </a:ln>
        </p:spPr>
      </p:sp>
      <p:sp>
        <p:nvSpPr>
          <p:cNvPr id="69" name="Text 67"/>
          <p:cNvSpPr/>
          <p:nvPr/>
        </p:nvSpPr>
        <p:spPr>
          <a:xfrm>
            <a:off x="8065008" y="3483864"/>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MOD</a:t>
            </a:r>
            <a:endParaRPr lang="en-US" sz="800" dirty="0"/>
          </a:p>
        </p:txBody>
      </p:sp>
      <p:sp>
        <p:nvSpPr>
          <p:cNvPr id="70" name="Shape 68"/>
          <p:cNvSpPr/>
          <p:nvPr/>
        </p:nvSpPr>
        <p:spPr>
          <a:xfrm>
            <a:off x="365760" y="3707892"/>
            <a:ext cx="8412480" cy="246888"/>
          </a:xfrm>
          <a:prstGeom prst="rect">
            <a:avLst/>
          </a:prstGeom>
          <a:solidFill>
            <a:srgbClr val="0A1A2E"/>
          </a:solidFill>
          <a:ln w="12700">
            <a:solidFill>
              <a:srgbClr val="112B47"/>
            </a:solidFill>
            <a:prstDash val="solid"/>
          </a:ln>
        </p:spPr>
      </p:sp>
      <p:sp>
        <p:nvSpPr>
          <p:cNvPr id="71" name="Shape 69"/>
          <p:cNvSpPr/>
          <p:nvPr/>
        </p:nvSpPr>
        <p:spPr>
          <a:xfrm>
            <a:off x="365760" y="3707892"/>
            <a:ext cx="41148" cy="246888"/>
          </a:xfrm>
          <a:prstGeom prst="rect">
            <a:avLst/>
          </a:prstGeom>
          <a:solidFill>
            <a:srgbClr val="F4A261"/>
          </a:solidFill>
          <a:ln w="12700">
            <a:solidFill>
              <a:srgbClr val="F4A261"/>
            </a:solidFill>
            <a:prstDash val="solid"/>
          </a:ln>
        </p:spPr>
      </p:sp>
      <p:sp>
        <p:nvSpPr>
          <p:cNvPr id="72" name="Text 70"/>
          <p:cNvSpPr/>
          <p:nvPr/>
        </p:nvSpPr>
        <p:spPr>
          <a:xfrm>
            <a:off x="502920" y="3744468"/>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Free Email Brand Abuse</a:t>
            </a:r>
            <a:endParaRPr lang="en-US" sz="1000" dirty="0"/>
          </a:p>
        </p:txBody>
      </p:sp>
      <p:sp>
        <p:nvSpPr>
          <p:cNvPr id="73" name="Text 71"/>
          <p:cNvSpPr/>
          <p:nvPr/>
        </p:nvSpPr>
        <p:spPr>
          <a:xfrm>
            <a:off x="3474720" y="3744468"/>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paypal@gmail.com — known brand name via public email domain</a:t>
            </a:r>
            <a:endParaRPr lang="en-US" sz="950" dirty="0"/>
          </a:p>
        </p:txBody>
      </p:sp>
      <p:sp>
        <p:nvSpPr>
          <p:cNvPr id="74" name="Shape 72"/>
          <p:cNvSpPr/>
          <p:nvPr/>
        </p:nvSpPr>
        <p:spPr>
          <a:xfrm>
            <a:off x="7114032" y="3744468"/>
            <a:ext cx="402336" cy="182880"/>
          </a:xfrm>
          <a:prstGeom prst="rect">
            <a:avLst/>
          </a:prstGeom>
          <a:solidFill>
            <a:srgbClr val="F4A261"/>
          </a:solidFill>
          <a:ln w="12700">
            <a:solidFill>
              <a:srgbClr val="F4A261"/>
            </a:solidFill>
            <a:prstDash val="solid"/>
          </a:ln>
        </p:spPr>
      </p:sp>
      <p:sp>
        <p:nvSpPr>
          <p:cNvPr id="75" name="Text 73"/>
          <p:cNvSpPr/>
          <p:nvPr/>
        </p:nvSpPr>
        <p:spPr>
          <a:xfrm>
            <a:off x="7114032" y="3744468"/>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76" name="Shape 74"/>
          <p:cNvSpPr/>
          <p:nvPr/>
        </p:nvSpPr>
        <p:spPr>
          <a:xfrm>
            <a:off x="8065008" y="3744468"/>
            <a:ext cx="640080" cy="182880"/>
          </a:xfrm>
          <a:prstGeom prst="rect">
            <a:avLst/>
          </a:prstGeom>
          <a:solidFill>
            <a:srgbClr val="F4A261">
              <a:alpha val="30000"/>
            </a:srgbClr>
          </a:solidFill>
          <a:ln w="12700">
            <a:solidFill>
              <a:srgbClr val="F4A261"/>
            </a:solidFill>
            <a:prstDash val="solid"/>
          </a:ln>
        </p:spPr>
      </p:sp>
      <p:sp>
        <p:nvSpPr>
          <p:cNvPr id="77" name="Text 75"/>
          <p:cNvSpPr/>
          <p:nvPr/>
        </p:nvSpPr>
        <p:spPr>
          <a:xfrm>
            <a:off x="8065008" y="3744468"/>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MOD</a:t>
            </a:r>
            <a:endParaRPr lang="en-US" sz="800" dirty="0"/>
          </a:p>
        </p:txBody>
      </p:sp>
      <p:sp>
        <p:nvSpPr>
          <p:cNvPr id="78" name="Shape 76"/>
          <p:cNvSpPr/>
          <p:nvPr/>
        </p:nvSpPr>
        <p:spPr>
          <a:xfrm>
            <a:off x="365760" y="3968496"/>
            <a:ext cx="8412480" cy="246888"/>
          </a:xfrm>
          <a:prstGeom prst="rect">
            <a:avLst/>
          </a:prstGeom>
          <a:solidFill>
            <a:srgbClr val="080F1C"/>
          </a:solidFill>
          <a:ln w="12700">
            <a:solidFill>
              <a:srgbClr val="112B47"/>
            </a:solidFill>
            <a:prstDash val="solid"/>
          </a:ln>
        </p:spPr>
      </p:sp>
      <p:sp>
        <p:nvSpPr>
          <p:cNvPr id="79" name="Shape 77"/>
          <p:cNvSpPr/>
          <p:nvPr/>
        </p:nvSpPr>
        <p:spPr>
          <a:xfrm>
            <a:off x="365760" y="3968496"/>
            <a:ext cx="41148" cy="246888"/>
          </a:xfrm>
          <a:prstGeom prst="rect">
            <a:avLst/>
          </a:prstGeom>
          <a:solidFill>
            <a:srgbClr val="F4A261"/>
          </a:solidFill>
          <a:ln w="12700">
            <a:solidFill>
              <a:srgbClr val="F4A261"/>
            </a:solidFill>
            <a:prstDash val="solid"/>
          </a:ln>
        </p:spPr>
      </p:sp>
      <p:sp>
        <p:nvSpPr>
          <p:cNvPr id="80" name="Text 78"/>
          <p:cNvSpPr/>
          <p:nvPr/>
        </p:nvSpPr>
        <p:spPr>
          <a:xfrm>
            <a:off x="502920" y="4005072"/>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User-Defined Rules</a:t>
            </a:r>
            <a:endParaRPr lang="en-US" sz="1000" dirty="0"/>
          </a:p>
        </p:txBody>
      </p:sp>
      <p:sp>
        <p:nvSpPr>
          <p:cNvPr id="81" name="Text 79"/>
          <p:cNvSpPr/>
          <p:nvPr/>
        </p:nvSpPr>
        <p:spPr>
          <a:xfrm>
            <a:off x="3474720" y="4005072"/>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Configurable banned keywords, domains, and file extensions</a:t>
            </a:r>
            <a:endParaRPr lang="en-US" sz="950" dirty="0"/>
          </a:p>
        </p:txBody>
      </p:sp>
      <p:sp>
        <p:nvSpPr>
          <p:cNvPr id="82" name="Shape 80"/>
          <p:cNvSpPr/>
          <p:nvPr/>
        </p:nvSpPr>
        <p:spPr>
          <a:xfrm>
            <a:off x="7114032" y="4005072"/>
            <a:ext cx="402336" cy="182880"/>
          </a:xfrm>
          <a:prstGeom prst="rect">
            <a:avLst/>
          </a:prstGeom>
          <a:solidFill>
            <a:srgbClr val="F4A261"/>
          </a:solidFill>
          <a:ln w="12700">
            <a:solidFill>
              <a:srgbClr val="F4A261"/>
            </a:solidFill>
            <a:prstDash val="solid"/>
          </a:ln>
        </p:spPr>
      </p:sp>
      <p:sp>
        <p:nvSpPr>
          <p:cNvPr id="83" name="Text 81"/>
          <p:cNvSpPr/>
          <p:nvPr/>
        </p:nvSpPr>
        <p:spPr>
          <a:xfrm>
            <a:off x="7114032" y="4005072"/>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84" name="Shape 82"/>
          <p:cNvSpPr/>
          <p:nvPr/>
        </p:nvSpPr>
        <p:spPr>
          <a:xfrm>
            <a:off x="8065008" y="4005072"/>
            <a:ext cx="640080" cy="182880"/>
          </a:xfrm>
          <a:prstGeom prst="rect">
            <a:avLst/>
          </a:prstGeom>
          <a:solidFill>
            <a:srgbClr val="F4A261">
              <a:alpha val="30000"/>
            </a:srgbClr>
          </a:solidFill>
          <a:ln w="12700">
            <a:solidFill>
              <a:srgbClr val="F4A261"/>
            </a:solidFill>
            <a:prstDash val="solid"/>
          </a:ln>
        </p:spPr>
      </p:sp>
      <p:sp>
        <p:nvSpPr>
          <p:cNvPr id="85" name="Text 83"/>
          <p:cNvSpPr/>
          <p:nvPr/>
        </p:nvSpPr>
        <p:spPr>
          <a:xfrm>
            <a:off x="8065008" y="4005072"/>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MOD</a:t>
            </a:r>
            <a:endParaRPr lang="en-US" sz="800" dirty="0"/>
          </a:p>
        </p:txBody>
      </p:sp>
      <p:sp>
        <p:nvSpPr>
          <p:cNvPr id="86" name="Shape 84"/>
          <p:cNvSpPr/>
          <p:nvPr/>
        </p:nvSpPr>
        <p:spPr>
          <a:xfrm>
            <a:off x="365760" y="4229100"/>
            <a:ext cx="8412480" cy="246888"/>
          </a:xfrm>
          <a:prstGeom prst="rect">
            <a:avLst/>
          </a:prstGeom>
          <a:solidFill>
            <a:srgbClr val="0A1A2E"/>
          </a:solidFill>
          <a:ln w="12700">
            <a:solidFill>
              <a:srgbClr val="112B47"/>
            </a:solidFill>
            <a:prstDash val="solid"/>
          </a:ln>
        </p:spPr>
      </p:sp>
      <p:sp>
        <p:nvSpPr>
          <p:cNvPr id="87" name="Shape 85"/>
          <p:cNvSpPr/>
          <p:nvPr/>
        </p:nvSpPr>
        <p:spPr>
          <a:xfrm>
            <a:off x="365760" y="4229100"/>
            <a:ext cx="41148" cy="246888"/>
          </a:xfrm>
          <a:prstGeom prst="rect">
            <a:avLst/>
          </a:prstGeom>
          <a:solidFill>
            <a:srgbClr val="F4A261"/>
          </a:solidFill>
          <a:ln w="12700">
            <a:solidFill>
              <a:srgbClr val="F4A261"/>
            </a:solidFill>
            <a:prstDash val="solid"/>
          </a:ln>
        </p:spPr>
      </p:sp>
      <p:sp>
        <p:nvSpPr>
          <p:cNvPr id="88" name="Text 86"/>
          <p:cNvSpPr/>
          <p:nvPr/>
        </p:nvSpPr>
        <p:spPr>
          <a:xfrm>
            <a:off x="502920" y="4265676"/>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SPF / DKIM Failure</a:t>
            </a:r>
            <a:endParaRPr lang="en-US" sz="1000" dirty="0"/>
          </a:p>
        </p:txBody>
      </p:sp>
      <p:sp>
        <p:nvSpPr>
          <p:cNvPr id="89" name="Text 87"/>
          <p:cNvSpPr/>
          <p:nvPr/>
        </p:nvSpPr>
        <p:spPr>
          <a:xfrm>
            <a:off x="3474720" y="4265676"/>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Authentication header check — each failure adds +2 independently</a:t>
            </a:r>
            <a:endParaRPr lang="en-US" sz="950" dirty="0"/>
          </a:p>
        </p:txBody>
      </p:sp>
      <p:sp>
        <p:nvSpPr>
          <p:cNvPr id="90" name="Shape 88"/>
          <p:cNvSpPr/>
          <p:nvPr/>
        </p:nvSpPr>
        <p:spPr>
          <a:xfrm>
            <a:off x="7114032" y="4265676"/>
            <a:ext cx="402336" cy="182880"/>
          </a:xfrm>
          <a:prstGeom prst="rect">
            <a:avLst/>
          </a:prstGeom>
          <a:solidFill>
            <a:srgbClr val="F4A261"/>
          </a:solidFill>
          <a:ln w="12700">
            <a:solidFill>
              <a:srgbClr val="F4A261"/>
            </a:solidFill>
            <a:prstDash val="solid"/>
          </a:ln>
        </p:spPr>
      </p:sp>
      <p:sp>
        <p:nvSpPr>
          <p:cNvPr id="91" name="Text 89"/>
          <p:cNvSpPr/>
          <p:nvPr/>
        </p:nvSpPr>
        <p:spPr>
          <a:xfrm>
            <a:off x="7114032" y="4265676"/>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+2</a:t>
            </a:r>
            <a:endParaRPr lang="en-US" sz="950" dirty="0"/>
          </a:p>
        </p:txBody>
      </p:sp>
      <p:sp>
        <p:nvSpPr>
          <p:cNvPr id="92" name="Shape 90"/>
          <p:cNvSpPr/>
          <p:nvPr/>
        </p:nvSpPr>
        <p:spPr>
          <a:xfrm>
            <a:off x="8065008" y="4265676"/>
            <a:ext cx="640080" cy="182880"/>
          </a:xfrm>
          <a:prstGeom prst="rect">
            <a:avLst/>
          </a:prstGeom>
          <a:solidFill>
            <a:srgbClr val="F4A261">
              <a:alpha val="30000"/>
            </a:srgbClr>
          </a:solidFill>
          <a:ln w="12700">
            <a:solidFill>
              <a:srgbClr val="F4A261"/>
            </a:solidFill>
            <a:prstDash val="solid"/>
          </a:ln>
        </p:spPr>
      </p:sp>
      <p:sp>
        <p:nvSpPr>
          <p:cNvPr id="93" name="Text 91"/>
          <p:cNvSpPr/>
          <p:nvPr/>
        </p:nvSpPr>
        <p:spPr>
          <a:xfrm>
            <a:off x="8065008" y="4265676"/>
            <a:ext cx="640080" cy="182880"/>
          </a:xfrm>
          <a:prstGeom prst="rect">
            <a:avLst/>
          </a:prstGeom>
          <a:noFill/>
          <a:ln/>
        </p:spPr>
        <p:txBody>
          <a:bodyPr wrap="square" lIns="0" tIns="0" rIns="0" bIns="0"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AUTH</a:t>
            </a:r>
            <a:endParaRPr lang="en-US" sz="800" dirty="0"/>
          </a:p>
        </p:txBody>
      </p:sp>
      <p:sp>
        <p:nvSpPr>
          <p:cNvPr id="94" name="Shape 92"/>
          <p:cNvSpPr/>
          <p:nvPr/>
        </p:nvSpPr>
        <p:spPr>
          <a:xfrm>
            <a:off x="365760" y="4489704"/>
            <a:ext cx="8412480" cy="246888"/>
          </a:xfrm>
          <a:prstGeom prst="rect">
            <a:avLst/>
          </a:prstGeom>
          <a:solidFill>
            <a:srgbClr val="080F1C"/>
          </a:solidFill>
          <a:ln w="12700">
            <a:solidFill>
              <a:srgbClr val="112B47"/>
            </a:solidFill>
            <a:prstDash val="solid"/>
          </a:ln>
        </p:spPr>
      </p:sp>
      <p:sp>
        <p:nvSpPr>
          <p:cNvPr id="95" name="Shape 93"/>
          <p:cNvSpPr/>
          <p:nvPr/>
        </p:nvSpPr>
        <p:spPr>
          <a:xfrm>
            <a:off x="365760" y="4489704"/>
            <a:ext cx="41148" cy="246888"/>
          </a:xfrm>
          <a:prstGeom prst="rect">
            <a:avLst/>
          </a:prstGeom>
          <a:solidFill>
            <a:srgbClr val="00B4D8"/>
          </a:solidFill>
          <a:ln w="12700">
            <a:solidFill>
              <a:srgbClr val="00B4D8"/>
            </a:solidFill>
            <a:prstDash val="solid"/>
          </a:ln>
        </p:spPr>
      </p:sp>
      <p:sp>
        <p:nvSpPr>
          <p:cNvPr id="96" name="Text 94"/>
          <p:cNvSpPr/>
          <p:nvPr/>
        </p:nvSpPr>
        <p:spPr>
          <a:xfrm>
            <a:off x="502920" y="4526280"/>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Urgency Language</a:t>
            </a:r>
            <a:endParaRPr lang="en-US" sz="1000" dirty="0"/>
          </a:p>
        </p:txBody>
      </p:sp>
      <p:sp>
        <p:nvSpPr>
          <p:cNvPr id="97" name="Text 95"/>
          <p:cNvSpPr/>
          <p:nvPr/>
        </p:nvSpPr>
        <p:spPr>
          <a:xfrm>
            <a:off x="3474720" y="4526280"/>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Keywords: urgent, act now, verify immediately, account suspended</a:t>
            </a:r>
            <a:endParaRPr lang="en-US" sz="950" dirty="0"/>
          </a:p>
        </p:txBody>
      </p:sp>
      <p:sp>
        <p:nvSpPr>
          <p:cNvPr id="98" name="Shape 96"/>
          <p:cNvSpPr/>
          <p:nvPr/>
        </p:nvSpPr>
        <p:spPr>
          <a:xfrm>
            <a:off x="7114032" y="4526280"/>
            <a:ext cx="402336" cy="182880"/>
          </a:xfrm>
          <a:prstGeom prst="rect">
            <a:avLst/>
          </a:prstGeom>
          <a:solidFill>
            <a:srgbClr val="00B4D8"/>
          </a:solidFill>
          <a:ln w="12700">
            <a:solidFill>
              <a:srgbClr val="00B4D8"/>
            </a:solidFill>
            <a:prstDash val="solid"/>
          </a:ln>
        </p:spPr>
      </p:sp>
      <p:sp>
        <p:nvSpPr>
          <p:cNvPr id="99" name="Text 97"/>
          <p:cNvSpPr/>
          <p:nvPr/>
        </p:nvSpPr>
        <p:spPr>
          <a:xfrm>
            <a:off x="7114032" y="4526280"/>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1</a:t>
            </a:r>
            <a:endParaRPr lang="en-US" sz="950" dirty="0"/>
          </a:p>
        </p:txBody>
      </p:sp>
      <p:sp>
        <p:nvSpPr>
          <p:cNvPr id="100" name="Shape 98"/>
          <p:cNvSpPr/>
          <p:nvPr/>
        </p:nvSpPr>
        <p:spPr>
          <a:xfrm>
            <a:off x="8065008" y="4526280"/>
            <a:ext cx="640080" cy="182880"/>
          </a:xfrm>
          <a:prstGeom prst="rect">
            <a:avLst/>
          </a:prstGeom>
          <a:solidFill>
            <a:srgbClr val="00B4D8">
              <a:alpha val="30000"/>
            </a:srgbClr>
          </a:solidFill>
          <a:ln w="12700">
            <a:solidFill>
              <a:srgbClr val="00B4D8"/>
            </a:solidFill>
            <a:prstDash val="solid"/>
          </a:ln>
        </p:spPr>
      </p:sp>
      <p:sp>
        <p:nvSpPr>
          <p:cNvPr id="101" name="Text 99"/>
          <p:cNvSpPr/>
          <p:nvPr/>
        </p:nvSpPr>
        <p:spPr>
          <a:xfrm>
            <a:off x="8065008" y="4526280"/>
            <a:ext cx="640080" cy="182880"/>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LOW</a:t>
            </a:r>
            <a:endParaRPr lang="en-US" sz="800" dirty="0"/>
          </a:p>
        </p:txBody>
      </p:sp>
      <p:sp>
        <p:nvSpPr>
          <p:cNvPr id="102" name="Shape 100"/>
          <p:cNvSpPr/>
          <p:nvPr/>
        </p:nvSpPr>
        <p:spPr>
          <a:xfrm>
            <a:off x="365760" y="4750308"/>
            <a:ext cx="8412480" cy="246888"/>
          </a:xfrm>
          <a:prstGeom prst="rect">
            <a:avLst/>
          </a:prstGeom>
          <a:solidFill>
            <a:srgbClr val="0A1A2E"/>
          </a:solidFill>
          <a:ln w="12700">
            <a:solidFill>
              <a:srgbClr val="112B47"/>
            </a:solidFill>
            <a:prstDash val="solid"/>
          </a:ln>
        </p:spPr>
      </p:sp>
      <p:sp>
        <p:nvSpPr>
          <p:cNvPr id="103" name="Shape 101"/>
          <p:cNvSpPr/>
          <p:nvPr/>
        </p:nvSpPr>
        <p:spPr>
          <a:xfrm>
            <a:off x="365760" y="4750308"/>
            <a:ext cx="41148" cy="246888"/>
          </a:xfrm>
          <a:prstGeom prst="rect">
            <a:avLst/>
          </a:prstGeom>
          <a:solidFill>
            <a:srgbClr val="00B4D8"/>
          </a:solidFill>
          <a:ln w="12700">
            <a:solidFill>
              <a:srgbClr val="00B4D8"/>
            </a:solidFill>
            <a:prstDash val="solid"/>
          </a:ln>
        </p:spPr>
      </p:sp>
      <p:sp>
        <p:nvSpPr>
          <p:cNvPr id="104" name="Text 102"/>
          <p:cNvSpPr/>
          <p:nvPr/>
        </p:nvSpPr>
        <p:spPr>
          <a:xfrm>
            <a:off x="502920" y="4786884"/>
            <a:ext cx="2907792" cy="182880"/>
          </a:xfrm>
          <a:prstGeom prst="rect">
            <a:avLst/>
          </a:prstGeom>
          <a:noFill/>
          <a:ln/>
        </p:spPr>
        <p:txBody>
          <a:bodyPr wrap="square" lIns="0" tIns="0" rIns="0" bIns="0" rtlCol="0" anchor="ctr"/>
          <a:lstStyle/>
          <a:p>
            <a:pPr marL="0" indent="0">
              <a:buNone/>
            </a:pPr>
            <a:r>
              <a:rPr lang="en-US" sz="1000" b="1" dirty="0">
                <a:solidFill>
                  <a:srgbClr val="D0E4F5"/>
                </a:solidFill>
                <a:latin typeface="Calibri" pitchFamily="34" charset="0"/>
                <a:ea typeface="Calibri" pitchFamily="34" charset="-122"/>
                <a:cs typeface="Calibri" pitchFamily="34" charset="-120"/>
              </a:rPr>
              <a:t>Language / Sentiment</a:t>
            </a:r>
            <a:endParaRPr lang="en-US" sz="1000" dirty="0"/>
          </a:p>
        </p:txBody>
      </p:sp>
      <p:sp>
        <p:nvSpPr>
          <p:cNvPr id="105" name="Text 103"/>
          <p:cNvSpPr/>
          <p:nvPr/>
        </p:nvSpPr>
        <p:spPr>
          <a:xfrm>
            <a:off x="3474720" y="4786884"/>
            <a:ext cx="3547872" cy="18288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Manipulative vocabulary + fear/reward tone signals</a:t>
            </a:r>
            <a:endParaRPr lang="en-US" sz="950" dirty="0"/>
          </a:p>
        </p:txBody>
      </p:sp>
      <p:sp>
        <p:nvSpPr>
          <p:cNvPr id="106" name="Shape 104"/>
          <p:cNvSpPr/>
          <p:nvPr/>
        </p:nvSpPr>
        <p:spPr>
          <a:xfrm>
            <a:off x="7114032" y="4786884"/>
            <a:ext cx="402336" cy="182880"/>
          </a:xfrm>
          <a:prstGeom prst="rect">
            <a:avLst/>
          </a:prstGeom>
          <a:solidFill>
            <a:srgbClr val="00B4D8"/>
          </a:solidFill>
          <a:ln w="12700">
            <a:solidFill>
              <a:srgbClr val="00B4D8"/>
            </a:solidFill>
            <a:prstDash val="solid"/>
          </a:ln>
        </p:spPr>
      </p:sp>
      <p:sp>
        <p:nvSpPr>
          <p:cNvPr id="107" name="Text 105"/>
          <p:cNvSpPr/>
          <p:nvPr/>
        </p:nvSpPr>
        <p:spPr>
          <a:xfrm>
            <a:off x="7114032" y="4786884"/>
            <a:ext cx="402336" cy="182880"/>
          </a:xfrm>
          <a:prstGeom prst="rect">
            <a:avLst/>
          </a:prstGeom>
          <a:noFill/>
          <a:ln/>
        </p:spPr>
        <p:txBody>
          <a:bodyPr wrap="square" lIns="0" tIns="0" rIns="0" bIns="0" rtlCol="0" anchor="ctr"/>
          <a:lstStyle/>
          <a:p>
            <a:pPr marL="0" indent="0" algn="ctr">
              <a:buNone/>
            </a:pPr>
            <a:r>
              <a:rPr lang="en-US" sz="950" b="1" dirty="0">
                <a:solidFill>
                  <a:srgbClr val="060F1E"/>
                </a:solidFill>
                <a:latin typeface="Calibri" pitchFamily="34" charset="0"/>
                <a:ea typeface="Calibri" pitchFamily="34" charset="-122"/>
                <a:cs typeface="Calibri" pitchFamily="34" charset="-120"/>
              </a:rPr>
              <a:t>1</a:t>
            </a:r>
            <a:endParaRPr lang="en-US" sz="950" dirty="0"/>
          </a:p>
        </p:txBody>
      </p:sp>
      <p:sp>
        <p:nvSpPr>
          <p:cNvPr id="108" name="Shape 106"/>
          <p:cNvSpPr/>
          <p:nvPr/>
        </p:nvSpPr>
        <p:spPr>
          <a:xfrm>
            <a:off x="8065008" y="4786884"/>
            <a:ext cx="640080" cy="182880"/>
          </a:xfrm>
          <a:prstGeom prst="rect">
            <a:avLst/>
          </a:prstGeom>
          <a:solidFill>
            <a:srgbClr val="00B4D8">
              <a:alpha val="30000"/>
            </a:srgbClr>
          </a:solidFill>
          <a:ln w="12700">
            <a:solidFill>
              <a:srgbClr val="00B4D8"/>
            </a:solidFill>
            <a:prstDash val="solid"/>
          </a:ln>
        </p:spPr>
      </p:sp>
      <p:sp>
        <p:nvSpPr>
          <p:cNvPr id="109" name="Text 107"/>
          <p:cNvSpPr/>
          <p:nvPr/>
        </p:nvSpPr>
        <p:spPr>
          <a:xfrm>
            <a:off x="8065008" y="4786884"/>
            <a:ext cx="640080" cy="182880"/>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LOW</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05 · AUTHENTICATION</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SPF &amp; DKIM — Email Authentication Checks</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Text 6"/>
          <p:cNvSpPr/>
          <p:nvPr/>
        </p:nvSpPr>
        <p:spPr>
          <a:xfrm>
            <a:off x="365760" y="1234440"/>
            <a:ext cx="8412480" cy="256032"/>
          </a:xfrm>
          <a:prstGeom prst="rect">
            <a:avLst/>
          </a:prstGeom>
          <a:noFill/>
          <a:ln/>
        </p:spPr>
        <p:txBody>
          <a:bodyPr wrap="square" lIns="0" tIns="0" rIns="0" bIns="0" rtlCol="0" anchor="ctr"/>
          <a:lstStyle/>
          <a:p>
            <a:pPr marL="0" indent="0">
              <a:buNone/>
            </a:pPr>
            <a:r>
              <a:rPr lang="en-US" sz="1200" dirty="0">
                <a:solidFill>
                  <a:srgbClr val="5A8FAA"/>
                </a:solidFill>
                <a:latin typeface="Calibri" pitchFamily="34" charset="0"/>
                <a:ea typeface="Calibri" pitchFamily="34" charset="-122"/>
                <a:cs typeface="Calibri" pitchFamily="34" charset="-120"/>
              </a:rPr>
              <a:t>PhishGuard parses the Authentication-Results header on every incoming email. Each failed protocol adds +2 to the risk score.</a:t>
            </a:r>
            <a:endParaRPr lang="en-US" sz="1200" dirty="0"/>
          </a:p>
        </p:txBody>
      </p:sp>
      <p:sp>
        <p:nvSpPr>
          <p:cNvPr id="9" name="Shape 7"/>
          <p:cNvSpPr/>
          <p:nvPr/>
        </p:nvSpPr>
        <p:spPr>
          <a:xfrm>
            <a:off x="365760" y="1591056"/>
            <a:ext cx="4114800" cy="3255264"/>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10" name="Shape 8"/>
          <p:cNvSpPr/>
          <p:nvPr/>
        </p:nvSpPr>
        <p:spPr>
          <a:xfrm>
            <a:off x="365760" y="1591056"/>
            <a:ext cx="4114800" cy="420624"/>
          </a:xfrm>
          <a:prstGeom prst="rect">
            <a:avLst/>
          </a:prstGeom>
          <a:solidFill>
            <a:srgbClr val="00B4D8"/>
          </a:solidFill>
          <a:ln w="12700">
            <a:solidFill>
              <a:srgbClr val="00B4D8"/>
            </a:solidFill>
            <a:prstDash val="solid"/>
          </a:ln>
        </p:spPr>
      </p:sp>
      <p:sp>
        <p:nvSpPr>
          <p:cNvPr id="11" name="Text 9"/>
          <p:cNvSpPr/>
          <p:nvPr/>
        </p:nvSpPr>
        <p:spPr>
          <a:xfrm>
            <a:off x="365760" y="1591056"/>
            <a:ext cx="1828800" cy="420624"/>
          </a:xfrm>
          <a:prstGeom prst="rect">
            <a:avLst/>
          </a:prstGeom>
          <a:noFill/>
          <a:ln/>
        </p:spPr>
        <p:txBody>
          <a:bodyPr wrap="square" lIns="0" tIns="0" rIns="0" bIns="0" rtlCol="0" anchor="ctr"/>
          <a:lstStyle/>
          <a:p>
            <a:pPr marL="0" indent="0">
              <a:buNone/>
            </a:pPr>
            <a:r>
              <a:rPr lang="en-US" sz="2200" b="1" dirty="0">
                <a:solidFill>
                  <a:srgbClr val="060F1E"/>
                </a:solidFill>
                <a:latin typeface="Calibri" pitchFamily="34" charset="0"/>
                <a:ea typeface="Calibri" pitchFamily="34" charset="-122"/>
                <a:cs typeface="Calibri" pitchFamily="34" charset="-120"/>
              </a:rPr>
              <a:t>SPF</a:t>
            </a:r>
            <a:endParaRPr lang="en-US" sz="2200" dirty="0"/>
          </a:p>
        </p:txBody>
      </p:sp>
      <p:sp>
        <p:nvSpPr>
          <p:cNvPr id="12" name="Text 10"/>
          <p:cNvSpPr/>
          <p:nvPr/>
        </p:nvSpPr>
        <p:spPr>
          <a:xfrm>
            <a:off x="2194560" y="1664208"/>
            <a:ext cx="2103120" cy="274320"/>
          </a:xfrm>
          <a:prstGeom prst="rect">
            <a:avLst/>
          </a:prstGeom>
          <a:noFill/>
          <a:ln/>
        </p:spPr>
        <p:txBody>
          <a:bodyPr wrap="square" lIns="0" tIns="0" rIns="0" bIns="0" rtlCol="0" anchor="ctr"/>
          <a:lstStyle/>
          <a:p>
            <a:pPr marL="0" indent="0">
              <a:buNone/>
            </a:pPr>
            <a:r>
              <a:rPr lang="en-US" sz="1000" dirty="0">
                <a:solidFill>
                  <a:srgbClr val="060F1E"/>
                </a:solidFill>
                <a:latin typeface="Calibri" pitchFamily="34" charset="0"/>
                <a:ea typeface="Calibri" pitchFamily="34" charset="-122"/>
                <a:cs typeface="Calibri" pitchFamily="34" charset="-120"/>
              </a:rPr>
              <a:t>Sender Policy Framework</a:t>
            </a:r>
            <a:endParaRPr lang="en-US" sz="1000" dirty="0"/>
          </a:p>
        </p:txBody>
      </p:sp>
      <p:sp>
        <p:nvSpPr>
          <p:cNvPr id="13" name="Text 11"/>
          <p:cNvSpPr/>
          <p:nvPr/>
        </p:nvSpPr>
        <p:spPr>
          <a:xfrm>
            <a:off x="530352" y="2084832"/>
            <a:ext cx="3785616" cy="182880"/>
          </a:xfrm>
          <a:prstGeom prst="rect">
            <a:avLst/>
          </a:prstGeom>
          <a:noFill/>
          <a:ln/>
        </p:spPr>
        <p:txBody>
          <a:bodyPr wrap="square" lIns="0" tIns="0" rIns="0" bIns="0" rtlCol="0" anchor="ctr"/>
          <a:lstStyle/>
          <a:p>
            <a:pPr marL="0" indent="0">
              <a:buNone/>
            </a:pPr>
            <a:r>
              <a:rPr lang="en-US" sz="750" b="1" kern="0" spc="200" dirty="0">
                <a:solidFill>
                  <a:srgbClr val="5A8FAA"/>
                </a:solidFill>
                <a:latin typeface="Calibri" pitchFamily="34" charset="0"/>
                <a:ea typeface="Calibri" pitchFamily="34" charset="-122"/>
                <a:cs typeface="Calibri" pitchFamily="34" charset="-120"/>
              </a:rPr>
              <a:t>HOW IT WORKS</a:t>
            </a:r>
            <a:endParaRPr lang="en-US" sz="750" dirty="0"/>
          </a:p>
        </p:txBody>
      </p:sp>
      <p:sp>
        <p:nvSpPr>
          <p:cNvPr id="14" name="Text 12"/>
          <p:cNvSpPr/>
          <p:nvPr/>
        </p:nvSpPr>
        <p:spPr>
          <a:xfrm>
            <a:off x="530352" y="2286000"/>
            <a:ext cx="3785616" cy="658368"/>
          </a:xfrm>
          <a:prstGeom prst="rect">
            <a:avLst/>
          </a:prstGeom>
          <a:noFill/>
          <a:ln/>
        </p:spPr>
        <p:txBody>
          <a:bodyPr wrap="square" rtlCol="0" anchor="t"/>
          <a:lstStyle/>
          <a:p>
            <a:pPr marL="0" indent="0">
              <a:buNone/>
            </a:pPr>
            <a:r>
              <a:rPr lang="en-US" sz="1100" dirty="0">
                <a:solidFill>
                  <a:srgbClr val="D0E4F5"/>
                </a:solidFill>
                <a:latin typeface="Calibri" pitchFamily="34" charset="0"/>
                <a:ea typeface="Calibri" pitchFamily="34" charset="-122"/>
                <a:cs typeface="Calibri" pitchFamily="34" charset="-120"/>
              </a:rPr>
              <a:t>The receiving mail server checks the sending IP address against a DNS TXT record published by the domain owner. If the IP is not in the authorised list, SPF fails.</a:t>
            </a:r>
            <a:endParaRPr lang="en-US" sz="1100" dirty="0"/>
          </a:p>
        </p:txBody>
      </p:sp>
      <p:sp>
        <p:nvSpPr>
          <p:cNvPr id="15" name="Text 13"/>
          <p:cNvSpPr/>
          <p:nvPr/>
        </p:nvSpPr>
        <p:spPr>
          <a:xfrm>
            <a:off x="530352" y="2999232"/>
            <a:ext cx="3785616" cy="182880"/>
          </a:xfrm>
          <a:prstGeom prst="rect">
            <a:avLst/>
          </a:prstGeom>
          <a:noFill/>
          <a:ln/>
        </p:spPr>
        <p:txBody>
          <a:bodyPr wrap="square" lIns="0" tIns="0" rIns="0" bIns="0" rtlCol="0" anchor="ctr"/>
          <a:lstStyle/>
          <a:p>
            <a:pPr marL="0" indent="0">
              <a:buNone/>
            </a:pPr>
            <a:r>
              <a:rPr lang="en-US" sz="750" b="1" kern="0" spc="200" dirty="0">
                <a:solidFill>
                  <a:srgbClr val="5A8FAA"/>
                </a:solidFill>
                <a:latin typeface="Calibri" pitchFamily="34" charset="0"/>
                <a:ea typeface="Calibri" pitchFamily="34" charset="-122"/>
                <a:cs typeface="Calibri" pitchFamily="34" charset="-120"/>
              </a:rPr>
              <a:t>WHAT FAILURE MEANS</a:t>
            </a:r>
            <a:endParaRPr lang="en-US" sz="750" dirty="0"/>
          </a:p>
        </p:txBody>
      </p:sp>
      <p:sp>
        <p:nvSpPr>
          <p:cNvPr id="16" name="Text 14"/>
          <p:cNvSpPr/>
          <p:nvPr/>
        </p:nvSpPr>
        <p:spPr>
          <a:xfrm>
            <a:off x="530352" y="3200400"/>
            <a:ext cx="3785616" cy="512064"/>
          </a:xfrm>
          <a:prstGeom prst="rect">
            <a:avLst/>
          </a:prstGeom>
          <a:noFill/>
          <a:ln/>
        </p:spPr>
        <p:txBody>
          <a:bodyPr wrap="square" rtlCol="0" anchor="t"/>
          <a:lstStyle/>
          <a:p>
            <a:pPr marL="0" indent="0">
              <a:buNone/>
            </a:pPr>
            <a:r>
              <a:rPr lang="en-US" sz="1100" dirty="0">
                <a:solidFill>
                  <a:srgbClr val="D0E4F5"/>
                </a:solidFill>
                <a:latin typeface="Calibri" pitchFamily="34" charset="0"/>
                <a:ea typeface="Calibri" pitchFamily="34" charset="-122"/>
                <a:cs typeface="Calibri" pitchFamily="34" charset="-120"/>
              </a:rPr>
              <a:t>The email originated from an IP not authorised by the domain — strong indicator of sender spoofing or a compromised mail relay.</a:t>
            </a:r>
            <a:endParaRPr lang="en-US" sz="1100" dirty="0"/>
          </a:p>
        </p:txBody>
      </p:sp>
      <p:sp>
        <p:nvSpPr>
          <p:cNvPr id="17" name="Shape 15"/>
          <p:cNvSpPr/>
          <p:nvPr/>
        </p:nvSpPr>
        <p:spPr>
          <a:xfrm>
            <a:off x="530352" y="3785616"/>
            <a:ext cx="3785616" cy="822960"/>
          </a:xfrm>
          <a:prstGeom prst="rect">
            <a:avLst/>
          </a:prstGeom>
          <a:solidFill>
            <a:srgbClr val="060F1E"/>
          </a:solidFill>
          <a:ln w="12700">
            <a:solidFill>
              <a:srgbClr val="00B4D8"/>
            </a:solidFill>
            <a:prstDash val="solid"/>
          </a:ln>
        </p:spPr>
      </p:sp>
      <p:sp>
        <p:nvSpPr>
          <p:cNvPr id="18" name="Text 16"/>
          <p:cNvSpPr/>
          <p:nvPr/>
        </p:nvSpPr>
        <p:spPr>
          <a:xfrm>
            <a:off x="640080" y="3858768"/>
            <a:ext cx="3566160" cy="182880"/>
          </a:xfrm>
          <a:prstGeom prst="rect">
            <a:avLst/>
          </a:prstGeom>
          <a:noFill/>
          <a:ln/>
        </p:spPr>
        <p:txBody>
          <a:bodyPr wrap="square" lIns="0" tIns="0" rIns="0" bIns="0" rtlCol="0" anchor="ctr"/>
          <a:lstStyle/>
          <a:p>
            <a:pPr marL="0" indent="0">
              <a:buNone/>
            </a:pPr>
            <a:r>
              <a:rPr lang="en-US" sz="850" b="1" kern="0" spc="100" dirty="0">
                <a:solidFill>
                  <a:srgbClr val="00B4D8"/>
                </a:solidFill>
                <a:latin typeface="Calibri" pitchFamily="34" charset="0"/>
                <a:ea typeface="Calibri" pitchFamily="34" charset="-122"/>
                <a:cs typeface="Calibri" pitchFamily="34" charset="-120"/>
              </a:rPr>
              <a:t>Real Example from Sample Emails:</a:t>
            </a:r>
            <a:endParaRPr lang="en-US" sz="850" dirty="0"/>
          </a:p>
        </p:txBody>
      </p:sp>
      <p:sp>
        <p:nvSpPr>
          <p:cNvPr id="19" name="Text 17"/>
          <p:cNvSpPr/>
          <p:nvPr/>
        </p:nvSpPr>
        <p:spPr>
          <a:xfrm>
            <a:off x="640080" y="4059936"/>
            <a:ext cx="3566160" cy="457200"/>
          </a:xfrm>
          <a:prstGeom prst="rect">
            <a:avLst/>
          </a:prstGeom>
          <a:noFill/>
          <a:ln/>
        </p:spPr>
        <p:txBody>
          <a:bodyPr wrap="square" lIns="0" tIns="0" rIns="0" bIns="0" rtlCol="0" anchor="ctr"/>
          <a:lstStyle/>
          <a:p>
            <a:pPr marL="0" indent="0">
              <a:buNone/>
            </a:pPr>
            <a:r>
              <a:rPr lang="en-US" sz="1000" dirty="0">
                <a:solidFill>
                  <a:srgbClr val="A9E34B"/>
                </a:solidFill>
                <a:latin typeface="Consolas" pitchFamily="34" charset="0"/>
                <a:ea typeface="Consolas" pitchFamily="34" charset="-122"/>
                <a:cs typeface="Consolas" pitchFamily="34" charset="-120"/>
              </a:rPr>
              <a:t>paypal-security@hotmail.com</a:t>
            </a:r>
            <a:endParaRPr lang="en-US" sz="1000" dirty="0"/>
          </a:p>
          <a:p>
            <a:pPr marL="0" indent="0">
              <a:buNone/>
            </a:pPr>
            <a:r>
              <a:rPr lang="en-US" sz="1000" dirty="0">
                <a:solidFill>
                  <a:srgbClr val="A9E34B"/>
                </a:solidFill>
                <a:latin typeface="Consolas" pitchFamily="34" charset="0"/>
                <a:ea typeface="Consolas" pitchFamily="34" charset="-122"/>
                <a:cs typeface="Consolas" pitchFamily="34" charset="-120"/>
              </a:rPr>
              <a:t>spf=fail</a:t>
            </a:r>
            <a:endParaRPr lang="en-US" sz="1000" dirty="0"/>
          </a:p>
        </p:txBody>
      </p:sp>
      <p:sp>
        <p:nvSpPr>
          <p:cNvPr id="20" name="Shape 18"/>
          <p:cNvSpPr/>
          <p:nvPr/>
        </p:nvSpPr>
        <p:spPr>
          <a:xfrm>
            <a:off x="4663440" y="1591056"/>
            <a:ext cx="4114800" cy="3255264"/>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21" name="Shape 19"/>
          <p:cNvSpPr/>
          <p:nvPr/>
        </p:nvSpPr>
        <p:spPr>
          <a:xfrm>
            <a:off x="4663440" y="1591056"/>
            <a:ext cx="4114800" cy="420624"/>
          </a:xfrm>
          <a:prstGeom prst="rect">
            <a:avLst/>
          </a:prstGeom>
          <a:solidFill>
            <a:srgbClr val="F4A261"/>
          </a:solidFill>
          <a:ln w="12700">
            <a:solidFill>
              <a:srgbClr val="F4A261"/>
            </a:solidFill>
            <a:prstDash val="solid"/>
          </a:ln>
        </p:spPr>
      </p:sp>
      <p:sp>
        <p:nvSpPr>
          <p:cNvPr id="22" name="Text 20"/>
          <p:cNvSpPr/>
          <p:nvPr/>
        </p:nvSpPr>
        <p:spPr>
          <a:xfrm>
            <a:off x="4663440" y="1591056"/>
            <a:ext cx="1828800" cy="420624"/>
          </a:xfrm>
          <a:prstGeom prst="rect">
            <a:avLst/>
          </a:prstGeom>
          <a:noFill/>
          <a:ln/>
        </p:spPr>
        <p:txBody>
          <a:bodyPr wrap="square" lIns="0" tIns="0" rIns="0" bIns="0" rtlCol="0" anchor="ctr"/>
          <a:lstStyle/>
          <a:p>
            <a:pPr marL="0" indent="0">
              <a:buNone/>
            </a:pPr>
            <a:r>
              <a:rPr lang="en-US" sz="2200" b="1" dirty="0">
                <a:solidFill>
                  <a:srgbClr val="060F1E"/>
                </a:solidFill>
                <a:latin typeface="Calibri" pitchFamily="34" charset="0"/>
                <a:ea typeface="Calibri" pitchFamily="34" charset="-122"/>
                <a:cs typeface="Calibri" pitchFamily="34" charset="-120"/>
              </a:rPr>
              <a:t>DKIM</a:t>
            </a:r>
            <a:endParaRPr lang="en-US" sz="2200" dirty="0"/>
          </a:p>
        </p:txBody>
      </p:sp>
      <p:sp>
        <p:nvSpPr>
          <p:cNvPr id="23" name="Text 21"/>
          <p:cNvSpPr/>
          <p:nvPr/>
        </p:nvSpPr>
        <p:spPr>
          <a:xfrm>
            <a:off x="6492240" y="1664208"/>
            <a:ext cx="2103120" cy="274320"/>
          </a:xfrm>
          <a:prstGeom prst="rect">
            <a:avLst/>
          </a:prstGeom>
          <a:noFill/>
          <a:ln/>
        </p:spPr>
        <p:txBody>
          <a:bodyPr wrap="square" lIns="0" tIns="0" rIns="0" bIns="0" rtlCol="0" anchor="ctr"/>
          <a:lstStyle/>
          <a:p>
            <a:pPr marL="0" indent="0">
              <a:buNone/>
            </a:pPr>
            <a:r>
              <a:rPr lang="en-US" sz="1000" dirty="0">
                <a:solidFill>
                  <a:srgbClr val="060F1E"/>
                </a:solidFill>
                <a:latin typeface="Calibri" pitchFamily="34" charset="0"/>
                <a:ea typeface="Calibri" pitchFamily="34" charset="-122"/>
                <a:cs typeface="Calibri" pitchFamily="34" charset="-120"/>
              </a:rPr>
              <a:t>DomainKeys Identified Mail</a:t>
            </a:r>
            <a:endParaRPr lang="en-US" sz="1000" dirty="0"/>
          </a:p>
        </p:txBody>
      </p:sp>
      <p:sp>
        <p:nvSpPr>
          <p:cNvPr id="24" name="Text 22"/>
          <p:cNvSpPr/>
          <p:nvPr/>
        </p:nvSpPr>
        <p:spPr>
          <a:xfrm>
            <a:off x="4828032" y="2084832"/>
            <a:ext cx="3785616" cy="182880"/>
          </a:xfrm>
          <a:prstGeom prst="rect">
            <a:avLst/>
          </a:prstGeom>
          <a:noFill/>
          <a:ln/>
        </p:spPr>
        <p:txBody>
          <a:bodyPr wrap="square" lIns="0" tIns="0" rIns="0" bIns="0" rtlCol="0" anchor="ctr"/>
          <a:lstStyle/>
          <a:p>
            <a:pPr marL="0" indent="0">
              <a:buNone/>
            </a:pPr>
            <a:r>
              <a:rPr lang="en-US" sz="750" b="1" kern="0" spc="200" dirty="0">
                <a:solidFill>
                  <a:srgbClr val="5A8FAA"/>
                </a:solidFill>
                <a:latin typeface="Calibri" pitchFamily="34" charset="0"/>
                <a:ea typeface="Calibri" pitchFamily="34" charset="-122"/>
                <a:cs typeface="Calibri" pitchFamily="34" charset="-120"/>
              </a:rPr>
              <a:t>HOW IT WORKS</a:t>
            </a:r>
            <a:endParaRPr lang="en-US" sz="750" dirty="0"/>
          </a:p>
        </p:txBody>
      </p:sp>
      <p:sp>
        <p:nvSpPr>
          <p:cNvPr id="25" name="Text 23"/>
          <p:cNvSpPr/>
          <p:nvPr/>
        </p:nvSpPr>
        <p:spPr>
          <a:xfrm>
            <a:off x="4828032" y="2286000"/>
            <a:ext cx="3785616" cy="658368"/>
          </a:xfrm>
          <a:prstGeom prst="rect">
            <a:avLst/>
          </a:prstGeom>
          <a:noFill/>
          <a:ln/>
        </p:spPr>
        <p:txBody>
          <a:bodyPr wrap="square" rtlCol="0" anchor="t"/>
          <a:lstStyle/>
          <a:p>
            <a:pPr marL="0" indent="0">
              <a:buNone/>
            </a:pPr>
            <a:r>
              <a:rPr lang="en-US" sz="1100" dirty="0">
                <a:solidFill>
                  <a:srgbClr val="D0E4F5"/>
                </a:solidFill>
                <a:latin typeface="Calibri" pitchFamily="34" charset="0"/>
                <a:ea typeface="Calibri" pitchFamily="34" charset="-122"/>
                <a:cs typeface="Calibri" pitchFamily="34" charset="-120"/>
              </a:rPr>
              <a:t>The sending server signs the email headers and body with a private key. The receiving server fetches the public key from DNS and verifies the cryptographic signature.</a:t>
            </a:r>
            <a:endParaRPr lang="en-US" sz="1100" dirty="0"/>
          </a:p>
        </p:txBody>
      </p:sp>
      <p:sp>
        <p:nvSpPr>
          <p:cNvPr id="26" name="Text 24"/>
          <p:cNvSpPr/>
          <p:nvPr/>
        </p:nvSpPr>
        <p:spPr>
          <a:xfrm>
            <a:off x="4828032" y="2999232"/>
            <a:ext cx="3785616" cy="182880"/>
          </a:xfrm>
          <a:prstGeom prst="rect">
            <a:avLst/>
          </a:prstGeom>
          <a:noFill/>
          <a:ln/>
        </p:spPr>
        <p:txBody>
          <a:bodyPr wrap="square" lIns="0" tIns="0" rIns="0" bIns="0" rtlCol="0" anchor="ctr"/>
          <a:lstStyle/>
          <a:p>
            <a:pPr marL="0" indent="0">
              <a:buNone/>
            </a:pPr>
            <a:r>
              <a:rPr lang="en-US" sz="750" b="1" kern="0" spc="200" dirty="0">
                <a:solidFill>
                  <a:srgbClr val="5A8FAA"/>
                </a:solidFill>
                <a:latin typeface="Calibri" pitchFamily="34" charset="0"/>
                <a:ea typeface="Calibri" pitchFamily="34" charset="-122"/>
                <a:cs typeface="Calibri" pitchFamily="34" charset="-120"/>
              </a:rPr>
              <a:t>WHAT FAILURE MEANS</a:t>
            </a:r>
            <a:endParaRPr lang="en-US" sz="750" dirty="0"/>
          </a:p>
        </p:txBody>
      </p:sp>
      <p:sp>
        <p:nvSpPr>
          <p:cNvPr id="27" name="Text 25"/>
          <p:cNvSpPr/>
          <p:nvPr/>
        </p:nvSpPr>
        <p:spPr>
          <a:xfrm>
            <a:off x="4828032" y="3200400"/>
            <a:ext cx="3785616" cy="512064"/>
          </a:xfrm>
          <a:prstGeom prst="rect">
            <a:avLst/>
          </a:prstGeom>
          <a:noFill/>
          <a:ln/>
        </p:spPr>
        <p:txBody>
          <a:bodyPr wrap="square" rtlCol="0" anchor="t"/>
          <a:lstStyle/>
          <a:p>
            <a:pPr marL="0" indent="0">
              <a:buNone/>
            </a:pPr>
            <a:r>
              <a:rPr lang="en-US" sz="1100" dirty="0">
                <a:solidFill>
                  <a:srgbClr val="D0E4F5"/>
                </a:solidFill>
                <a:latin typeface="Calibri" pitchFamily="34" charset="0"/>
                <a:ea typeface="Calibri" pitchFamily="34" charset="-122"/>
                <a:cs typeface="Calibri" pitchFamily="34" charset="-120"/>
              </a:rPr>
              <a:t>The email content was altered in transit, or the signature was forged. Structural integrity is broken — the message cannot be trusted.</a:t>
            </a:r>
            <a:endParaRPr lang="en-US" sz="1100" dirty="0"/>
          </a:p>
        </p:txBody>
      </p:sp>
      <p:sp>
        <p:nvSpPr>
          <p:cNvPr id="28" name="Shape 26"/>
          <p:cNvSpPr/>
          <p:nvPr/>
        </p:nvSpPr>
        <p:spPr>
          <a:xfrm>
            <a:off x="4828032" y="3785616"/>
            <a:ext cx="3785616" cy="822960"/>
          </a:xfrm>
          <a:prstGeom prst="rect">
            <a:avLst/>
          </a:prstGeom>
          <a:solidFill>
            <a:srgbClr val="060F1E"/>
          </a:solidFill>
          <a:ln w="12700">
            <a:solidFill>
              <a:srgbClr val="F4A261"/>
            </a:solidFill>
            <a:prstDash val="solid"/>
          </a:ln>
        </p:spPr>
      </p:sp>
      <p:sp>
        <p:nvSpPr>
          <p:cNvPr id="29" name="Text 27"/>
          <p:cNvSpPr/>
          <p:nvPr/>
        </p:nvSpPr>
        <p:spPr>
          <a:xfrm>
            <a:off x="4937760" y="3858768"/>
            <a:ext cx="3566160" cy="182880"/>
          </a:xfrm>
          <a:prstGeom prst="rect">
            <a:avLst/>
          </a:prstGeom>
          <a:noFill/>
          <a:ln/>
        </p:spPr>
        <p:txBody>
          <a:bodyPr wrap="square" lIns="0" tIns="0" rIns="0" bIns="0" rtlCol="0" anchor="ctr"/>
          <a:lstStyle/>
          <a:p>
            <a:pPr marL="0" indent="0">
              <a:buNone/>
            </a:pPr>
            <a:r>
              <a:rPr lang="en-US" sz="850" b="1" kern="0" spc="100" dirty="0">
                <a:solidFill>
                  <a:srgbClr val="F4A261"/>
                </a:solidFill>
                <a:latin typeface="Calibri" pitchFamily="34" charset="0"/>
                <a:ea typeface="Calibri" pitchFamily="34" charset="-122"/>
                <a:cs typeface="Calibri" pitchFamily="34" charset="-120"/>
              </a:rPr>
              <a:t>Real Example from Sample Emails:</a:t>
            </a:r>
            <a:endParaRPr lang="en-US" sz="850" dirty="0"/>
          </a:p>
        </p:txBody>
      </p:sp>
      <p:sp>
        <p:nvSpPr>
          <p:cNvPr id="30" name="Text 28"/>
          <p:cNvSpPr/>
          <p:nvPr/>
        </p:nvSpPr>
        <p:spPr>
          <a:xfrm>
            <a:off x="4937760" y="4059936"/>
            <a:ext cx="3566160" cy="457200"/>
          </a:xfrm>
          <a:prstGeom prst="rect">
            <a:avLst/>
          </a:prstGeom>
          <a:noFill/>
          <a:ln/>
        </p:spPr>
        <p:txBody>
          <a:bodyPr wrap="square" lIns="0" tIns="0" rIns="0" bIns="0" rtlCol="0" anchor="ctr"/>
          <a:lstStyle/>
          <a:p>
            <a:pPr marL="0" indent="0">
              <a:buNone/>
            </a:pPr>
            <a:r>
              <a:rPr lang="en-US" sz="1000" dirty="0">
                <a:solidFill>
                  <a:srgbClr val="A9E34B"/>
                </a:solidFill>
                <a:latin typeface="Consolas" pitchFamily="34" charset="0"/>
                <a:ea typeface="Consolas" pitchFamily="34" charset="-122"/>
                <a:cs typeface="Consolas" pitchFamily="34" charset="-120"/>
              </a:rPr>
              <a:t>elonmusk@gmail.com</a:t>
            </a:r>
            <a:endParaRPr lang="en-US" sz="1000" dirty="0"/>
          </a:p>
          <a:p>
            <a:pPr marL="0" indent="0">
              <a:buNone/>
            </a:pPr>
            <a:r>
              <a:rPr lang="en-US" sz="1000" dirty="0">
                <a:solidFill>
                  <a:srgbClr val="A9E34B"/>
                </a:solidFill>
                <a:latin typeface="Consolas" pitchFamily="34" charset="0"/>
                <a:ea typeface="Consolas" pitchFamily="34" charset="-122"/>
                <a:cs typeface="Consolas" pitchFamily="34" charset="-120"/>
              </a:rPr>
              <a:t>dkim=fail</a:t>
            </a:r>
            <a:endParaRPr lang="en-US" sz="1000" dirty="0"/>
          </a:p>
        </p:txBody>
      </p:sp>
      <p:sp>
        <p:nvSpPr>
          <p:cNvPr id="31" name="Text 29"/>
          <p:cNvSpPr/>
          <p:nvPr/>
        </p:nvSpPr>
        <p:spPr>
          <a:xfrm>
            <a:off x="365760" y="4919472"/>
            <a:ext cx="8412480" cy="182880"/>
          </a:xfrm>
          <a:prstGeom prst="rect">
            <a:avLst/>
          </a:prstGeom>
          <a:noFill/>
          <a:ln/>
        </p:spPr>
        <p:txBody>
          <a:bodyPr wrap="square" lIns="0" tIns="0" rIns="0" bIns="0" rtlCol="0" anchor="ctr"/>
          <a:lstStyle/>
          <a:p>
            <a:pPr marL="0" indent="0">
              <a:buNone/>
            </a:pPr>
            <a:r>
              <a:rPr lang="en-US" sz="950" i="1" dirty="0">
                <a:solidFill>
                  <a:srgbClr val="5A8FAA"/>
                </a:solidFill>
                <a:latin typeface="Calibri" pitchFamily="34" charset="0"/>
                <a:ea typeface="Calibri" pitchFamily="34" charset="-122"/>
                <a:cs typeface="Calibri" pitchFamily="34" charset="-120"/>
              </a:rPr>
              <a:t>Both SPF fail + DKIM fail in a single email = +4 to risk score. Combined with other indicators, almost always pushes to CRITICAL.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04 · SYSTEM FLOW</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Detection Pipeline — End to End</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Text 6"/>
          <p:cNvSpPr/>
          <p:nvPr/>
        </p:nvSpPr>
        <p:spPr>
          <a:xfrm>
            <a:off x="365760" y="1261872"/>
            <a:ext cx="4572000" cy="201168"/>
          </a:xfrm>
          <a:prstGeom prst="rect">
            <a:avLst/>
          </a:prstGeom>
          <a:noFill/>
          <a:ln/>
        </p:spPr>
        <p:txBody>
          <a:bodyPr wrap="square" lIns="0" tIns="0" rIns="0" bIns="0" rtlCol="0" anchor="ctr"/>
          <a:lstStyle/>
          <a:p>
            <a:pPr marL="0" indent="0">
              <a:buNone/>
            </a:pPr>
            <a:r>
              <a:rPr lang="en-US" sz="800" b="1" kern="0" spc="300" dirty="0">
                <a:solidFill>
                  <a:srgbClr val="00B4D8"/>
                </a:solidFill>
                <a:latin typeface="Calibri" pitchFamily="34" charset="0"/>
                <a:ea typeface="Calibri" pitchFamily="34" charset="-122"/>
                <a:cs typeface="Calibri" pitchFamily="34" charset="-120"/>
              </a:rPr>
              <a:t>INCOMING EMAIL PATH</a:t>
            </a:r>
            <a:endParaRPr lang="en-US" sz="800" dirty="0"/>
          </a:p>
        </p:txBody>
      </p:sp>
      <p:sp>
        <p:nvSpPr>
          <p:cNvPr id="9" name="Shape 7"/>
          <p:cNvSpPr/>
          <p:nvPr/>
        </p:nvSpPr>
        <p:spPr>
          <a:xfrm>
            <a:off x="365760" y="1517904"/>
            <a:ext cx="1261872" cy="822960"/>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0" name="Text 8"/>
          <p:cNvSpPr/>
          <p:nvPr/>
        </p:nvSpPr>
        <p:spPr>
          <a:xfrm>
            <a:off x="365760" y="1517904"/>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.eml Input</a:t>
            </a:r>
            <a:endParaRPr lang="en-US" sz="1000" dirty="0"/>
          </a:p>
        </p:txBody>
      </p:sp>
      <p:sp>
        <p:nvSpPr>
          <p:cNvPr id="11" name="Shape 9"/>
          <p:cNvSpPr/>
          <p:nvPr/>
        </p:nvSpPr>
        <p:spPr>
          <a:xfrm>
            <a:off x="1627632" y="1865376"/>
            <a:ext cx="146304" cy="128016"/>
          </a:xfrm>
          <a:prstGeom prst="rect">
            <a:avLst/>
          </a:prstGeom>
          <a:solidFill>
            <a:srgbClr val="00B4D8"/>
          </a:solidFill>
          <a:ln w="12700">
            <a:solidFill>
              <a:srgbClr val="00B4D8"/>
            </a:solidFill>
            <a:prstDash val="solid"/>
          </a:ln>
        </p:spPr>
      </p:sp>
      <p:sp>
        <p:nvSpPr>
          <p:cNvPr id="12" name="Shape 10"/>
          <p:cNvSpPr/>
          <p:nvPr/>
        </p:nvSpPr>
        <p:spPr>
          <a:xfrm>
            <a:off x="1773936" y="1517904"/>
            <a:ext cx="1261872" cy="822960"/>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3" name="Text 11"/>
          <p:cNvSpPr/>
          <p:nvPr/>
        </p:nvSpPr>
        <p:spPr>
          <a:xfrm>
            <a:off x="1773936" y="1517904"/>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Parse Headers</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&amp; Body</a:t>
            </a:r>
            <a:endParaRPr lang="en-US" sz="1000" dirty="0"/>
          </a:p>
        </p:txBody>
      </p:sp>
      <p:sp>
        <p:nvSpPr>
          <p:cNvPr id="14" name="Shape 12"/>
          <p:cNvSpPr/>
          <p:nvPr/>
        </p:nvSpPr>
        <p:spPr>
          <a:xfrm>
            <a:off x="3035808" y="1865376"/>
            <a:ext cx="146304" cy="128016"/>
          </a:xfrm>
          <a:prstGeom prst="rect">
            <a:avLst/>
          </a:prstGeom>
          <a:solidFill>
            <a:srgbClr val="00B4D8"/>
          </a:solidFill>
          <a:ln w="12700">
            <a:solidFill>
              <a:srgbClr val="00B4D8"/>
            </a:solidFill>
            <a:prstDash val="solid"/>
          </a:ln>
        </p:spPr>
      </p:sp>
      <p:sp>
        <p:nvSpPr>
          <p:cNvPr id="15" name="Shape 13"/>
          <p:cNvSpPr/>
          <p:nvPr/>
        </p:nvSpPr>
        <p:spPr>
          <a:xfrm>
            <a:off x="3182112" y="1517904"/>
            <a:ext cx="1261872" cy="822960"/>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6" name="Text 14"/>
          <p:cNvSpPr/>
          <p:nvPr/>
        </p:nvSpPr>
        <p:spPr>
          <a:xfrm>
            <a:off x="3182112" y="1517904"/>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Run 12</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Detectors</a:t>
            </a:r>
            <a:endParaRPr lang="en-US" sz="1000" dirty="0"/>
          </a:p>
        </p:txBody>
      </p:sp>
      <p:sp>
        <p:nvSpPr>
          <p:cNvPr id="17" name="Shape 15"/>
          <p:cNvSpPr/>
          <p:nvPr/>
        </p:nvSpPr>
        <p:spPr>
          <a:xfrm>
            <a:off x="4443984" y="1865376"/>
            <a:ext cx="146304" cy="128016"/>
          </a:xfrm>
          <a:prstGeom prst="rect">
            <a:avLst/>
          </a:prstGeom>
          <a:solidFill>
            <a:srgbClr val="00B4D8"/>
          </a:solidFill>
          <a:ln w="12700">
            <a:solidFill>
              <a:srgbClr val="00B4D8"/>
            </a:solidFill>
            <a:prstDash val="solid"/>
          </a:ln>
        </p:spPr>
      </p:sp>
      <p:sp>
        <p:nvSpPr>
          <p:cNvPr id="18" name="Shape 16"/>
          <p:cNvSpPr/>
          <p:nvPr/>
        </p:nvSpPr>
        <p:spPr>
          <a:xfrm>
            <a:off x="4590288" y="1517904"/>
            <a:ext cx="1261872" cy="822960"/>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19" name="Text 17"/>
          <p:cNvSpPr/>
          <p:nvPr/>
        </p:nvSpPr>
        <p:spPr>
          <a:xfrm>
            <a:off x="4590288" y="1517904"/>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Weight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Scoring</a:t>
            </a:r>
            <a:endParaRPr lang="en-US" sz="1000" dirty="0"/>
          </a:p>
        </p:txBody>
      </p:sp>
      <p:sp>
        <p:nvSpPr>
          <p:cNvPr id="20" name="Shape 18"/>
          <p:cNvSpPr/>
          <p:nvPr/>
        </p:nvSpPr>
        <p:spPr>
          <a:xfrm>
            <a:off x="5852160" y="1865376"/>
            <a:ext cx="146304" cy="128016"/>
          </a:xfrm>
          <a:prstGeom prst="rect">
            <a:avLst/>
          </a:prstGeom>
          <a:solidFill>
            <a:srgbClr val="00B4D8"/>
          </a:solidFill>
          <a:ln w="12700">
            <a:solidFill>
              <a:srgbClr val="00B4D8"/>
            </a:solidFill>
            <a:prstDash val="solid"/>
          </a:ln>
        </p:spPr>
      </p:sp>
      <p:sp>
        <p:nvSpPr>
          <p:cNvPr id="21" name="Shape 19"/>
          <p:cNvSpPr/>
          <p:nvPr/>
        </p:nvSpPr>
        <p:spPr>
          <a:xfrm>
            <a:off x="5998464" y="1517904"/>
            <a:ext cx="1261872" cy="822960"/>
          </a:xfrm>
          <a:prstGeom prst="rect">
            <a:avLst/>
          </a:prstGeom>
          <a:solidFill>
            <a:srgbClr val="112B47"/>
          </a:solidFill>
          <a:ln w="12700">
            <a:solidFill>
              <a:srgbClr val="00B4D8"/>
            </a:solidFill>
            <a:prstDash val="solid"/>
          </a:ln>
          <a:effectLst>
            <a:outerShdw blurRad="63500" dist="25400" dir="8100000" algn="bl" rotWithShape="0">
              <a:srgbClr val="000000">
                <a:alpha val="20000"/>
              </a:srgbClr>
            </a:outerShdw>
          </a:effectLst>
        </p:spPr>
      </p:sp>
      <p:sp>
        <p:nvSpPr>
          <p:cNvPr id="22" name="Text 20"/>
          <p:cNvSpPr/>
          <p:nvPr/>
        </p:nvSpPr>
        <p:spPr>
          <a:xfrm>
            <a:off x="5998464" y="1517904"/>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Severity</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Label</a:t>
            </a:r>
            <a:endParaRPr lang="en-US" sz="1000" dirty="0"/>
          </a:p>
        </p:txBody>
      </p:sp>
      <p:sp>
        <p:nvSpPr>
          <p:cNvPr id="23" name="Shape 21"/>
          <p:cNvSpPr/>
          <p:nvPr/>
        </p:nvSpPr>
        <p:spPr>
          <a:xfrm>
            <a:off x="7260336" y="1865376"/>
            <a:ext cx="146304" cy="128016"/>
          </a:xfrm>
          <a:prstGeom prst="rect">
            <a:avLst/>
          </a:prstGeom>
          <a:solidFill>
            <a:srgbClr val="00B4D8"/>
          </a:solidFill>
          <a:ln w="12700">
            <a:solidFill>
              <a:srgbClr val="00B4D8"/>
            </a:solidFill>
            <a:prstDash val="solid"/>
          </a:ln>
        </p:spPr>
      </p:sp>
      <p:sp>
        <p:nvSpPr>
          <p:cNvPr id="24" name="Shape 22"/>
          <p:cNvSpPr/>
          <p:nvPr/>
        </p:nvSpPr>
        <p:spPr>
          <a:xfrm>
            <a:off x="7406640" y="1517904"/>
            <a:ext cx="1261872" cy="822960"/>
          </a:xfrm>
          <a:prstGeom prst="rect">
            <a:avLst/>
          </a:prstGeom>
          <a:solidFill>
            <a:srgbClr val="00B4D8"/>
          </a:solidFill>
          <a:ln w="12700">
            <a:solidFill>
              <a:srgbClr val="00B4D8"/>
            </a:solidFill>
            <a:prstDash val="solid"/>
          </a:ln>
          <a:effectLst>
            <a:outerShdw blurRad="63500" dist="25400" dir="8100000" algn="bl" rotWithShape="0">
              <a:srgbClr val="000000">
                <a:alpha val="20000"/>
              </a:srgbClr>
            </a:outerShdw>
          </a:effectLst>
        </p:spPr>
      </p:sp>
      <p:sp>
        <p:nvSpPr>
          <p:cNvPr id="25" name="Text 23"/>
          <p:cNvSpPr/>
          <p:nvPr/>
        </p:nvSpPr>
        <p:spPr>
          <a:xfrm>
            <a:off x="7406640" y="1517904"/>
            <a:ext cx="1261872" cy="822960"/>
          </a:xfrm>
          <a:prstGeom prst="rect">
            <a:avLst/>
          </a:prstGeom>
          <a:noFill/>
          <a:ln/>
        </p:spPr>
        <p:txBody>
          <a:bodyPr wrap="square" rtlCol="0" anchor="ctr"/>
          <a:lstStyle/>
          <a:p>
            <a:pPr marL="0" indent="0" algn="ctr">
              <a:buNone/>
            </a:pPr>
            <a:r>
              <a:rPr lang="en-US" sz="1000" b="1" dirty="0">
                <a:solidFill>
                  <a:srgbClr val="060F1E"/>
                </a:solidFill>
                <a:latin typeface="Calibri" pitchFamily="34" charset="0"/>
                <a:ea typeface="Calibri" pitchFamily="34" charset="-122"/>
                <a:cs typeface="Calibri" pitchFamily="34" charset="-120"/>
              </a:rPr>
              <a:t>Alert</a:t>
            </a:r>
            <a:endParaRPr lang="en-US" sz="1000" dirty="0"/>
          </a:p>
          <a:p>
            <a:pPr marL="0" indent="0" algn="ctr">
              <a:buNone/>
            </a:pPr>
            <a:r>
              <a:rPr lang="en-US" sz="1000" b="1" dirty="0">
                <a:solidFill>
                  <a:srgbClr val="060F1E"/>
                </a:solidFill>
                <a:latin typeface="Calibri" pitchFamily="34" charset="0"/>
                <a:ea typeface="Calibri" pitchFamily="34" charset="-122"/>
                <a:cs typeface="Calibri" pitchFamily="34" charset="-120"/>
              </a:rPr>
              <a:t>Report</a:t>
            </a:r>
            <a:endParaRPr lang="en-US" sz="1000" dirty="0"/>
          </a:p>
        </p:txBody>
      </p:sp>
      <p:sp>
        <p:nvSpPr>
          <p:cNvPr id="26" name="Shape 24"/>
          <p:cNvSpPr/>
          <p:nvPr/>
        </p:nvSpPr>
        <p:spPr>
          <a:xfrm>
            <a:off x="365760" y="2487168"/>
            <a:ext cx="1664208" cy="292608"/>
          </a:xfrm>
          <a:prstGeom prst="rect">
            <a:avLst/>
          </a:prstGeom>
          <a:solidFill>
            <a:srgbClr val="2DC653"/>
          </a:solidFill>
          <a:ln w="12700">
            <a:solidFill>
              <a:srgbClr val="2DC653"/>
            </a:solidFill>
            <a:prstDash val="solid"/>
          </a:ln>
        </p:spPr>
      </p:sp>
      <p:sp>
        <p:nvSpPr>
          <p:cNvPr id="27" name="Text 25"/>
          <p:cNvSpPr/>
          <p:nvPr/>
        </p:nvSpPr>
        <p:spPr>
          <a:xfrm>
            <a:off x="365760" y="2487168"/>
            <a:ext cx="16642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SAFE</a:t>
            </a:r>
            <a:endParaRPr lang="en-US" sz="1000" dirty="0"/>
          </a:p>
        </p:txBody>
      </p:sp>
      <p:sp>
        <p:nvSpPr>
          <p:cNvPr id="28" name="Shape 26"/>
          <p:cNvSpPr/>
          <p:nvPr/>
        </p:nvSpPr>
        <p:spPr>
          <a:xfrm>
            <a:off x="2029968" y="2487168"/>
            <a:ext cx="1664208" cy="292608"/>
          </a:xfrm>
          <a:prstGeom prst="rect">
            <a:avLst/>
          </a:prstGeom>
          <a:solidFill>
            <a:srgbClr val="52B788"/>
          </a:solidFill>
          <a:ln w="12700">
            <a:solidFill>
              <a:srgbClr val="52B788"/>
            </a:solidFill>
            <a:prstDash val="solid"/>
          </a:ln>
        </p:spPr>
      </p:sp>
      <p:sp>
        <p:nvSpPr>
          <p:cNvPr id="29" name="Text 27"/>
          <p:cNvSpPr/>
          <p:nvPr/>
        </p:nvSpPr>
        <p:spPr>
          <a:xfrm>
            <a:off x="2029968" y="2487168"/>
            <a:ext cx="16642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30" name="Shape 28"/>
          <p:cNvSpPr/>
          <p:nvPr/>
        </p:nvSpPr>
        <p:spPr>
          <a:xfrm>
            <a:off x="3694176" y="2487168"/>
            <a:ext cx="1664208" cy="292608"/>
          </a:xfrm>
          <a:prstGeom prst="rect">
            <a:avLst/>
          </a:prstGeom>
          <a:solidFill>
            <a:srgbClr val="F4A261"/>
          </a:solidFill>
          <a:ln w="12700">
            <a:solidFill>
              <a:srgbClr val="F4A261"/>
            </a:solidFill>
            <a:prstDash val="solid"/>
          </a:ln>
        </p:spPr>
      </p:sp>
      <p:sp>
        <p:nvSpPr>
          <p:cNvPr id="31" name="Text 29"/>
          <p:cNvSpPr/>
          <p:nvPr/>
        </p:nvSpPr>
        <p:spPr>
          <a:xfrm>
            <a:off x="3694176" y="2487168"/>
            <a:ext cx="16642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2" name="Shape 30"/>
          <p:cNvSpPr/>
          <p:nvPr/>
        </p:nvSpPr>
        <p:spPr>
          <a:xfrm>
            <a:off x="5358384" y="2487168"/>
            <a:ext cx="1664208" cy="292608"/>
          </a:xfrm>
          <a:prstGeom prst="rect">
            <a:avLst/>
          </a:prstGeom>
          <a:solidFill>
            <a:srgbClr val="E76F51"/>
          </a:solidFill>
          <a:ln w="12700">
            <a:solidFill>
              <a:srgbClr val="E76F51"/>
            </a:solidFill>
            <a:prstDash val="solid"/>
          </a:ln>
        </p:spPr>
      </p:sp>
      <p:sp>
        <p:nvSpPr>
          <p:cNvPr id="33" name="Text 31"/>
          <p:cNvSpPr/>
          <p:nvPr/>
        </p:nvSpPr>
        <p:spPr>
          <a:xfrm>
            <a:off x="5358384" y="2487168"/>
            <a:ext cx="16642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34" name="Shape 32"/>
          <p:cNvSpPr/>
          <p:nvPr/>
        </p:nvSpPr>
        <p:spPr>
          <a:xfrm>
            <a:off x="7022592" y="2487168"/>
            <a:ext cx="1664208" cy="292608"/>
          </a:xfrm>
          <a:prstGeom prst="rect">
            <a:avLst/>
          </a:prstGeom>
          <a:solidFill>
            <a:srgbClr val="E63946"/>
          </a:solidFill>
          <a:ln w="12700">
            <a:solidFill>
              <a:srgbClr val="E63946"/>
            </a:solidFill>
            <a:prstDash val="solid"/>
          </a:ln>
        </p:spPr>
      </p:sp>
      <p:sp>
        <p:nvSpPr>
          <p:cNvPr id="35" name="Text 33"/>
          <p:cNvSpPr/>
          <p:nvPr/>
        </p:nvSpPr>
        <p:spPr>
          <a:xfrm>
            <a:off x="7022592" y="2487168"/>
            <a:ext cx="16642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36" name="Text 34"/>
          <p:cNvSpPr/>
          <p:nvPr/>
        </p:nvSpPr>
        <p:spPr>
          <a:xfrm>
            <a:off x="365760" y="2798064"/>
            <a:ext cx="640080"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Score ≥</a:t>
            </a:r>
            <a:endParaRPr lang="en-US" sz="900" dirty="0"/>
          </a:p>
        </p:txBody>
      </p:sp>
      <p:sp>
        <p:nvSpPr>
          <p:cNvPr id="37" name="Text 35"/>
          <p:cNvSpPr/>
          <p:nvPr/>
        </p:nvSpPr>
        <p:spPr>
          <a:xfrm>
            <a:off x="914400" y="2798064"/>
            <a:ext cx="1115568"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0</a:t>
            </a:r>
            <a:endParaRPr lang="en-US" sz="900" dirty="0"/>
          </a:p>
        </p:txBody>
      </p:sp>
      <p:sp>
        <p:nvSpPr>
          <p:cNvPr id="38" name="Text 36"/>
          <p:cNvSpPr/>
          <p:nvPr/>
        </p:nvSpPr>
        <p:spPr>
          <a:xfrm>
            <a:off x="2578608" y="2798064"/>
            <a:ext cx="1115568"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1</a:t>
            </a:r>
            <a:endParaRPr lang="en-US" sz="900" dirty="0"/>
          </a:p>
        </p:txBody>
      </p:sp>
      <p:sp>
        <p:nvSpPr>
          <p:cNvPr id="39" name="Text 37"/>
          <p:cNvSpPr/>
          <p:nvPr/>
        </p:nvSpPr>
        <p:spPr>
          <a:xfrm>
            <a:off x="4242816" y="2798064"/>
            <a:ext cx="1115568"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2–4</a:t>
            </a:r>
            <a:endParaRPr lang="en-US" sz="900" dirty="0"/>
          </a:p>
        </p:txBody>
      </p:sp>
      <p:sp>
        <p:nvSpPr>
          <p:cNvPr id="40" name="Text 38"/>
          <p:cNvSpPr/>
          <p:nvPr/>
        </p:nvSpPr>
        <p:spPr>
          <a:xfrm>
            <a:off x="5907024" y="2798064"/>
            <a:ext cx="1115568"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5–9</a:t>
            </a:r>
            <a:endParaRPr lang="en-US" sz="900" dirty="0"/>
          </a:p>
        </p:txBody>
      </p:sp>
      <p:sp>
        <p:nvSpPr>
          <p:cNvPr id="41" name="Text 39"/>
          <p:cNvSpPr/>
          <p:nvPr/>
        </p:nvSpPr>
        <p:spPr>
          <a:xfrm>
            <a:off x="7571232" y="2798064"/>
            <a:ext cx="1115568" cy="201168"/>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≥10</a:t>
            </a:r>
            <a:endParaRPr lang="en-US" sz="900" dirty="0"/>
          </a:p>
        </p:txBody>
      </p:sp>
      <p:sp>
        <p:nvSpPr>
          <p:cNvPr id="42" name="Text 40"/>
          <p:cNvSpPr/>
          <p:nvPr/>
        </p:nvSpPr>
        <p:spPr>
          <a:xfrm>
            <a:off x="365760" y="3127248"/>
            <a:ext cx="8412480" cy="201168"/>
          </a:xfrm>
          <a:prstGeom prst="rect">
            <a:avLst/>
          </a:prstGeom>
          <a:noFill/>
          <a:ln/>
        </p:spPr>
        <p:txBody>
          <a:bodyPr wrap="square" lIns="0" tIns="0" rIns="0" bIns="0" rtlCol="0" anchor="ctr"/>
          <a:lstStyle/>
          <a:p>
            <a:pPr marL="0" indent="0">
              <a:buNone/>
            </a:pPr>
            <a:r>
              <a:rPr lang="en-US" sz="800" b="1" kern="0" spc="300" dirty="0">
                <a:solidFill>
                  <a:srgbClr val="2DC653"/>
                </a:solidFill>
                <a:latin typeface="Calibri" pitchFamily="34" charset="0"/>
                <a:ea typeface="Calibri" pitchFamily="34" charset="-122"/>
                <a:cs typeface="Calibri" pitchFamily="34" charset="-120"/>
              </a:rPr>
              <a:t>OUTGOING EMAIL PATH (DLP)</a:t>
            </a:r>
            <a:endParaRPr lang="en-US" sz="800" dirty="0"/>
          </a:p>
        </p:txBody>
      </p:sp>
      <p:sp>
        <p:nvSpPr>
          <p:cNvPr id="43" name="Shape 41"/>
          <p:cNvSpPr/>
          <p:nvPr/>
        </p:nvSpPr>
        <p:spPr>
          <a:xfrm>
            <a:off x="365760" y="3383280"/>
            <a:ext cx="1261872" cy="822960"/>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44" name="Text 42"/>
          <p:cNvSpPr/>
          <p:nvPr/>
        </p:nvSpPr>
        <p:spPr>
          <a:xfrm>
            <a:off x="365760" y="3383280"/>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.eml Draft</a:t>
            </a:r>
            <a:endParaRPr lang="en-US" sz="1000" dirty="0"/>
          </a:p>
        </p:txBody>
      </p:sp>
      <p:sp>
        <p:nvSpPr>
          <p:cNvPr id="45" name="Shape 43"/>
          <p:cNvSpPr/>
          <p:nvPr/>
        </p:nvSpPr>
        <p:spPr>
          <a:xfrm>
            <a:off x="1627632" y="3730752"/>
            <a:ext cx="146304" cy="128016"/>
          </a:xfrm>
          <a:prstGeom prst="rect">
            <a:avLst/>
          </a:prstGeom>
          <a:solidFill>
            <a:srgbClr val="2DC653"/>
          </a:solidFill>
          <a:ln w="12700">
            <a:solidFill>
              <a:srgbClr val="2DC653"/>
            </a:solidFill>
            <a:prstDash val="solid"/>
          </a:ln>
        </p:spPr>
      </p:sp>
      <p:sp>
        <p:nvSpPr>
          <p:cNvPr id="46" name="Shape 44"/>
          <p:cNvSpPr/>
          <p:nvPr/>
        </p:nvSpPr>
        <p:spPr>
          <a:xfrm>
            <a:off x="1773936" y="3383280"/>
            <a:ext cx="1261872" cy="822960"/>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47" name="Text 45"/>
          <p:cNvSpPr/>
          <p:nvPr/>
        </p:nvSpPr>
        <p:spPr>
          <a:xfrm>
            <a:off x="1773936" y="3383280"/>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Extract Body</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&amp; Attachments</a:t>
            </a:r>
            <a:endParaRPr lang="en-US" sz="1000" dirty="0"/>
          </a:p>
        </p:txBody>
      </p:sp>
      <p:sp>
        <p:nvSpPr>
          <p:cNvPr id="48" name="Shape 46"/>
          <p:cNvSpPr/>
          <p:nvPr/>
        </p:nvSpPr>
        <p:spPr>
          <a:xfrm>
            <a:off x="3035808" y="3730752"/>
            <a:ext cx="146304" cy="128016"/>
          </a:xfrm>
          <a:prstGeom prst="rect">
            <a:avLst/>
          </a:prstGeom>
          <a:solidFill>
            <a:srgbClr val="2DC653"/>
          </a:solidFill>
          <a:ln w="12700">
            <a:solidFill>
              <a:srgbClr val="2DC653"/>
            </a:solidFill>
            <a:prstDash val="solid"/>
          </a:ln>
        </p:spPr>
      </p:sp>
      <p:sp>
        <p:nvSpPr>
          <p:cNvPr id="49" name="Shape 47"/>
          <p:cNvSpPr/>
          <p:nvPr/>
        </p:nvSpPr>
        <p:spPr>
          <a:xfrm>
            <a:off x="3182112" y="3383280"/>
            <a:ext cx="1261872" cy="822960"/>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50" name="Text 48"/>
          <p:cNvSpPr/>
          <p:nvPr/>
        </p:nvSpPr>
        <p:spPr>
          <a:xfrm>
            <a:off x="3182112" y="3383280"/>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Regex Scan</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(PAN/Card/PW)</a:t>
            </a:r>
            <a:endParaRPr lang="en-US" sz="1000" dirty="0"/>
          </a:p>
        </p:txBody>
      </p:sp>
      <p:sp>
        <p:nvSpPr>
          <p:cNvPr id="51" name="Shape 49"/>
          <p:cNvSpPr/>
          <p:nvPr/>
        </p:nvSpPr>
        <p:spPr>
          <a:xfrm>
            <a:off x="4443984" y="3730752"/>
            <a:ext cx="146304" cy="128016"/>
          </a:xfrm>
          <a:prstGeom prst="rect">
            <a:avLst/>
          </a:prstGeom>
          <a:solidFill>
            <a:srgbClr val="2DC653"/>
          </a:solidFill>
          <a:ln w="12700">
            <a:solidFill>
              <a:srgbClr val="2DC653"/>
            </a:solidFill>
            <a:prstDash val="solid"/>
          </a:ln>
        </p:spPr>
      </p:sp>
      <p:sp>
        <p:nvSpPr>
          <p:cNvPr id="52" name="Shape 50"/>
          <p:cNvSpPr/>
          <p:nvPr/>
        </p:nvSpPr>
        <p:spPr>
          <a:xfrm>
            <a:off x="4590288" y="3383280"/>
            <a:ext cx="1261872" cy="822960"/>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53" name="Text 51"/>
          <p:cNvSpPr/>
          <p:nvPr/>
        </p:nvSpPr>
        <p:spPr>
          <a:xfrm>
            <a:off x="4590288" y="3383280"/>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Luhn Card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Validation</a:t>
            </a:r>
            <a:endParaRPr lang="en-US" sz="1000" dirty="0"/>
          </a:p>
        </p:txBody>
      </p:sp>
      <p:sp>
        <p:nvSpPr>
          <p:cNvPr id="54" name="Shape 52"/>
          <p:cNvSpPr/>
          <p:nvPr/>
        </p:nvSpPr>
        <p:spPr>
          <a:xfrm>
            <a:off x="5852160" y="3730752"/>
            <a:ext cx="146304" cy="128016"/>
          </a:xfrm>
          <a:prstGeom prst="rect">
            <a:avLst/>
          </a:prstGeom>
          <a:solidFill>
            <a:srgbClr val="2DC653"/>
          </a:solidFill>
          <a:ln w="12700">
            <a:solidFill>
              <a:srgbClr val="2DC653"/>
            </a:solidFill>
            <a:prstDash val="solid"/>
          </a:ln>
        </p:spPr>
      </p:sp>
      <p:sp>
        <p:nvSpPr>
          <p:cNvPr id="55" name="Shape 53"/>
          <p:cNvSpPr/>
          <p:nvPr/>
        </p:nvSpPr>
        <p:spPr>
          <a:xfrm>
            <a:off x="5998464" y="3383280"/>
            <a:ext cx="1261872" cy="822960"/>
          </a:xfrm>
          <a:prstGeom prst="rect">
            <a:avLst/>
          </a:prstGeom>
          <a:solidFill>
            <a:srgbClr val="112B47"/>
          </a:solidFill>
          <a:ln w="12700">
            <a:solidFill>
              <a:srgbClr val="2DC653"/>
            </a:solidFill>
            <a:prstDash val="solid"/>
          </a:ln>
          <a:effectLst>
            <a:outerShdw blurRad="63500" dist="25400" dir="8100000" algn="bl" rotWithShape="0">
              <a:srgbClr val="000000">
                <a:alpha val="20000"/>
              </a:srgbClr>
            </a:outerShdw>
          </a:effectLst>
        </p:spPr>
      </p:sp>
      <p:sp>
        <p:nvSpPr>
          <p:cNvPr id="56" name="Text 54"/>
          <p:cNvSpPr/>
          <p:nvPr/>
        </p:nvSpPr>
        <p:spPr>
          <a:xfrm>
            <a:off x="5998464" y="3383280"/>
            <a:ext cx="1261872" cy="8229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Filename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Check</a:t>
            </a:r>
            <a:endParaRPr lang="en-US" sz="1000" dirty="0"/>
          </a:p>
        </p:txBody>
      </p:sp>
      <p:sp>
        <p:nvSpPr>
          <p:cNvPr id="57" name="Shape 55"/>
          <p:cNvSpPr/>
          <p:nvPr/>
        </p:nvSpPr>
        <p:spPr>
          <a:xfrm>
            <a:off x="7260336" y="3730752"/>
            <a:ext cx="146304" cy="128016"/>
          </a:xfrm>
          <a:prstGeom prst="rect">
            <a:avLst/>
          </a:prstGeom>
          <a:solidFill>
            <a:srgbClr val="2DC653"/>
          </a:solidFill>
          <a:ln w="12700">
            <a:solidFill>
              <a:srgbClr val="2DC653"/>
            </a:solidFill>
            <a:prstDash val="solid"/>
          </a:ln>
        </p:spPr>
      </p:sp>
      <p:sp>
        <p:nvSpPr>
          <p:cNvPr id="58" name="Shape 56"/>
          <p:cNvSpPr/>
          <p:nvPr/>
        </p:nvSpPr>
        <p:spPr>
          <a:xfrm>
            <a:off x="7406640" y="3383280"/>
            <a:ext cx="1261872" cy="822960"/>
          </a:xfrm>
          <a:prstGeom prst="rect">
            <a:avLst/>
          </a:prstGeom>
          <a:solidFill>
            <a:srgbClr val="0D2137"/>
          </a:solidFill>
          <a:ln w="12700">
            <a:solidFill>
              <a:srgbClr val="2DC653"/>
            </a:solidFill>
            <a:prstDash val="solid"/>
          </a:ln>
          <a:effectLst>
            <a:outerShdw blurRad="63500" dist="25400" dir="8100000" algn="bl" rotWithShape="0">
              <a:srgbClr val="000000">
                <a:alpha val="20000"/>
              </a:srgbClr>
            </a:outerShdw>
          </a:effectLst>
        </p:spPr>
      </p:sp>
      <p:sp>
        <p:nvSpPr>
          <p:cNvPr id="59" name="Text 57"/>
          <p:cNvSpPr/>
          <p:nvPr/>
        </p:nvSpPr>
        <p:spPr>
          <a:xfrm>
            <a:off x="7406640" y="3383280"/>
            <a:ext cx="1261872" cy="822960"/>
          </a:xfrm>
          <a:prstGeom prst="rect">
            <a:avLst/>
          </a:prstGeom>
          <a:noFill/>
          <a:ln/>
        </p:spPr>
        <p:txBody>
          <a:bodyPr wrap="square" rtlCol="0" anchor="ctr"/>
          <a:lstStyle/>
          <a:p>
            <a:pPr marL="0" indent="0" algn="ctr">
              <a:buNone/>
            </a:pPr>
            <a:r>
              <a:rPr lang="en-US" sz="1000" b="1" dirty="0">
                <a:solidFill>
                  <a:srgbClr val="2DC653"/>
                </a:solidFill>
                <a:latin typeface="Calibri" pitchFamily="34" charset="0"/>
                <a:ea typeface="Calibri" pitchFamily="34" charset="-122"/>
                <a:cs typeface="Calibri" pitchFamily="34" charset="-120"/>
              </a:rPr>
              <a:t>BLOCK /</a:t>
            </a:r>
            <a:endParaRPr lang="en-US" sz="1000" dirty="0"/>
          </a:p>
          <a:p>
            <a:pPr marL="0" indent="0" algn="ctr">
              <a:buNone/>
            </a:pPr>
            <a:r>
              <a:rPr lang="en-US" sz="1000" b="1" dirty="0">
                <a:solidFill>
                  <a:srgbClr val="2DC653"/>
                </a:solidFill>
                <a:latin typeface="Calibri" pitchFamily="34" charset="0"/>
                <a:ea typeface="Calibri" pitchFamily="34" charset="-122"/>
                <a:cs typeface="Calibri" pitchFamily="34" charset="-120"/>
              </a:rPr>
              <a:t>CLEAR</a:t>
            </a:r>
            <a:endParaRPr lang="en-US" sz="1000" dirty="0"/>
          </a:p>
        </p:txBody>
      </p:sp>
      <p:sp>
        <p:nvSpPr>
          <p:cNvPr id="60" name="Shape 58"/>
          <p:cNvSpPr/>
          <p:nvPr/>
        </p:nvSpPr>
        <p:spPr>
          <a:xfrm>
            <a:off x="365760" y="4407408"/>
            <a:ext cx="3474720" cy="420624"/>
          </a:xfrm>
          <a:prstGeom prst="rect">
            <a:avLst/>
          </a:prstGeom>
          <a:solidFill>
            <a:srgbClr val="E63946"/>
          </a:solidFill>
          <a:ln w="12700">
            <a:solidFill>
              <a:srgbClr val="E63946"/>
            </a:solidFill>
            <a:prstDash val="solid"/>
          </a:ln>
        </p:spPr>
      </p:sp>
      <p:sp>
        <p:nvSpPr>
          <p:cNvPr id="61" name="Text 59"/>
          <p:cNvSpPr/>
          <p:nvPr/>
        </p:nvSpPr>
        <p:spPr>
          <a:xfrm>
            <a:off x="457200" y="4407408"/>
            <a:ext cx="3383280"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BLOCKED — CRITICAL pattern detected (PAN / Aadhaar / Card / Password)</a:t>
            </a:r>
            <a:endParaRPr lang="en-US" sz="1050" dirty="0"/>
          </a:p>
        </p:txBody>
      </p:sp>
      <p:sp>
        <p:nvSpPr>
          <p:cNvPr id="62" name="Shape 60"/>
          <p:cNvSpPr/>
          <p:nvPr/>
        </p:nvSpPr>
        <p:spPr>
          <a:xfrm>
            <a:off x="4023360" y="4407408"/>
            <a:ext cx="4754880" cy="420624"/>
          </a:xfrm>
          <a:prstGeom prst="rect">
            <a:avLst/>
          </a:prstGeom>
          <a:solidFill>
            <a:srgbClr val="2DC653"/>
          </a:solidFill>
          <a:ln w="12700">
            <a:solidFill>
              <a:srgbClr val="2DC653"/>
            </a:solidFill>
            <a:prstDash val="solid"/>
          </a:ln>
        </p:spPr>
      </p:sp>
      <p:sp>
        <p:nvSpPr>
          <p:cNvPr id="63" name="Text 61"/>
          <p:cNvSpPr/>
          <p:nvPr/>
        </p:nvSpPr>
        <p:spPr>
          <a:xfrm>
            <a:off x="4114800" y="4407408"/>
            <a:ext cx="4572000" cy="420624"/>
          </a:xfrm>
          <a:prstGeom prst="rect">
            <a:avLst/>
          </a:prstGeom>
          <a:noFill/>
          <a:ln/>
        </p:spPr>
        <p:txBody>
          <a:bodyPr wrap="square" lIns="0" tIns="0" rIns="0" bIns="0" rtlCol="0" anchor="ctr"/>
          <a:lstStyle/>
          <a:p>
            <a:pPr marL="0" indent="0">
              <a:buNone/>
            </a:pPr>
            <a:r>
              <a:rPr lang="en-US" sz="1050" b="1" dirty="0">
                <a:solidFill>
                  <a:srgbClr val="060F1E"/>
                </a:solidFill>
                <a:latin typeface="Calibri" pitchFamily="34" charset="0"/>
                <a:ea typeface="Calibri" pitchFamily="34" charset="-122"/>
                <a:cs typeface="Calibri" pitchFamily="34" charset="-120"/>
              </a:rPr>
              <a:t>✅  CLEARED — No sensitive data found. Safe to transmit.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06 · ALGORITHM</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Luhn Algorithm — Mathematical Card Validation</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Shape 6"/>
          <p:cNvSpPr/>
          <p:nvPr/>
        </p:nvSpPr>
        <p:spPr>
          <a:xfrm>
            <a:off x="365760" y="1261872"/>
            <a:ext cx="3977640" cy="804672"/>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9" name="Text 7"/>
          <p:cNvSpPr/>
          <p:nvPr/>
        </p:nvSpPr>
        <p:spPr>
          <a:xfrm>
            <a:off x="502920" y="1335024"/>
            <a:ext cx="3566160" cy="182880"/>
          </a:xfrm>
          <a:prstGeom prst="rect">
            <a:avLst/>
          </a:prstGeom>
          <a:noFill/>
          <a:ln/>
        </p:spPr>
        <p:txBody>
          <a:bodyPr wrap="square" lIns="0" tIns="0" rIns="0" bIns="0" rtlCol="0" anchor="ctr"/>
          <a:lstStyle/>
          <a:p>
            <a:pPr marL="0" indent="0">
              <a:buNone/>
            </a:pPr>
            <a:r>
              <a:rPr lang="en-US" sz="800" b="1" kern="0" spc="200" dirty="0">
                <a:solidFill>
                  <a:srgbClr val="00B4D8"/>
                </a:solidFill>
                <a:latin typeface="Calibri" pitchFamily="34" charset="0"/>
                <a:ea typeface="Calibri" pitchFamily="34" charset="-122"/>
                <a:cs typeface="Calibri" pitchFamily="34" charset="-120"/>
              </a:rPr>
              <a:t>THE PROBLEM</a:t>
            </a:r>
            <a:endParaRPr lang="en-US" sz="800" dirty="0"/>
          </a:p>
        </p:txBody>
      </p:sp>
      <p:sp>
        <p:nvSpPr>
          <p:cNvPr id="10" name="Text 8"/>
          <p:cNvSpPr/>
          <p:nvPr/>
        </p:nvSpPr>
        <p:spPr>
          <a:xfrm>
            <a:off x="502920" y="1527048"/>
            <a:ext cx="3703320" cy="475488"/>
          </a:xfrm>
          <a:prstGeom prst="rect">
            <a:avLst/>
          </a:prstGeom>
          <a:noFill/>
          <a:ln/>
        </p:spPr>
        <p:txBody>
          <a:bodyPr wrap="square" rtlCol="0" anchor="ctr"/>
          <a:lstStyle/>
          <a:p>
            <a:pPr marL="0" indent="0">
              <a:buNone/>
            </a:pPr>
            <a:r>
              <a:rPr lang="en-US" sz="1100" dirty="0">
                <a:solidFill>
                  <a:srgbClr val="D0E4F5"/>
                </a:solidFill>
                <a:latin typeface="Calibri" pitchFamily="34" charset="0"/>
                <a:ea typeface="Calibri" pitchFamily="34" charset="-122"/>
                <a:cs typeface="Calibri" pitchFamily="34" charset="-120"/>
              </a:rPr>
              <a:t>Regex alone matches any 13–19 digit sequence. Phone numbers, order IDs, and timestamps all produce false positives at scale.</a:t>
            </a:r>
            <a:endParaRPr lang="en-US" sz="1100" dirty="0"/>
          </a:p>
        </p:txBody>
      </p:sp>
      <p:sp>
        <p:nvSpPr>
          <p:cNvPr id="11" name="Shape 9"/>
          <p:cNvSpPr/>
          <p:nvPr/>
        </p:nvSpPr>
        <p:spPr>
          <a:xfrm>
            <a:off x="4526280" y="1261872"/>
            <a:ext cx="4251960" cy="804672"/>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12" name="Text 10"/>
          <p:cNvSpPr/>
          <p:nvPr/>
        </p:nvSpPr>
        <p:spPr>
          <a:xfrm>
            <a:off x="4663440" y="1335024"/>
            <a:ext cx="3931920" cy="182880"/>
          </a:xfrm>
          <a:prstGeom prst="rect">
            <a:avLst/>
          </a:prstGeom>
          <a:noFill/>
          <a:ln/>
        </p:spPr>
        <p:txBody>
          <a:bodyPr wrap="square" lIns="0" tIns="0" rIns="0" bIns="0" rtlCol="0" anchor="ctr"/>
          <a:lstStyle/>
          <a:p>
            <a:pPr marL="0" indent="0">
              <a:buNone/>
            </a:pPr>
            <a:r>
              <a:rPr lang="en-US" sz="800" b="1" kern="0" spc="200" dirty="0">
                <a:solidFill>
                  <a:srgbClr val="F4A261"/>
                </a:solidFill>
                <a:latin typeface="Calibri" pitchFamily="34" charset="0"/>
                <a:ea typeface="Calibri" pitchFamily="34" charset="-122"/>
                <a:cs typeface="Calibri" pitchFamily="34" charset="-120"/>
              </a:rPr>
              <a:t>THE SOLUTION</a:t>
            </a:r>
            <a:endParaRPr lang="en-US" sz="800" dirty="0"/>
          </a:p>
        </p:txBody>
      </p:sp>
      <p:sp>
        <p:nvSpPr>
          <p:cNvPr id="13" name="Text 11"/>
          <p:cNvSpPr/>
          <p:nvPr/>
        </p:nvSpPr>
        <p:spPr>
          <a:xfrm>
            <a:off x="4663440" y="1527048"/>
            <a:ext cx="3931920" cy="475488"/>
          </a:xfrm>
          <a:prstGeom prst="rect">
            <a:avLst/>
          </a:prstGeom>
          <a:noFill/>
          <a:ln/>
        </p:spPr>
        <p:txBody>
          <a:bodyPr wrap="square" rtlCol="0" anchor="ctr"/>
          <a:lstStyle/>
          <a:p>
            <a:pPr marL="0" indent="0">
              <a:buNone/>
            </a:pPr>
            <a:r>
              <a:rPr lang="en-US" sz="1100" dirty="0">
                <a:solidFill>
                  <a:srgbClr val="D0E4F5"/>
                </a:solidFill>
                <a:latin typeface="Calibri" pitchFamily="34" charset="0"/>
                <a:ea typeface="Calibri" pitchFamily="34" charset="-122"/>
                <a:cs typeface="Calibri" pitchFamily="34" charset="-120"/>
              </a:rPr>
              <a:t>Luhn (Hans Peter Luhn, IBM 1954) is a checksum formula baked into every major card network — Visa, Mastercard, RuPay. Zero false positives.</a:t>
            </a:r>
            <a:endParaRPr lang="en-US" sz="1100" dirty="0"/>
          </a:p>
        </p:txBody>
      </p:sp>
      <p:sp>
        <p:nvSpPr>
          <p:cNvPr id="14" name="Text 12"/>
          <p:cNvSpPr/>
          <p:nvPr/>
        </p:nvSpPr>
        <p:spPr>
          <a:xfrm>
            <a:off x="365760" y="2212848"/>
            <a:ext cx="3657600" cy="201168"/>
          </a:xfrm>
          <a:prstGeom prst="rect">
            <a:avLst/>
          </a:prstGeom>
          <a:noFill/>
          <a:ln/>
        </p:spPr>
        <p:txBody>
          <a:bodyPr wrap="square" lIns="0" tIns="0" rIns="0" bIns="0" rtlCol="0" anchor="ctr"/>
          <a:lstStyle/>
          <a:p>
            <a:pPr marL="0" indent="0">
              <a:buNone/>
            </a:pPr>
            <a:r>
              <a:rPr lang="en-US" sz="800" b="1" kern="0" spc="300" dirty="0">
                <a:solidFill>
                  <a:srgbClr val="5A8FAA"/>
                </a:solidFill>
                <a:latin typeface="Calibri" pitchFamily="34" charset="0"/>
                <a:ea typeface="Calibri" pitchFamily="34" charset="-122"/>
                <a:cs typeface="Calibri" pitchFamily="34" charset="-120"/>
              </a:rPr>
              <a:t>ALGORITHM STEPS</a:t>
            </a:r>
            <a:endParaRPr lang="en-US" sz="800" dirty="0"/>
          </a:p>
        </p:txBody>
      </p:sp>
      <p:sp>
        <p:nvSpPr>
          <p:cNvPr id="15" name="Shape 13"/>
          <p:cNvSpPr/>
          <p:nvPr/>
        </p:nvSpPr>
        <p:spPr>
          <a:xfrm>
            <a:off x="365760" y="2450592"/>
            <a:ext cx="384048" cy="384048"/>
          </a:xfrm>
          <a:prstGeom prst="ellipse">
            <a:avLst/>
          </a:prstGeom>
          <a:solidFill>
            <a:srgbClr val="00B4D8"/>
          </a:solidFill>
          <a:ln w="12700">
            <a:solidFill>
              <a:srgbClr val="00B4D8"/>
            </a:solidFill>
            <a:prstDash val="solid"/>
          </a:ln>
        </p:spPr>
      </p:sp>
      <p:sp>
        <p:nvSpPr>
          <p:cNvPr id="16" name="Text 14"/>
          <p:cNvSpPr/>
          <p:nvPr/>
        </p:nvSpPr>
        <p:spPr>
          <a:xfrm>
            <a:off x="365760" y="2478024"/>
            <a:ext cx="384048" cy="329184"/>
          </a:xfrm>
          <a:prstGeom prst="rect">
            <a:avLst/>
          </a:prstGeom>
          <a:noFill/>
          <a:ln/>
        </p:spPr>
        <p:txBody>
          <a:bodyPr wrap="square" lIns="0" tIns="0" rIns="0" bIns="0" rtlCol="0" anchor="ctr"/>
          <a:lstStyle/>
          <a:p>
            <a:pPr marL="0" indent="0" algn="ctr">
              <a:buNone/>
            </a:pPr>
            <a:r>
              <a:rPr lang="en-US" sz="1300" b="1" dirty="0">
                <a:solidFill>
                  <a:srgbClr val="060F1E"/>
                </a:solidFill>
                <a:latin typeface="Calibri" pitchFamily="34" charset="0"/>
                <a:ea typeface="Calibri" pitchFamily="34" charset="-122"/>
                <a:cs typeface="Calibri" pitchFamily="34" charset="-120"/>
              </a:rPr>
              <a:t>1</a:t>
            </a:r>
            <a:endParaRPr lang="en-US" sz="1300" dirty="0"/>
          </a:p>
        </p:txBody>
      </p:sp>
      <p:sp>
        <p:nvSpPr>
          <p:cNvPr id="17" name="Text 15"/>
          <p:cNvSpPr/>
          <p:nvPr/>
        </p:nvSpPr>
        <p:spPr>
          <a:xfrm>
            <a:off x="841248" y="2468880"/>
            <a:ext cx="3657600" cy="402336"/>
          </a:xfrm>
          <a:prstGeom prst="rect">
            <a:avLst/>
          </a:prstGeom>
          <a:noFill/>
          <a:ln/>
        </p:spPr>
        <p:txBody>
          <a:bodyPr wrap="square" lIns="0" tIns="0" rIns="0" bIns="0" rtlCol="0" anchor="ctr"/>
          <a:lstStyle/>
          <a:p>
            <a:pPr marL="0" indent="0">
              <a:buNone/>
            </a:pPr>
            <a:r>
              <a:rPr lang="en-US" sz="1150" dirty="0">
                <a:solidFill>
                  <a:srgbClr val="D0E4F5"/>
                </a:solidFill>
                <a:latin typeface="Calibri" pitchFamily="34" charset="0"/>
                <a:ea typeface="Calibri" pitchFamily="34" charset="-122"/>
                <a:cs typeface="Calibri" pitchFamily="34" charset="-120"/>
              </a:rPr>
              <a:t>Read all digits from right to left.</a:t>
            </a:r>
            <a:endParaRPr lang="en-US" sz="1150" dirty="0"/>
          </a:p>
        </p:txBody>
      </p:sp>
      <p:sp>
        <p:nvSpPr>
          <p:cNvPr id="18" name="Shape 16"/>
          <p:cNvSpPr/>
          <p:nvPr/>
        </p:nvSpPr>
        <p:spPr>
          <a:xfrm>
            <a:off x="365760" y="2889504"/>
            <a:ext cx="384048" cy="384048"/>
          </a:xfrm>
          <a:prstGeom prst="ellipse">
            <a:avLst/>
          </a:prstGeom>
          <a:solidFill>
            <a:srgbClr val="00B4D8"/>
          </a:solidFill>
          <a:ln w="12700">
            <a:solidFill>
              <a:srgbClr val="00B4D8"/>
            </a:solidFill>
            <a:prstDash val="solid"/>
          </a:ln>
        </p:spPr>
      </p:sp>
      <p:sp>
        <p:nvSpPr>
          <p:cNvPr id="19" name="Text 17"/>
          <p:cNvSpPr/>
          <p:nvPr/>
        </p:nvSpPr>
        <p:spPr>
          <a:xfrm>
            <a:off x="365760" y="2916936"/>
            <a:ext cx="384048" cy="329184"/>
          </a:xfrm>
          <a:prstGeom prst="rect">
            <a:avLst/>
          </a:prstGeom>
          <a:noFill/>
          <a:ln/>
        </p:spPr>
        <p:txBody>
          <a:bodyPr wrap="square" lIns="0" tIns="0" rIns="0" bIns="0" rtlCol="0" anchor="ctr"/>
          <a:lstStyle/>
          <a:p>
            <a:pPr marL="0" indent="0" algn="ctr">
              <a:buNone/>
            </a:pPr>
            <a:r>
              <a:rPr lang="en-US" sz="1300" b="1" dirty="0">
                <a:solidFill>
                  <a:srgbClr val="060F1E"/>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841248" y="2907792"/>
            <a:ext cx="3657600" cy="402336"/>
          </a:xfrm>
          <a:prstGeom prst="rect">
            <a:avLst/>
          </a:prstGeom>
          <a:noFill/>
          <a:ln/>
        </p:spPr>
        <p:txBody>
          <a:bodyPr wrap="square" lIns="0" tIns="0" rIns="0" bIns="0" rtlCol="0" anchor="ctr"/>
          <a:lstStyle/>
          <a:p>
            <a:pPr marL="0" indent="0">
              <a:buNone/>
            </a:pPr>
            <a:r>
              <a:rPr lang="en-US" sz="1150" dirty="0">
                <a:solidFill>
                  <a:srgbClr val="D0E4F5"/>
                </a:solidFill>
                <a:latin typeface="Calibri" pitchFamily="34" charset="0"/>
                <a:ea typeface="Calibri" pitchFamily="34" charset="-122"/>
                <a:cs typeface="Calibri" pitchFamily="34" charset="-120"/>
              </a:rPr>
              <a:t>Double every second digit (positions 2, 4, 6 … from the right).</a:t>
            </a:r>
            <a:endParaRPr lang="en-US" sz="1150" dirty="0"/>
          </a:p>
        </p:txBody>
      </p:sp>
      <p:sp>
        <p:nvSpPr>
          <p:cNvPr id="21" name="Shape 19"/>
          <p:cNvSpPr/>
          <p:nvPr/>
        </p:nvSpPr>
        <p:spPr>
          <a:xfrm>
            <a:off x="365760" y="3328416"/>
            <a:ext cx="384048" cy="384048"/>
          </a:xfrm>
          <a:prstGeom prst="ellipse">
            <a:avLst/>
          </a:prstGeom>
          <a:solidFill>
            <a:srgbClr val="00B4D8"/>
          </a:solidFill>
          <a:ln w="12700">
            <a:solidFill>
              <a:srgbClr val="00B4D8"/>
            </a:solidFill>
            <a:prstDash val="solid"/>
          </a:ln>
        </p:spPr>
      </p:sp>
      <p:sp>
        <p:nvSpPr>
          <p:cNvPr id="22" name="Text 20"/>
          <p:cNvSpPr/>
          <p:nvPr/>
        </p:nvSpPr>
        <p:spPr>
          <a:xfrm>
            <a:off x="365760" y="3355848"/>
            <a:ext cx="384048" cy="329184"/>
          </a:xfrm>
          <a:prstGeom prst="rect">
            <a:avLst/>
          </a:prstGeom>
          <a:noFill/>
          <a:ln/>
        </p:spPr>
        <p:txBody>
          <a:bodyPr wrap="square" lIns="0" tIns="0" rIns="0" bIns="0" rtlCol="0" anchor="ctr"/>
          <a:lstStyle/>
          <a:p>
            <a:pPr marL="0" indent="0" algn="ctr">
              <a:buNone/>
            </a:pPr>
            <a:r>
              <a:rPr lang="en-US" sz="1300" b="1" dirty="0">
                <a:solidFill>
                  <a:srgbClr val="060F1E"/>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841248" y="3346704"/>
            <a:ext cx="3657600" cy="402336"/>
          </a:xfrm>
          <a:prstGeom prst="rect">
            <a:avLst/>
          </a:prstGeom>
          <a:noFill/>
          <a:ln/>
        </p:spPr>
        <p:txBody>
          <a:bodyPr wrap="square" lIns="0" tIns="0" rIns="0" bIns="0" rtlCol="0" anchor="ctr"/>
          <a:lstStyle/>
          <a:p>
            <a:pPr marL="0" indent="0">
              <a:buNone/>
            </a:pPr>
            <a:r>
              <a:rPr lang="en-US" sz="1150" dirty="0">
                <a:solidFill>
                  <a:srgbClr val="D0E4F5"/>
                </a:solidFill>
                <a:latin typeface="Calibri" pitchFamily="34" charset="0"/>
                <a:ea typeface="Calibri" pitchFamily="34" charset="-122"/>
                <a:cs typeface="Calibri" pitchFamily="34" charset="-120"/>
              </a:rPr>
              <a:t>If the doubled value exceeds 9, subtract 9 from it.</a:t>
            </a:r>
            <a:endParaRPr lang="en-US" sz="1150" dirty="0"/>
          </a:p>
        </p:txBody>
      </p:sp>
      <p:sp>
        <p:nvSpPr>
          <p:cNvPr id="24" name="Shape 22"/>
          <p:cNvSpPr/>
          <p:nvPr/>
        </p:nvSpPr>
        <p:spPr>
          <a:xfrm>
            <a:off x="365760" y="3767328"/>
            <a:ext cx="384048" cy="384048"/>
          </a:xfrm>
          <a:prstGeom prst="ellipse">
            <a:avLst/>
          </a:prstGeom>
          <a:solidFill>
            <a:srgbClr val="00B4D8"/>
          </a:solidFill>
          <a:ln w="12700">
            <a:solidFill>
              <a:srgbClr val="00B4D8"/>
            </a:solidFill>
            <a:prstDash val="solid"/>
          </a:ln>
        </p:spPr>
      </p:sp>
      <p:sp>
        <p:nvSpPr>
          <p:cNvPr id="25" name="Text 23"/>
          <p:cNvSpPr/>
          <p:nvPr/>
        </p:nvSpPr>
        <p:spPr>
          <a:xfrm>
            <a:off x="365760" y="3794760"/>
            <a:ext cx="384048" cy="329184"/>
          </a:xfrm>
          <a:prstGeom prst="rect">
            <a:avLst/>
          </a:prstGeom>
          <a:noFill/>
          <a:ln/>
        </p:spPr>
        <p:txBody>
          <a:bodyPr wrap="square" lIns="0" tIns="0" rIns="0" bIns="0" rtlCol="0" anchor="ctr"/>
          <a:lstStyle/>
          <a:p>
            <a:pPr marL="0" indent="0" algn="ctr">
              <a:buNone/>
            </a:pPr>
            <a:r>
              <a:rPr lang="en-US" sz="1300" b="1" dirty="0">
                <a:solidFill>
                  <a:srgbClr val="060F1E"/>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841248" y="3785616"/>
            <a:ext cx="3657600" cy="402336"/>
          </a:xfrm>
          <a:prstGeom prst="rect">
            <a:avLst/>
          </a:prstGeom>
          <a:noFill/>
          <a:ln/>
        </p:spPr>
        <p:txBody>
          <a:bodyPr wrap="square" lIns="0" tIns="0" rIns="0" bIns="0" rtlCol="0" anchor="ctr"/>
          <a:lstStyle/>
          <a:p>
            <a:pPr marL="0" indent="0">
              <a:buNone/>
            </a:pPr>
            <a:r>
              <a:rPr lang="en-US" sz="1150" dirty="0">
                <a:solidFill>
                  <a:srgbClr val="D0E4F5"/>
                </a:solidFill>
                <a:latin typeface="Calibri" pitchFamily="34" charset="0"/>
                <a:ea typeface="Calibri" pitchFamily="34" charset="-122"/>
                <a:cs typeface="Calibri" pitchFamily="34" charset="-120"/>
              </a:rPr>
              <a:t>Sum all the resulting digits together.</a:t>
            </a:r>
            <a:endParaRPr lang="en-US" sz="1150" dirty="0"/>
          </a:p>
        </p:txBody>
      </p:sp>
      <p:sp>
        <p:nvSpPr>
          <p:cNvPr id="27" name="Shape 25"/>
          <p:cNvSpPr/>
          <p:nvPr/>
        </p:nvSpPr>
        <p:spPr>
          <a:xfrm>
            <a:off x="365760" y="4206240"/>
            <a:ext cx="384048" cy="384048"/>
          </a:xfrm>
          <a:prstGeom prst="ellipse">
            <a:avLst/>
          </a:prstGeom>
          <a:solidFill>
            <a:srgbClr val="00B4D8"/>
          </a:solidFill>
          <a:ln w="12700">
            <a:solidFill>
              <a:srgbClr val="00B4D8"/>
            </a:solidFill>
            <a:prstDash val="solid"/>
          </a:ln>
        </p:spPr>
      </p:sp>
      <p:sp>
        <p:nvSpPr>
          <p:cNvPr id="28" name="Text 26"/>
          <p:cNvSpPr/>
          <p:nvPr/>
        </p:nvSpPr>
        <p:spPr>
          <a:xfrm>
            <a:off x="365760" y="4233672"/>
            <a:ext cx="384048" cy="329184"/>
          </a:xfrm>
          <a:prstGeom prst="rect">
            <a:avLst/>
          </a:prstGeom>
          <a:noFill/>
          <a:ln/>
        </p:spPr>
        <p:txBody>
          <a:bodyPr wrap="square" lIns="0" tIns="0" rIns="0" bIns="0" rtlCol="0" anchor="ctr"/>
          <a:lstStyle/>
          <a:p>
            <a:pPr marL="0" indent="0" algn="ctr">
              <a:buNone/>
            </a:pPr>
            <a:r>
              <a:rPr lang="en-US" sz="1300" b="1" dirty="0">
                <a:solidFill>
                  <a:srgbClr val="060F1E"/>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841248" y="4224528"/>
            <a:ext cx="3657600" cy="402336"/>
          </a:xfrm>
          <a:prstGeom prst="rect">
            <a:avLst/>
          </a:prstGeom>
          <a:noFill/>
          <a:ln/>
        </p:spPr>
        <p:txBody>
          <a:bodyPr wrap="square" lIns="0" tIns="0" rIns="0" bIns="0" rtlCol="0" anchor="ctr"/>
          <a:lstStyle/>
          <a:p>
            <a:pPr marL="0" indent="0">
              <a:buNone/>
            </a:pPr>
            <a:r>
              <a:rPr lang="en-US" sz="1150" dirty="0">
                <a:solidFill>
                  <a:srgbClr val="D0E4F5"/>
                </a:solidFill>
                <a:latin typeface="Calibri" pitchFamily="34" charset="0"/>
                <a:ea typeface="Calibri" pitchFamily="34" charset="-122"/>
                <a:cs typeface="Calibri" pitchFamily="34" charset="-120"/>
              </a:rPr>
              <a:t>If the total modulo 10 equals 0  →  card number is VALID.</a:t>
            </a:r>
            <a:endParaRPr lang="en-US" sz="1150" dirty="0"/>
          </a:p>
        </p:txBody>
      </p:sp>
      <p:sp>
        <p:nvSpPr>
          <p:cNvPr id="30" name="Shape 28"/>
          <p:cNvSpPr/>
          <p:nvPr/>
        </p:nvSpPr>
        <p:spPr>
          <a:xfrm>
            <a:off x="4663440" y="2176272"/>
            <a:ext cx="4114800" cy="2743200"/>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31" name="Text 29"/>
          <p:cNvSpPr/>
          <p:nvPr/>
        </p:nvSpPr>
        <p:spPr>
          <a:xfrm>
            <a:off x="4800600" y="2249424"/>
            <a:ext cx="3794760" cy="201168"/>
          </a:xfrm>
          <a:prstGeom prst="rect">
            <a:avLst/>
          </a:prstGeom>
          <a:noFill/>
          <a:ln/>
        </p:spPr>
        <p:txBody>
          <a:bodyPr wrap="square" lIns="0" tIns="0" rIns="0" bIns="0" rtlCol="0" anchor="ctr"/>
          <a:lstStyle/>
          <a:p>
            <a:pPr marL="0" indent="0">
              <a:buNone/>
            </a:pPr>
            <a:r>
              <a:rPr lang="en-US" sz="800" b="1" kern="0" spc="300" dirty="0">
                <a:solidFill>
                  <a:srgbClr val="00B4D8"/>
                </a:solidFill>
                <a:latin typeface="Calibri" pitchFamily="34" charset="0"/>
                <a:ea typeface="Calibri" pitchFamily="34" charset="-122"/>
                <a:cs typeface="Calibri" pitchFamily="34" charset="-120"/>
              </a:rPr>
              <a:t>WORKED EXAMPLE</a:t>
            </a:r>
            <a:endParaRPr lang="en-US" sz="800" dirty="0"/>
          </a:p>
        </p:txBody>
      </p:sp>
      <p:sp>
        <p:nvSpPr>
          <p:cNvPr id="32" name="Text 30"/>
          <p:cNvSpPr/>
          <p:nvPr/>
        </p:nvSpPr>
        <p:spPr>
          <a:xfrm>
            <a:off x="4800600" y="2468880"/>
            <a:ext cx="3794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Card: 4111 1111 1111 1111</a:t>
            </a:r>
            <a:endParaRPr lang="en-US" sz="1200" dirty="0"/>
          </a:p>
        </p:txBody>
      </p:sp>
      <p:sp>
        <p:nvSpPr>
          <p:cNvPr id="33" name="Shape 31"/>
          <p:cNvSpPr/>
          <p:nvPr/>
        </p:nvSpPr>
        <p:spPr>
          <a:xfrm>
            <a:off x="4736592" y="2798064"/>
            <a:ext cx="530352" cy="274320"/>
          </a:xfrm>
          <a:prstGeom prst="rect">
            <a:avLst/>
          </a:prstGeom>
          <a:solidFill>
            <a:srgbClr val="112B47"/>
          </a:solidFill>
          <a:ln w="12700">
            <a:solidFill>
              <a:srgbClr val="0A1A2E"/>
            </a:solidFill>
            <a:prstDash val="solid"/>
          </a:ln>
        </p:spPr>
      </p:sp>
      <p:sp>
        <p:nvSpPr>
          <p:cNvPr id="34" name="Text 32"/>
          <p:cNvSpPr/>
          <p:nvPr/>
        </p:nvSpPr>
        <p:spPr>
          <a:xfrm>
            <a:off x="4736592" y="2798064"/>
            <a:ext cx="530352"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Pos (R→L)</a:t>
            </a:r>
            <a:endParaRPr lang="en-US" sz="750" dirty="0"/>
          </a:p>
        </p:txBody>
      </p:sp>
      <p:sp>
        <p:nvSpPr>
          <p:cNvPr id="35" name="Shape 33"/>
          <p:cNvSpPr/>
          <p:nvPr/>
        </p:nvSpPr>
        <p:spPr>
          <a:xfrm>
            <a:off x="5285232" y="2798064"/>
            <a:ext cx="192024" cy="274320"/>
          </a:xfrm>
          <a:prstGeom prst="rect">
            <a:avLst/>
          </a:prstGeom>
          <a:solidFill>
            <a:srgbClr val="112B47"/>
          </a:solidFill>
          <a:ln w="12700">
            <a:solidFill>
              <a:srgbClr val="0A1A2E"/>
            </a:solidFill>
            <a:prstDash val="solid"/>
          </a:ln>
        </p:spPr>
      </p:sp>
      <p:sp>
        <p:nvSpPr>
          <p:cNvPr id="36" name="Text 34"/>
          <p:cNvSpPr/>
          <p:nvPr/>
        </p:nvSpPr>
        <p:spPr>
          <a:xfrm>
            <a:off x="5285232"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a:t>
            </a:r>
            <a:endParaRPr lang="en-US" sz="750" dirty="0"/>
          </a:p>
        </p:txBody>
      </p:sp>
      <p:sp>
        <p:nvSpPr>
          <p:cNvPr id="37" name="Shape 35"/>
          <p:cNvSpPr/>
          <p:nvPr/>
        </p:nvSpPr>
        <p:spPr>
          <a:xfrm>
            <a:off x="5484571" y="2798064"/>
            <a:ext cx="192024" cy="274320"/>
          </a:xfrm>
          <a:prstGeom prst="rect">
            <a:avLst/>
          </a:prstGeom>
          <a:solidFill>
            <a:srgbClr val="112B47"/>
          </a:solidFill>
          <a:ln w="12700">
            <a:solidFill>
              <a:srgbClr val="0A1A2E"/>
            </a:solidFill>
            <a:prstDash val="solid"/>
          </a:ln>
        </p:spPr>
      </p:sp>
      <p:sp>
        <p:nvSpPr>
          <p:cNvPr id="38" name="Text 36"/>
          <p:cNvSpPr/>
          <p:nvPr/>
        </p:nvSpPr>
        <p:spPr>
          <a:xfrm>
            <a:off x="5484571"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2</a:t>
            </a:r>
            <a:endParaRPr lang="en-US" sz="750" dirty="0"/>
          </a:p>
        </p:txBody>
      </p:sp>
      <p:sp>
        <p:nvSpPr>
          <p:cNvPr id="39" name="Shape 37"/>
          <p:cNvSpPr/>
          <p:nvPr/>
        </p:nvSpPr>
        <p:spPr>
          <a:xfrm>
            <a:off x="5683910" y="2798064"/>
            <a:ext cx="192024" cy="274320"/>
          </a:xfrm>
          <a:prstGeom prst="rect">
            <a:avLst/>
          </a:prstGeom>
          <a:solidFill>
            <a:srgbClr val="112B47"/>
          </a:solidFill>
          <a:ln w="12700">
            <a:solidFill>
              <a:srgbClr val="0A1A2E"/>
            </a:solidFill>
            <a:prstDash val="solid"/>
          </a:ln>
        </p:spPr>
      </p:sp>
      <p:sp>
        <p:nvSpPr>
          <p:cNvPr id="40" name="Text 38"/>
          <p:cNvSpPr/>
          <p:nvPr/>
        </p:nvSpPr>
        <p:spPr>
          <a:xfrm>
            <a:off x="5683910"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3</a:t>
            </a:r>
            <a:endParaRPr lang="en-US" sz="750" dirty="0"/>
          </a:p>
        </p:txBody>
      </p:sp>
      <p:sp>
        <p:nvSpPr>
          <p:cNvPr id="41" name="Shape 39"/>
          <p:cNvSpPr/>
          <p:nvPr/>
        </p:nvSpPr>
        <p:spPr>
          <a:xfrm>
            <a:off x="5883250" y="2798064"/>
            <a:ext cx="192024" cy="274320"/>
          </a:xfrm>
          <a:prstGeom prst="rect">
            <a:avLst/>
          </a:prstGeom>
          <a:solidFill>
            <a:srgbClr val="112B47"/>
          </a:solidFill>
          <a:ln w="12700">
            <a:solidFill>
              <a:srgbClr val="0A1A2E"/>
            </a:solidFill>
            <a:prstDash val="solid"/>
          </a:ln>
        </p:spPr>
      </p:sp>
      <p:sp>
        <p:nvSpPr>
          <p:cNvPr id="42" name="Text 40"/>
          <p:cNvSpPr/>
          <p:nvPr/>
        </p:nvSpPr>
        <p:spPr>
          <a:xfrm>
            <a:off x="5883250"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4</a:t>
            </a:r>
            <a:endParaRPr lang="en-US" sz="750" dirty="0"/>
          </a:p>
        </p:txBody>
      </p:sp>
      <p:sp>
        <p:nvSpPr>
          <p:cNvPr id="43" name="Shape 41"/>
          <p:cNvSpPr/>
          <p:nvPr/>
        </p:nvSpPr>
        <p:spPr>
          <a:xfrm>
            <a:off x="6082589" y="2798064"/>
            <a:ext cx="192024" cy="274320"/>
          </a:xfrm>
          <a:prstGeom prst="rect">
            <a:avLst/>
          </a:prstGeom>
          <a:solidFill>
            <a:srgbClr val="112B47"/>
          </a:solidFill>
          <a:ln w="12700">
            <a:solidFill>
              <a:srgbClr val="0A1A2E"/>
            </a:solidFill>
            <a:prstDash val="solid"/>
          </a:ln>
        </p:spPr>
      </p:sp>
      <p:sp>
        <p:nvSpPr>
          <p:cNvPr id="44" name="Text 42"/>
          <p:cNvSpPr/>
          <p:nvPr/>
        </p:nvSpPr>
        <p:spPr>
          <a:xfrm>
            <a:off x="6082589"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5</a:t>
            </a:r>
            <a:endParaRPr lang="en-US" sz="750" dirty="0"/>
          </a:p>
        </p:txBody>
      </p:sp>
      <p:sp>
        <p:nvSpPr>
          <p:cNvPr id="45" name="Shape 43"/>
          <p:cNvSpPr/>
          <p:nvPr/>
        </p:nvSpPr>
        <p:spPr>
          <a:xfrm>
            <a:off x="6281928" y="2798064"/>
            <a:ext cx="192024" cy="274320"/>
          </a:xfrm>
          <a:prstGeom prst="rect">
            <a:avLst/>
          </a:prstGeom>
          <a:solidFill>
            <a:srgbClr val="112B47"/>
          </a:solidFill>
          <a:ln w="12700">
            <a:solidFill>
              <a:srgbClr val="0A1A2E"/>
            </a:solidFill>
            <a:prstDash val="solid"/>
          </a:ln>
        </p:spPr>
      </p:sp>
      <p:sp>
        <p:nvSpPr>
          <p:cNvPr id="46" name="Text 44"/>
          <p:cNvSpPr/>
          <p:nvPr/>
        </p:nvSpPr>
        <p:spPr>
          <a:xfrm>
            <a:off x="6281928"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6</a:t>
            </a:r>
            <a:endParaRPr lang="en-US" sz="750" dirty="0"/>
          </a:p>
        </p:txBody>
      </p:sp>
      <p:sp>
        <p:nvSpPr>
          <p:cNvPr id="47" name="Shape 45"/>
          <p:cNvSpPr/>
          <p:nvPr/>
        </p:nvSpPr>
        <p:spPr>
          <a:xfrm>
            <a:off x="6481267" y="2798064"/>
            <a:ext cx="192024" cy="274320"/>
          </a:xfrm>
          <a:prstGeom prst="rect">
            <a:avLst/>
          </a:prstGeom>
          <a:solidFill>
            <a:srgbClr val="112B47"/>
          </a:solidFill>
          <a:ln w="12700">
            <a:solidFill>
              <a:srgbClr val="0A1A2E"/>
            </a:solidFill>
            <a:prstDash val="solid"/>
          </a:ln>
        </p:spPr>
      </p:sp>
      <p:sp>
        <p:nvSpPr>
          <p:cNvPr id="48" name="Text 46"/>
          <p:cNvSpPr/>
          <p:nvPr/>
        </p:nvSpPr>
        <p:spPr>
          <a:xfrm>
            <a:off x="6481267"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7</a:t>
            </a:r>
            <a:endParaRPr lang="en-US" sz="750" dirty="0"/>
          </a:p>
        </p:txBody>
      </p:sp>
      <p:sp>
        <p:nvSpPr>
          <p:cNvPr id="49" name="Shape 47"/>
          <p:cNvSpPr/>
          <p:nvPr/>
        </p:nvSpPr>
        <p:spPr>
          <a:xfrm>
            <a:off x="6680606" y="2798064"/>
            <a:ext cx="192024" cy="274320"/>
          </a:xfrm>
          <a:prstGeom prst="rect">
            <a:avLst/>
          </a:prstGeom>
          <a:solidFill>
            <a:srgbClr val="112B47"/>
          </a:solidFill>
          <a:ln w="12700">
            <a:solidFill>
              <a:srgbClr val="0A1A2E"/>
            </a:solidFill>
            <a:prstDash val="solid"/>
          </a:ln>
        </p:spPr>
      </p:sp>
      <p:sp>
        <p:nvSpPr>
          <p:cNvPr id="50" name="Text 48"/>
          <p:cNvSpPr/>
          <p:nvPr/>
        </p:nvSpPr>
        <p:spPr>
          <a:xfrm>
            <a:off x="6680606"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8</a:t>
            </a:r>
            <a:endParaRPr lang="en-US" sz="750" dirty="0"/>
          </a:p>
        </p:txBody>
      </p:sp>
      <p:sp>
        <p:nvSpPr>
          <p:cNvPr id="51" name="Shape 49"/>
          <p:cNvSpPr/>
          <p:nvPr/>
        </p:nvSpPr>
        <p:spPr>
          <a:xfrm>
            <a:off x="6879946" y="2798064"/>
            <a:ext cx="192024" cy="274320"/>
          </a:xfrm>
          <a:prstGeom prst="rect">
            <a:avLst/>
          </a:prstGeom>
          <a:solidFill>
            <a:srgbClr val="112B47"/>
          </a:solidFill>
          <a:ln w="12700">
            <a:solidFill>
              <a:srgbClr val="0A1A2E"/>
            </a:solidFill>
            <a:prstDash val="solid"/>
          </a:ln>
        </p:spPr>
      </p:sp>
      <p:sp>
        <p:nvSpPr>
          <p:cNvPr id="52" name="Text 50"/>
          <p:cNvSpPr/>
          <p:nvPr/>
        </p:nvSpPr>
        <p:spPr>
          <a:xfrm>
            <a:off x="6879946"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9</a:t>
            </a:r>
            <a:endParaRPr lang="en-US" sz="750" dirty="0"/>
          </a:p>
        </p:txBody>
      </p:sp>
      <p:sp>
        <p:nvSpPr>
          <p:cNvPr id="53" name="Shape 51"/>
          <p:cNvSpPr/>
          <p:nvPr/>
        </p:nvSpPr>
        <p:spPr>
          <a:xfrm>
            <a:off x="7079285" y="2798064"/>
            <a:ext cx="192024" cy="274320"/>
          </a:xfrm>
          <a:prstGeom prst="rect">
            <a:avLst/>
          </a:prstGeom>
          <a:solidFill>
            <a:srgbClr val="112B47"/>
          </a:solidFill>
          <a:ln w="12700">
            <a:solidFill>
              <a:srgbClr val="0A1A2E"/>
            </a:solidFill>
            <a:prstDash val="solid"/>
          </a:ln>
        </p:spPr>
      </p:sp>
      <p:sp>
        <p:nvSpPr>
          <p:cNvPr id="54" name="Text 52"/>
          <p:cNvSpPr/>
          <p:nvPr/>
        </p:nvSpPr>
        <p:spPr>
          <a:xfrm>
            <a:off x="7079285"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10</a:t>
            </a:r>
            <a:endParaRPr lang="en-US" sz="750" dirty="0"/>
          </a:p>
        </p:txBody>
      </p:sp>
      <p:sp>
        <p:nvSpPr>
          <p:cNvPr id="55" name="Shape 53"/>
          <p:cNvSpPr/>
          <p:nvPr/>
        </p:nvSpPr>
        <p:spPr>
          <a:xfrm>
            <a:off x="7278624" y="2798064"/>
            <a:ext cx="192024" cy="274320"/>
          </a:xfrm>
          <a:prstGeom prst="rect">
            <a:avLst/>
          </a:prstGeom>
          <a:solidFill>
            <a:srgbClr val="112B47"/>
          </a:solidFill>
          <a:ln w="12700">
            <a:solidFill>
              <a:srgbClr val="0A1A2E"/>
            </a:solidFill>
            <a:prstDash val="solid"/>
          </a:ln>
        </p:spPr>
      </p:sp>
      <p:sp>
        <p:nvSpPr>
          <p:cNvPr id="56" name="Text 54"/>
          <p:cNvSpPr/>
          <p:nvPr/>
        </p:nvSpPr>
        <p:spPr>
          <a:xfrm>
            <a:off x="7278624"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11</a:t>
            </a:r>
            <a:endParaRPr lang="en-US" sz="750" dirty="0"/>
          </a:p>
        </p:txBody>
      </p:sp>
      <p:sp>
        <p:nvSpPr>
          <p:cNvPr id="57" name="Shape 55"/>
          <p:cNvSpPr/>
          <p:nvPr/>
        </p:nvSpPr>
        <p:spPr>
          <a:xfrm>
            <a:off x="7477963" y="2798064"/>
            <a:ext cx="192024" cy="274320"/>
          </a:xfrm>
          <a:prstGeom prst="rect">
            <a:avLst/>
          </a:prstGeom>
          <a:solidFill>
            <a:srgbClr val="112B47"/>
          </a:solidFill>
          <a:ln w="12700">
            <a:solidFill>
              <a:srgbClr val="0A1A2E"/>
            </a:solidFill>
            <a:prstDash val="solid"/>
          </a:ln>
        </p:spPr>
      </p:sp>
      <p:sp>
        <p:nvSpPr>
          <p:cNvPr id="58" name="Text 56"/>
          <p:cNvSpPr/>
          <p:nvPr/>
        </p:nvSpPr>
        <p:spPr>
          <a:xfrm>
            <a:off x="7477963"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12</a:t>
            </a:r>
            <a:endParaRPr lang="en-US" sz="750" dirty="0"/>
          </a:p>
        </p:txBody>
      </p:sp>
      <p:sp>
        <p:nvSpPr>
          <p:cNvPr id="59" name="Shape 57"/>
          <p:cNvSpPr/>
          <p:nvPr/>
        </p:nvSpPr>
        <p:spPr>
          <a:xfrm>
            <a:off x="7677302" y="2798064"/>
            <a:ext cx="192024" cy="274320"/>
          </a:xfrm>
          <a:prstGeom prst="rect">
            <a:avLst/>
          </a:prstGeom>
          <a:solidFill>
            <a:srgbClr val="112B47"/>
          </a:solidFill>
          <a:ln w="12700">
            <a:solidFill>
              <a:srgbClr val="0A1A2E"/>
            </a:solidFill>
            <a:prstDash val="solid"/>
          </a:ln>
        </p:spPr>
      </p:sp>
      <p:sp>
        <p:nvSpPr>
          <p:cNvPr id="60" name="Text 58"/>
          <p:cNvSpPr/>
          <p:nvPr/>
        </p:nvSpPr>
        <p:spPr>
          <a:xfrm>
            <a:off x="7677302"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13</a:t>
            </a:r>
            <a:endParaRPr lang="en-US" sz="750" dirty="0"/>
          </a:p>
        </p:txBody>
      </p:sp>
      <p:sp>
        <p:nvSpPr>
          <p:cNvPr id="61" name="Shape 59"/>
          <p:cNvSpPr/>
          <p:nvPr/>
        </p:nvSpPr>
        <p:spPr>
          <a:xfrm>
            <a:off x="7876642" y="2798064"/>
            <a:ext cx="192024" cy="274320"/>
          </a:xfrm>
          <a:prstGeom prst="rect">
            <a:avLst/>
          </a:prstGeom>
          <a:solidFill>
            <a:srgbClr val="112B47"/>
          </a:solidFill>
          <a:ln w="12700">
            <a:solidFill>
              <a:srgbClr val="0A1A2E"/>
            </a:solidFill>
            <a:prstDash val="solid"/>
          </a:ln>
        </p:spPr>
      </p:sp>
      <p:sp>
        <p:nvSpPr>
          <p:cNvPr id="62" name="Text 60"/>
          <p:cNvSpPr/>
          <p:nvPr/>
        </p:nvSpPr>
        <p:spPr>
          <a:xfrm>
            <a:off x="7876642"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14</a:t>
            </a:r>
            <a:endParaRPr lang="en-US" sz="750" dirty="0"/>
          </a:p>
        </p:txBody>
      </p:sp>
      <p:sp>
        <p:nvSpPr>
          <p:cNvPr id="63" name="Shape 61"/>
          <p:cNvSpPr/>
          <p:nvPr/>
        </p:nvSpPr>
        <p:spPr>
          <a:xfrm>
            <a:off x="8075981" y="2798064"/>
            <a:ext cx="192024" cy="274320"/>
          </a:xfrm>
          <a:prstGeom prst="rect">
            <a:avLst/>
          </a:prstGeom>
          <a:solidFill>
            <a:srgbClr val="112B47"/>
          </a:solidFill>
          <a:ln w="12700">
            <a:solidFill>
              <a:srgbClr val="0A1A2E"/>
            </a:solidFill>
            <a:prstDash val="solid"/>
          </a:ln>
        </p:spPr>
      </p:sp>
      <p:sp>
        <p:nvSpPr>
          <p:cNvPr id="64" name="Text 62"/>
          <p:cNvSpPr/>
          <p:nvPr/>
        </p:nvSpPr>
        <p:spPr>
          <a:xfrm>
            <a:off x="8075981"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15</a:t>
            </a:r>
            <a:endParaRPr lang="en-US" sz="750" dirty="0"/>
          </a:p>
        </p:txBody>
      </p:sp>
      <p:sp>
        <p:nvSpPr>
          <p:cNvPr id="65" name="Shape 63"/>
          <p:cNvSpPr/>
          <p:nvPr/>
        </p:nvSpPr>
        <p:spPr>
          <a:xfrm>
            <a:off x="8275320" y="2798064"/>
            <a:ext cx="192024" cy="274320"/>
          </a:xfrm>
          <a:prstGeom prst="rect">
            <a:avLst/>
          </a:prstGeom>
          <a:solidFill>
            <a:srgbClr val="112B47"/>
          </a:solidFill>
          <a:ln w="12700">
            <a:solidFill>
              <a:srgbClr val="0A1A2E"/>
            </a:solidFill>
            <a:prstDash val="solid"/>
          </a:ln>
        </p:spPr>
      </p:sp>
      <p:sp>
        <p:nvSpPr>
          <p:cNvPr id="66" name="Text 64"/>
          <p:cNvSpPr/>
          <p:nvPr/>
        </p:nvSpPr>
        <p:spPr>
          <a:xfrm>
            <a:off x="8275320" y="2798064"/>
            <a:ext cx="192024" cy="274320"/>
          </a:xfrm>
          <a:prstGeom prst="rect">
            <a:avLst/>
          </a:prstGeom>
          <a:noFill/>
          <a:ln/>
        </p:spPr>
        <p:txBody>
          <a:bodyPr wrap="square" lIns="0" tIns="0" rIns="0" bIns="0" rtlCol="0" anchor="ctr"/>
          <a:lstStyle/>
          <a:p>
            <a:pPr marL="0" indent="0" algn="ctr">
              <a:buNone/>
            </a:pPr>
            <a:r>
              <a:rPr lang="en-US" sz="750" dirty="0">
                <a:solidFill>
                  <a:srgbClr val="5A8FAA"/>
                </a:solidFill>
                <a:latin typeface="Calibri" pitchFamily="34" charset="0"/>
                <a:ea typeface="Calibri" pitchFamily="34" charset="-122"/>
                <a:cs typeface="Calibri" pitchFamily="34" charset="-120"/>
              </a:rPr>
              <a:t>16</a:t>
            </a:r>
            <a:endParaRPr lang="en-US" sz="750" dirty="0"/>
          </a:p>
        </p:txBody>
      </p:sp>
      <p:sp>
        <p:nvSpPr>
          <p:cNvPr id="67" name="Shape 65"/>
          <p:cNvSpPr/>
          <p:nvPr/>
        </p:nvSpPr>
        <p:spPr>
          <a:xfrm>
            <a:off x="4736592" y="3099816"/>
            <a:ext cx="530352" cy="274320"/>
          </a:xfrm>
          <a:prstGeom prst="rect">
            <a:avLst/>
          </a:prstGeom>
          <a:solidFill>
            <a:srgbClr val="080F1C"/>
          </a:solidFill>
          <a:ln w="12700">
            <a:solidFill>
              <a:srgbClr val="0A1A2E"/>
            </a:solidFill>
            <a:prstDash val="solid"/>
          </a:ln>
        </p:spPr>
      </p:sp>
      <p:sp>
        <p:nvSpPr>
          <p:cNvPr id="68" name="Text 66"/>
          <p:cNvSpPr/>
          <p:nvPr/>
        </p:nvSpPr>
        <p:spPr>
          <a:xfrm>
            <a:off x="4736592" y="3099816"/>
            <a:ext cx="530352"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Digit</a:t>
            </a:r>
            <a:endParaRPr lang="en-US" sz="900" dirty="0"/>
          </a:p>
        </p:txBody>
      </p:sp>
      <p:sp>
        <p:nvSpPr>
          <p:cNvPr id="69" name="Shape 67"/>
          <p:cNvSpPr/>
          <p:nvPr/>
        </p:nvSpPr>
        <p:spPr>
          <a:xfrm>
            <a:off x="5285232" y="3099816"/>
            <a:ext cx="192024" cy="274320"/>
          </a:xfrm>
          <a:prstGeom prst="rect">
            <a:avLst/>
          </a:prstGeom>
          <a:solidFill>
            <a:srgbClr val="080F1C"/>
          </a:solidFill>
          <a:ln w="12700">
            <a:solidFill>
              <a:srgbClr val="0A1A2E"/>
            </a:solidFill>
            <a:prstDash val="solid"/>
          </a:ln>
        </p:spPr>
      </p:sp>
      <p:sp>
        <p:nvSpPr>
          <p:cNvPr id="70" name="Text 68"/>
          <p:cNvSpPr/>
          <p:nvPr/>
        </p:nvSpPr>
        <p:spPr>
          <a:xfrm>
            <a:off x="5285232"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71" name="Shape 69"/>
          <p:cNvSpPr/>
          <p:nvPr/>
        </p:nvSpPr>
        <p:spPr>
          <a:xfrm>
            <a:off x="5484571" y="3099816"/>
            <a:ext cx="192024" cy="274320"/>
          </a:xfrm>
          <a:prstGeom prst="rect">
            <a:avLst/>
          </a:prstGeom>
          <a:solidFill>
            <a:srgbClr val="080F1C"/>
          </a:solidFill>
          <a:ln w="12700">
            <a:solidFill>
              <a:srgbClr val="0A1A2E"/>
            </a:solidFill>
            <a:prstDash val="solid"/>
          </a:ln>
        </p:spPr>
      </p:sp>
      <p:sp>
        <p:nvSpPr>
          <p:cNvPr id="72" name="Text 70"/>
          <p:cNvSpPr/>
          <p:nvPr/>
        </p:nvSpPr>
        <p:spPr>
          <a:xfrm>
            <a:off x="5484571"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73" name="Shape 71"/>
          <p:cNvSpPr/>
          <p:nvPr/>
        </p:nvSpPr>
        <p:spPr>
          <a:xfrm>
            <a:off x="5683910" y="3099816"/>
            <a:ext cx="192024" cy="274320"/>
          </a:xfrm>
          <a:prstGeom prst="rect">
            <a:avLst/>
          </a:prstGeom>
          <a:solidFill>
            <a:srgbClr val="080F1C"/>
          </a:solidFill>
          <a:ln w="12700">
            <a:solidFill>
              <a:srgbClr val="0A1A2E"/>
            </a:solidFill>
            <a:prstDash val="solid"/>
          </a:ln>
        </p:spPr>
      </p:sp>
      <p:sp>
        <p:nvSpPr>
          <p:cNvPr id="74" name="Text 72"/>
          <p:cNvSpPr/>
          <p:nvPr/>
        </p:nvSpPr>
        <p:spPr>
          <a:xfrm>
            <a:off x="5683910"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75" name="Shape 73"/>
          <p:cNvSpPr/>
          <p:nvPr/>
        </p:nvSpPr>
        <p:spPr>
          <a:xfrm>
            <a:off x="5883250" y="3099816"/>
            <a:ext cx="192024" cy="274320"/>
          </a:xfrm>
          <a:prstGeom prst="rect">
            <a:avLst/>
          </a:prstGeom>
          <a:solidFill>
            <a:srgbClr val="080F1C"/>
          </a:solidFill>
          <a:ln w="12700">
            <a:solidFill>
              <a:srgbClr val="0A1A2E"/>
            </a:solidFill>
            <a:prstDash val="solid"/>
          </a:ln>
        </p:spPr>
      </p:sp>
      <p:sp>
        <p:nvSpPr>
          <p:cNvPr id="76" name="Text 74"/>
          <p:cNvSpPr/>
          <p:nvPr/>
        </p:nvSpPr>
        <p:spPr>
          <a:xfrm>
            <a:off x="5883250"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77" name="Shape 75"/>
          <p:cNvSpPr/>
          <p:nvPr/>
        </p:nvSpPr>
        <p:spPr>
          <a:xfrm>
            <a:off x="6082589" y="3099816"/>
            <a:ext cx="192024" cy="274320"/>
          </a:xfrm>
          <a:prstGeom prst="rect">
            <a:avLst/>
          </a:prstGeom>
          <a:solidFill>
            <a:srgbClr val="080F1C"/>
          </a:solidFill>
          <a:ln w="12700">
            <a:solidFill>
              <a:srgbClr val="0A1A2E"/>
            </a:solidFill>
            <a:prstDash val="solid"/>
          </a:ln>
        </p:spPr>
      </p:sp>
      <p:sp>
        <p:nvSpPr>
          <p:cNvPr id="78" name="Text 76"/>
          <p:cNvSpPr/>
          <p:nvPr/>
        </p:nvSpPr>
        <p:spPr>
          <a:xfrm>
            <a:off x="6082589"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79" name="Shape 77"/>
          <p:cNvSpPr/>
          <p:nvPr/>
        </p:nvSpPr>
        <p:spPr>
          <a:xfrm>
            <a:off x="6281928" y="3099816"/>
            <a:ext cx="192024" cy="274320"/>
          </a:xfrm>
          <a:prstGeom prst="rect">
            <a:avLst/>
          </a:prstGeom>
          <a:solidFill>
            <a:srgbClr val="080F1C"/>
          </a:solidFill>
          <a:ln w="12700">
            <a:solidFill>
              <a:srgbClr val="0A1A2E"/>
            </a:solidFill>
            <a:prstDash val="solid"/>
          </a:ln>
        </p:spPr>
      </p:sp>
      <p:sp>
        <p:nvSpPr>
          <p:cNvPr id="80" name="Text 78"/>
          <p:cNvSpPr/>
          <p:nvPr/>
        </p:nvSpPr>
        <p:spPr>
          <a:xfrm>
            <a:off x="6281928"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81" name="Shape 79"/>
          <p:cNvSpPr/>
          <p:nvPr/>
        </p:nvSpPr>
        <p:spPr>
          <a:xfrm>
            <a:off x="6481267" y="3099816"/>
            <a:ext cx="192024" cy="274320"/>
          </a:xfrm>
          <a:prstGeom prst="rect">
            <a:avLst/>
          </a:prstGeom>
          <a:solidFill>
            <a:srgbClr val="080F1C"/>
          </a:solidFill>
          <a:ln w="12700">
            <a:solidFill>
              <a:srgbClr val="0A1A2E"/>
            </a:solidFill>
            <a:prstDash val="solid"/>
          </a:ln>
        </p:spPr>
      </p:sp>
      <p:sp>
        <p:nvSpPr>
          <p:cNvPr id="82" name="Text 80"/>
          <p:cNvSpPr/>
          <p:nvPr/>
        </p:nvSpPr>
        <p:spPr>
          <a:xfrm>
            <a:off x="6481267"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83" name="Shape 81"/>
          <p:cNvSpPr/>
          <p:nvPr/>
        </p:nvSpPr>
        <p:spPr>
          <a:xfrm>
            <a:off x="6680606" y="3099816"/>
            <a:ext cx="192024" cy="274320"/>
          </a:xfrm>
          <a:prstGeom prst="rect">
            <a:avLst/>
          </a:prstGeom>
          <a:solidFill>
            <a:srgbClr val="080F1C"/>
          </a:solidFill>
          <a:ln w="12700">
            <a:solidFill>
              <a:srgbClr val="0A1A2E"/>
            </a:solidFill>
            <a:prstDash val="solid"/>
          </a:ln>
        </p:spPr>
      </p:sp>
      <p:sp>
        <p:nvSpPr>
          <p:cNvPr id="84" name="Text 82"/>
          <p:cNvSpPr/>
          <p:nvPr/>
        </p:nvSpPr>
        <p:spPr>
          <a:xfrm>
            <a:off x="6680606"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85" name="Shape 83"/>
          <p:cNvSpPr/>
          <p:nvPr/>
        </p:nvSpPr>
        <p:spPr>
          <a:xfrm>
            <a:off x="6879946" y="3099816"/>
            <a:ext cx="192024" cy="274320"/>
          </a:xfrm>
          <a:prstGeom prst="rect">
            <a:avLst/>
          </a:prstGeom>
          <a:solidFill>
            <a:srgbClr val="080F1C"/>
          </a:solidFill>
          <a:ln w="12700">
            <a:solidFill>
              <a:srgbClr val="0A1A2E"/>
            </a:solidFill>
            <a:prstDash val="solid"/>
          </a:ln>
        </p:spPr>
      </p:sp>
      <p:sp>
        <p:nvSpPr>
          <p:cNvPr id="86" name="Text 84"/>
          <p:cNvSpPr/>
          <p:nvPr/>
        </p:nvSpPr>
        <p:spPr>
          <a:xfrm>
            <a:off x="6879946"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87" name="Shape 85"/>
          <p:cNvSpPr/>
          <p:nvPr/>
        </p:nvSpPr>
        <p:spPr>
          <a:xfrm>
            <a:off x="7079285" y="3099816"/>
            <a:ext cx="192024" cy="274320"/>
          </a:xfrm>
          <a:prstGeom prst="rect">
            <a:avLst/>
          </a:prstGeom>
          <a:solidFill>
            <a:srgbClr val="080F1C"/>
          </a:solidFill>
          <a:ln w="12700">
            <a:solidFill>
              <a:srgbClr val="0A1A2E"/>
            </a:solidFill>
            <a:prstDash val="solid"/>
          </a:ln>
        </p:spPr>
      </p:sp>
      <p:sp>
        <p:nvSpPr>
          <p:cNvPr id="88" name="Text 86"/>
          <p:cNvSpPr/>
          <p:nvPr/>
        </p:nvSpPr>
        <p:spPr>
          <a:xfrm>
            <a:off x="7079285"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89" name="Shape 87"/>
          <p:cNvSpPr/>
          <p:nvPr/>
        </p:nvSpPr>
        <p:spPr>
          <a:xfrm>
            <a:off x="7278624" y="3099816"/>
            <a:ext cx="192024" cy="274320"/>
          </a:xfrm>
          <a:prstGeom prst="rect">
            <a:avLst/>
          </a:prstGeom>
          <a:solidFill>
            <a:srgbClr val="080F1C"/>
          </a:solidFill>
          <a:ln w="12700">
            <a:solidFill>
              <a:srgbClr val="0A1A2E"/>
            </a:solidFill>
            <a:prstDash val="solid"/>
          </a:ln>
        </p:spPr>
      </p:sp>
      <p:sp>
        <p:nvSpPr>
          <p:cNvPr id="90" name="Text 88"/>
          <p:cNvSpPr/>
          <p:nvPr/>
        </p:nvSpPr>
        <p:spPr>
          <a:xfrm>
            <a:off x="7278624"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91" name="Shape 89"/>
          <p:cNvSpPr/>
          <p:nvPr/>
        </p:nvSpPr>
        <p:spPr>
          <a:xfrm>
            <a:off x="7477963" y="3099816"/>
            <a:ext cx="192024" cy="274320"/>
          </a:xfrm>
          <a:prstGeom prst="rect">
            <a:avLst/>
          </a:prstGeom>
          <a:solidFill>
            <a:srgbClr val="080F1C"/>
          </a:solidFill>
          <a:ln w="12700">
            <a:solidFill>
              <a:srgbClr val="0A1A2E"/>
            </a:solidFill>
            <a:prstDash val="solid"/>
          </a:ln>
        </p:spPr>
      </p:sp>
      <p:sp>
        <p:nvSpPr>
          <p:cNvPr id="92" name="Text 90"/>
          <p:cNvSpPr/>
          <p:nvPr/>
        </p:nvSpPr>
        <p:spPr>
          <a:xfrm>
            <a:off x="7477963"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93" name="Shape 91"/>
          <p:cNvSpPr/>
          <p:nvPr/>
        </p:nvSpPr>
        <p:spPr>
          <a:xfrm>
            <a:off x="7677302" y="3099816"/>
            <a:ext cx="192024" cy="274320"/>
          </a:xfrm>
          <a:prstGeom prst="rect">
            <a:avLst/>
          </a:prstGeom>
          <a:solidFill>
            <a:srgbClr val="080F1C"/>
          </a:solidFill>
          <a:ln w="12700">
            <a:solidFill>
              <a:srgbClr val="0A1A2E"/>
            </a:solidFill>
            <a:prstDash val="solid"/>
          </a:ln>
        </p:spPr>
      </p:sp>
      <p:sp>
        <p:nvSpPr>
          <p:cNvPr id="94" name="Text 92"/>
          <p:cNvSpPr/>
          <p:nvPr/>
        </p:nvSpPr>
        <p:spPr>
          <a:xfrm>
            <a:off x="7677302"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95" name="Shape 93"/>
          <p:cNvSpPr/>
          <p:nvPr/>
        </p:nvSpPr>
        <p:spPr>
          <a:xfrm>
            <a:off x="7876642" y="3099816"/>
            <a:ext cx="192024" cy="274320"/>
          </a:xfrm>
          <a:prstGeom prst="rect">
            <a:avLst/>
          </a:prstGeom>
          <a:solidFill>
            <a:srgbClr val="080F1C"/>
          </a:solidFill>
          <a:ln w="12700">
            <a:solidFill>
              <a:srgbClr val="0A1A2E"/>
            </a:solidFill>
            <a:prstDash val="solid"/>
          </a:ln>
        </p:spPr>
      </p:sp>
      <p:sp>
        <p:nvSpPr>
          <p:cNvPr id="96" name="Text 94"/>
          <p:cNvSpPr/>
          <p:nvPr/>
        </p:nvSpPr>
        <p:spPr>
          <a:xfrm>
            <a:off x="7876642"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97" name="Shape 95"/>
          <p:cNvSpPr/>
          <p:nvPr/>
        </p:nvSpPr>
        <p:spPr>
          <a:xfrm>
            <a:off x="8075981" y="3099816"/>
            <a:ext cx="192024" cy="274320"/>
          </a:xfrm>
          <a:prstGeom prst="rect">
            <a:avLst/>
          </a:prstGeom>
          <a:solidFill>
            <a:srgbClr val="080F1C"/>
          </a:solidFill>
          <a:ln w="12700">
            <a:solidFill>
              <a:srgbClr val="0A1A2E"/>
            </a:solidFill>
            <a:prstDash val="solid"/>
          </a:ln>
        </p:spPr>
      </p:sp>
      <p:sp>
        <p:nvSpPr>
          <p:cNvPr id="98" name="Text 96"/>
          <p:cNvSpPr/>
          <p:nvPr/>
        </p:nvSpPr>
        <p:spPr>
          <a:xfrm>
            <a:off x="8075981"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1</a:t>
            </a:r>
            <a:endParaRPr lang="en-US" sz="900" dirty="0"/>
          </a:p>
        </p:txBody>
      </p:sp>
      <p:sp>
        <p:nvSpPr>
          <p:cNvPr id="99" name="Shape 97"/>
          <p:cNvSpPr/>
          <p:nvPr/>
        </p:nvSpPr>
        <p:spPr>
          <a:xfrm>
            <a:off x="8275320" y="3099816"/>
            <a:ext cx="192024" cy="274320"/>
          </a:xfrm>
          <a:prstGeom prst="rect">
            <a:avLst/>
          </a:prstGeom>
          <a:solidFill>
            <a:srgbClr val="080F1C"/>
          </a:solidFill>
          <a:ln w="12700">
            <a:solidFill>
              <a:srgbClr val="0A1A2E"/>
            </a:solidFill>
            <a:prstDash val="solid"/>
          </a:ln>
        </p:spPr>
      </p:sp>
      <p:sp>
        <p:nvSpPr>
          <p:cNvPr id="100" name="Text 98"/>
          <p:cNvSpPr/>
          <p:nvPr/>
        </p:nvSpPr>
        <p:spPr>
          <a:xfrm>
            <a:off x="8275320" y="3099816"/>
            <a:ext cx="192024" cy="274320"/>
          </a:xfrm>
          <a:prstGeom prst="rect">
            <a:avLst/>
          </a:prstGeom>
          <a:noFill/>
          <a:ln/>
        </p:spPr>
        <p:txBody>
          <a:bodyPr wrap="square" lIns="0" tIns="0" rIns="0" bIns="0" rtlCol="0" anchor="ctr"/>
          <a:lstStyle/>
          <a:p>
            <a:pPr marL="0" indent="0" algn="ctr">
              <a:buNone/>
            </a:pPr>
            <a:r>
              <a:rPr lang="en-US" sz="900" dirty="0">
                <a:solidFill>
                  <a:srgbClr val="D0E4F5"/>
                </a:solidFill>
                <a:latin typeface="Calibri" pitchFamily="34" charset="0"/>
                <a:ea typeface="Calibri" pitchFamily="34" charset="-122"/>
                <a:cs typeface="Calibri" pitchFamily="34" charset="-120"/>
              </a:rPr>
              <a:t>4</a:t>
            </a:r>
            <a:endParaRPr lang="en-US" sz="900" dirty="0"/>
          </a:p>
        </p:txBody>
      </p:sp>
      <p:sp>
        <p:nvSpPr>
          <p:cNvPr id="101" name="Shape 99"/>
          <p:cNvSpPr/>
          <p:nvPr/>
        </p:nvSpPr>
        <p:spPr>
          <a:xfrm>
            <a:off x="4736592" y="3401568"/>
            <a:ext cx="530352" cy="274320"/>
          </a:xfrm>
          <a:prstGeom prst="rect">
            <a:avLst/>
          </a:prstGeom>
          <a:solidFill>
            <a:srgbClr val="080F1C"/>
          </a:solidFill>
          <a:ln w="12700">
            <a:solidFill>
              <a:srgbClr val="0A1A2E"/>
            </a:solidFill>
            <a:prstDash val="solid"/>
          </a:ln>
        </p:spPr>
      </p:sp>
      <p:sp>
        <p:nvSpPr>
          <p:cNvPr id="102" name="Text 100"/>
          <p:cNvSpPr/>
          <p:nvPr/>
        </p:nvSpPr>
        <p:spPr>
          <a:xfrm>
            <a:off x="4736592" y="3401568"/>
            <a:ext cx="530352"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×2?</a:t>
            </a:r>
            <a:endParaRPr lang="en-US" sz="900" dirty="0"/>
          </a:p>
        </p:txBody>
      </p:sp>
      <p:sp>
        <p:nvSpPr>
          <p:cNvPr id="103" name="Shape 101"/>
          <p:cNvSpPr/>
          <p:nvPr/>
        </p:nvSpPr>
        <p:spPr>
          <a:xfrm>
            <a:off x="5285232" y="3401568"/>
            <a:ext cx="192024" cy="274320"/>
          </a:xfrm>
          <a:prstGeom prst="rect">
            <a:avLst/>
          </a:prstGeom>
          <a:solidFill>
            <a:srgbClr val="080F1C"/>
          </a:solidFill>
          <a:ln w="12700">
            <a:solidFill>
              <a:srgbClr val="0A1A2E"/>
            </a:solidFill>
            <a:prstDash val="solid"/>
          </a:ln>
        </p:spPr>
      </p:sp>
      <p:sp>
        <p:nvSpPr>
          <p:cNvPr id="104" name="Text 102"/>
          <p:cNvSpPr/>
          <p:nvPr/>
        </p:nvSpPr>
        <p:spPr>
          <a:xfrm>
            <a:off x="5285232"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05" name="Shape 103"/>
          <p:cNvSpPr/>
          <p:nvPr/>
        </p:nvSpPr>
        <p:spPr>
          <a:xfrm>
            <a:off x="5484571" y="3401568"/>
            <a:ext cx="192024" cy="274320"/>
          </a:xfrm>
          <a:prstGeom prst="rect">
            <a:avLst/>
          </a:prstGeom>
          <a:solidFill>
            <a:srgbClr val="080F1C"/>
          </a:solidFill>
          <a:ln w="12700">
            <a:solidFill>
              <a:srgbClr val="0A1A2E"/>
            </a:solidFill>
            <a:prstDash val="solid"/>
          </a:ln>
        </p:spPr>
      </p:sp>
      <p:sp>
        <p:nvSpPr>
          <p:cNvPr id="106" name="Text 104"/>
          <p:cNvSpPr/>
          <p:nvPr/>
        </p:nvSpPr>
        <p:spPr>
          <a:xfrm>
            <a:off x="5484571"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07" name="Shape 105"/>
          <p:cNvSpPr/>
          <p:nvPr/>
        </p:nvSpPr>
        <p:spPr>
          <a:xfrm>
            <a:off x="5683910" y="3401568"/>
            <a:ext cx="192024" cy="274320"/>
          </a:xfrm>
          <a:prstGeom prst="rect">
            <a:avLst/>
          </a:prstGeom>
          <a:solidFill>
            <a:srgbClr val="080F1C"/>
          </a:solidFill>
          <a:ln w="12700">
            <a:solidFill>
              <a:srgbClr val="0A1A2E"/>
            </a:solidFill>
            <a:prstDash val="solid"/>
          </a:ln>
        </p:spPr>
      </p:sp>
      <p:sp>
        <p:nvSpPr>
          <p:cNvPr id="108" name="Text 106"/>
          <p:cNvSpPr/>
          <p:nvPr/>
        </p:nvSpPr>
        <p:spPr>
          <a:xfrm>
            <a:off x="5683910"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09" name="Shape 107"/>
          <p:cNvSpPr/>
          <p:nvPr/>
        </p:nvSpPr>
        <p:spPr>
          <a:xfrm>
            <a:off x="5883250" y="3401568"/>
            <a:ext cx="192024" cy="274320"/>
          </a:xfrm>
          <a:prstGeom prst="rect">
            <a:avLst/>
          </a:prstGeom>
          <a:solidFill>
            <a:srgbClr val="080F1C"/>
          </a:solidFill>
          <a:ln w="12700">
            <a:solidFill>
              <a:srgbClr val="0A1A2E"/>
            </a:solidFill>
            <a:prstDash val="solid"/>
          </a:ln>
        </p:spPr>
      </p:sp>
      <p:sp>
        <p:nvSpPr>
          <p:cNvPr id="110" name="Text 108"/>
          <p:cNvSpPr/>
          <p:nvPr/>
        </p:nvSpPr>
        <p:spPr>
          <a:xfrm>
            <a:off x="5883250"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11" name="Shape 109"/>
          <p:cNvSpPr/>
          <p:nvPr/>
        </p:nvSpPr>
        <p:spPr>
          <a:xfrm>
            <a:off x="6082589" y="3401568"/>
            <a:ext cx="192024" cy="274320"/>
          </a:xfrm>
          <a:prstGeom prst="rect">
            <a:avLst/>
          </a:prstGeom>
          <a:solidFill>
            <a:srgbClr val="080F1C"/>
          </a:solidFill>
          <a:ln w="12700">
            <a:solidFill>
              <a:srgbClr val="0A1A2E"/>
            </a:solidFill>
            <a:prstDash val="solid"/>
          </a:ln>
        </p:spPr>
      </p:sp>
      <p:sp>
        <p:nvSpPr>
          <p:cNvPr id="112" name="Text 110"/>
          <p:cNvSpPr/>
          <p:nvPr/>
        </p:nvSpPr>
        <p:spPr>
          <a:xfrm>
            <a:off x="6082589"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13" name="Shape 111"/>
          <p:cNvSpPr/>
          <p:nvPr/>
        </p:nvSpPr>
        <p:spPr>
          <a:xfrm>
            <a:off x="6281928" y="3401568"/>
            <a:ext cx="192024" cy="274320"/>
          </a:xfrm>
          <a:prstGeom prst="rect">
            <a:avLst/>
          </a:prstGeom>
          <a:solidFill>
            <a:srgbClr val="080F1C"/>
          </a:solidFill>
          <a:ln w="12700">
            <a:solidFill>
              <a:srgbClr val="0A1A2E"/>
            </a:solidFill>
            <a:prstDash val="solid"/>
          </a:ln>
        </p:spPr>
      </p:sp>
      <p:sp>
        <p:nvSpPr>
          <p:cNvPr id="114" name="Text 112"/>
          <p:cNvSpPr/>
          <p:nvPr/>
        </p:nvSpPr>
        <p:spPr>
          <a:xfrm>
            <a:off x="6281928"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15" name="Shape 113"/>
          <p:cNvSpPr/>
          <p:nvPr/>
        </p:nvSpPr>
        <p:spPr>
          <a:xfrm>
            <a:off x="6481267" y="3401568"/>
            <a:ext cx="192024" cy="274320"/>
          </a:xfrm>
          <a:prstGeom prst="rect">
            <a:avLst/>
          </a:prstGeom>
          <a:solidFill>
            <a:srgbClr val="080F1C"/>
          </a:solidFill>
          <a:ln w="12700">
            <a:solidFill>
              <a:srgbClr val="0A1A2E"/>
            </a:solidFill>
            <a:prstDash val="solid"/>
          </a:ln>
        </p:spPr>
      </p:sp>
      <p:sp>
        <p:nvSpPr>
          <p:cNvPr id="116" name="Text 114"/>
          <p:cNvSpPr/>
          <p:nvPr/>
        </p:nvSpPr>
        <p:spPr>
          <a:xfrm>
            <a:off x="6481267"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17" name="Shape 115"/>
          <p:cNvSpPr/>
          <p:nvPr/>
        </p:nvSpPr>
        <p:spPr>
          <a:xfrm>
            <a:off x="6680606" y="3401568"/>
            <a:ext cx="192024" cy="274320"/>
          </a:xfrm>
          <a:prstGeom prst="rect">
            <a:avLst/>
          </a:prstGeom>
          <a:solidFill>
            <a:srgbClr val="080F1C"/>
          </a:solidFill>
          <a:ln w="12700">
            <a:solidFill>
              <a:srgbClr val="0A1A2E"/>
            </a:solidFill>
            <a:prstDash val="solid"/>
          </a:ln>
        </p:spPr>
      </p:sp>
      <p:sp>
        <p:nvSpPr>
          <p:cNvPr id="118" name="Text 116"/>
          <p:cNvSpPr/>
          <p:nvPr/>
        </p:nvSpPr>
        <p:spPr>
          <a:xfrm>
            <a:off x="6680606"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19" name="Shape 117"/>
          <p:cNvSpPr/>
          <p:nvPr/>
        </p:nvSpPr>
        <p:spPr>
          <a:xfrm>
            <a:off x="6879946" y="3401568"/>
            <a:ext cx="192024" cy="274320"/>
          </a:xfrm>
          <a:prstGeom prst="rect">
            <a:avLst/>
          </a:prstGeom>
          <a:solidFill>
            <a:srgbClr val="080F1C"/>
          </a:solidFill>
          <a:ln w="12700">
            <a:solidFill>
              <a:srgbClr val="0A1A2E"/>
            </a:solidFill>
            <a:prstDash val="solid"/>
          </a:ln>
        </p:spPr>
      </p:sp>
      <p:sp>
        <p:nvSpPr>
          <p:cNvPr id="120" name="Text 118"/>
          <p:cNvSpPr/>
          <p:nvPr/>
        </p:nvSpPr>
        <p:spPr>
          <a:xfrm>
            <a:off x="6879946"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21" name="Shape 119"/>
          <p:cNvSpPr/>
          <p:nvPr/>
        </p:nvSpPr>
        <p:spPr>
          <a:xfrm>
            <a:off x="7079285" y="3401568"/>
            <a:ext cx="192024" cy="274320"/>
          </a:xfrm>
          <a:prstGeom prst="rect">
            <a:avLst/>
          </a:prstGeom>
          <a:solidFill>
            <a:srgbClr val="080F1C"/>
          </a:solidFill>
          <a:ln w="12700">
            <a:solidFill>
              <a:srgbClr val="0A1A2E"/>
            </a:solidFill>
            <a:prstDash val="solid"/>
          </a:ln>
        </p:spPr>
      </p:sp>
      <p:sp>
        <p:nvSpPr>
          <p:cNvPr id="122" name="Text 120"/>
          <p:cNvSpPr/>
          <p:nvPr/>
        </p:nvSpPr>
        <p:spPr>
          <a:xfrm>
            <a:off x="7079285"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23" name="Shape 121"/>
          <p:cNvSpPr/>
          <p:nvPr/>
        </p:nvSpPr>
        <p:spPr>
          <a:xfrm>
            <a:off x="7278624" y="3401568"/>
            <a:ext cx="192024" cy="274320"/>
          </a:xfrm>
          <a:prstGeom prst="rect">
            <a:avLst/>
          </a:prstGeom>
          <a:solidFill>
            <a:srgbClr val="080F1C"/>
          </a:solidFill>
          <a:ln w="12700">
            <a:solidFill>
              <a:srgbClr val="0A1A2E"/>
            </a:solidFill>
            <a:prstDash val="solid"/>
          </a:ln>
        </p:spPr>
      </p:sp>
      <p:sp>
        <p:nvSpPr>
          <p:cNvPr id="124" name="Text 122"/>
          <p:cNvSpPr/>
          <p:nvPr/>
        </p:nvSpPr>
        <p:spPr>
          <a:xfrm>
            <a:off x="7278624"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25" name="Shape 123"/>
          <p:cNvSpPr/>
          <p:nvPr/>
        </p:nvSpPr>
        <p:spPr>
          <a:xfrm>
            <a:off x="7477963" y="3401568"/>
            <a:ext cx="192024" cy="274320"/>
          </a:xfrm>
          <a:prstGeom prst="rect">
            <a:avLst/>
          </a:prstGeom>
          <a:solidFill>
            <a:srgbClr val="080F1C"/>
          </a:solidFill>
          <a:ln w="12700">
            <a:solidFill>
              <a:srgbClr val="0A1A2E"/>
            </a:solidFill>
            <a:prstDash val="solid"/>
          </a:ln>
        </p:spPr>
      </p:sp>
      <p:sp>
        <p:nvSpPr>
          <p:cNvPr id="126" name="Text 124"/>
          <p:cNvSpPr/>
          <p:nvPr/>
        </p:nvSpPr>
        <p:spPr>
          <a:xfrm>
            <a:off x="7477963"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27" name="Shape 125"/>
          <p:cNvSpPr/>
          <p:nvPr/>
        </p:nvSpPr>
        <p:spPr>
          <a:xfrm>
            <a:off x="7677302" y="3401568"/>
            <a:ext cx="192024" cy="274320"/>
          </a:xfrm>
          <a:prstGeom prst="rect">
            <a:avLst/>
          </a:prstGeom>
          <a:solidFill>
            <a:srgbClr val="080F1C"/>
          </a:solidFill>
          <a:ln w="12700">
            <a:solidFill>
              <a:srgbClr val="0A1A2E"/>
            </a:solidFill>
            <a:prstDash val="solid"/>
          </a:ln>
        </p:spPr>
      </p:sp>
      <p:sp>
        <p:nvSpPr>
          <p:cNvPr id="128" name="Text 126"/>
          <p:cNvSpPr/>
          <p:nvPr/>
        </p:nvSpPr>
        <p:spPr>
          <a:xfrm>
            <a:off x="7677302"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29" name="Shape 127"/>
          <p:cNvSpPr/>
          <p:nvPr/>
        </p:nvSpPr>
        <p:spPr>
          <a:xfrm>
            <a:off x="7876642" y="3401568"/>
            <a:ext cx="192024" cy="274320"/>
          </a:xfrm>
          <a:prstGeom prst="rect">
            <a:avLst/>
          </a:prstGeom>
          <a:solidFill>
            <a:srgbClr val="080F1C"/>
          </a:solidFill>
          <a:ln w="12700">
            <a:solidFill>
              <a:srgbClr val="0A1A2E"/>
            </a:solidFill>
            <a:prstDash val="solid"/>
          </a:ln>
        </p:spPr>
      </p:sp>
      <p:sp>
        <p:nvSpPr>
          <p:cNvPr id="130" name="Text 128"/>
          <p:cNvSpPr/>
          <p:nvPr/>
        </p:nvSpPr>
        <p:spPr>
          <a:xfrm>
            <a:off x="7876642"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31" name="Shape 129"/>
          <p:cNvSpPr/>
          <p:nvPr/>
        </p:nvSpPr>
        <p:spPr>
          <a:xfrm>
            <a:off x="8075981" y="3401568"/>
            <a:ext cx="192024" cy="274320"/>
          </a:xfrm>
          <a:prstGeom prst="rect">
            <a:avLst/>
          </a:prstGeom>
          <a:solidFill>
            <a:srgbClr val="080F1C"/>
          </a:solidFill>
          <a:ln w="12700">
            <a:solidFill>
              <a:srgbClr val="0A1A2E"/>
            </a:solidFill>
            <a:prstDash val="solid"/>
          </a:ln>
        </p:spPr>
      </p:sp>
      <p:sp>
        <p:nvSpPr>
          <p:cNvPr id="132" name="Text 130"/>
          <p:cNvSpPr/>
          <p:nvPr/>
        </p:nvSpPr>
        <p:spPr>
          <a:xfrm>
            <a:off x="8075981"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N</a:t>
            </a:r>
            <a:endParaRPr lang="en-US" sz="900" dirty="0"/>
          </a:p>
        </p:txBody>
      </p:sp>
      <p:sp>
        <p:nvSpPr>
          <p:cNvPr id="133" name="Shape 131"/>
          <p:cNvSpPr/>
          <p:nvPr/>
        </p:nvSpPr>
        <p:spPr>
          <a:xfrm>
            <a:off x="8275320" y="3401568"/>
            <a:ext cx="192024" cy="274320"/>
          </a:xfrm>
          <a:prstGeom prst="rect">
            <a:avLst/>
          </a:prstGeom>
          <a:solidFill>
            <a:srgbClr val="080F1C"/>
          </a:solidFill>
          <a:ln w="12700">
            <a:solidFill>
              <a:srgbClr val="0A1A2E"/>
            </a:solidFill>
            <a:prstDash val="solid"/>
          </a:ln>
        </p:spPr>
      </p:sp>
      <p:sp>
        <p:nvSpPr>
          <p:cNvPr id="134" name="Text 132"/>
          <p:cNvSpPr/>
          <p:nvPr/>
        </p:nvSpPr>
        <p:spPr>
          <a:xfrm>
            <a:off x="8275320" y="3401568"/>
            <a:ext cx="192024" cy="274320"/>
          </a:xfrm>
          <a:prstGeom prst="rect">
            <a:avLst/>
          </a:prstGeom>
          <a:noFill/>
          <a:ln/>
        </p:spPr>
        <p:txBody>
          <a:bodyPr wrap="square" lIns="0" tIns="0" rIns="0" bIns="0" rtlCol="0" anchor="ctr"/>
          <a:lstStyle/>
          <a:p>
            <a:pPr marL="0" indent="0" algn="ctr">
              <a:buNone/>
            </a:pPr>
            <a:r>
              <a:rPr lang="en-US" sz="900" dirty="0">
                <a:solidFill>
                  <a:srgbClr val="5A8FAA"/>
                </a:solidFill>
                <a:latin typeface="Calibri" pitchFamily="34" charset="0"/>
                <a:ea typeface="Calibri" pitchFamily="34" charset="-122"/>
                <a:cs typeface="Calibri" pitchFamily="34" charset="-120"/>
              </a:rPr>
              <a:t>Y</a:t>
            </a:r>
            <a:endParaRPr lang="en-US" sz="900" dirty="0"/>
          </a:p>
        </p:txBody>
      </p:sp>
      <p:sp>
        <p:nvSpPr>
          <p:cNvPr id="135" name="Shape 133"/>
          <p:cNvSpPr/>
          <p:nvPr/>
        </p:nvSpPr>
        <p:spPr>
          <a:xfrm>
            <a:off x="4736592" y="3703320"/>
            <a:ext cx="530352" cy="274320"/>
          </a:xfrm>
          <a:prstGeom prst="rect">
            <a:avLst/>
          </a:prstGeom>
          <a:solidFill>
            <a:srgbClr val="00B4D8"/>
          </a:solidFill>
          <a:ln w="12700">
            <a:solidFill>
              <a:srgbClr val="0A1A2E"/>
            </a:solidFill>
            <a:prstDash val="solid"/>
          </a:ln>
        </p:spPr>
      </p:sp>
      <p:sp>
        <p:nvSpPr>
          <p:cNvPr id="136" name="Text 134"/>
          <p:cNvSpPr/>
          <p:nvPr/>
        </p:nvSpPr>
        <p:spPr>
          <a:xfrm>
            <a:off x="4736592" y="3703320"/>
            <a:ext cx="530352"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Result</a:t>
            </a:r>
            <a:endParaRPr lang="en-US" sz="900" dirty="0"/>
          </a:p>
        </p:txBody>
      </p:sp>
      <p:sp>
        <p:nvSpPr>
          <p:cNvPr id="137" name="Shape 135"/>
          <p:cNvSpPr/>
          <p:nvPr/>
        </p:nvSpPr>
        <p:spPr>
          <a:xfrm>
            <a:off x="5285232" y="3703320"/>
            <a:ext cx="192024" cy="274320"/>
          </a:xfrm>
          <a:prstGeom prst="rect">
            <a:avLst/>
          </a:prstGeom>
          <a:solidFill>
            <a:srgbClr val="00B4D8"/>
          </a:solidFill>
          <a:ln w="12700">
            <a:solidFill>
              <a:srgbClr val="0A1A2E"/>
            </a:solidFill>
            <a:prstDash val="solid"/>
          </a:ln>
        </p:spPr>
      </p:sp>
      <p:sp>
        <p:nvSpPr>
          <p:cNvPr id="138" name="Text 136"/>
          <p:cNvSpPr/>
          <p:nvPr/>
        </p:nvSpPr>
        <p:spPr>
          <a:xfrm>
            <a:off x="5285232"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39" name="Shape 137"/>
          <p:cNvSpPr/>
          <p:nvPr/>
        </p:nvSpPr>
        <p:spPr>
          <a:xfrm>
            <a:off x="5484571" y="3703320"/>
            <a:ext cx="192024" cy="274320"/>
          </a:xfrm>
          <a:prstGeom prst="rect">
            <a:avLst/>
          </a:prstGeom>
          <a:solidFill>
            <a:srgbClr val="00B4D8"/>
          </a:solidFill>
          <a:ln w="12700">
            <a:solidFill>
              <a:srgbClr val="0A1A2E"/>
            </a:solidFill>
            <a:prstDash val="solid"/>
          </a:ln>
        </p:spPr>
      </p:sp>
      <p:sp>
        <p:nvSpPr>
          <p:cNvPr id="140" name="Text 138"/>
          <p:cNvSpPr/>
          <p:nvPr/>
        </p:nvSpPr>
        <p:spPr>
          <a:xfrm>
            <a:off x="5484571"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41" name="Shape 139"/>
          <p:cNvSpPr/>
          <p:nvPr/>
        </p:nvSpPr>
        <p:spPr>
          <a:xfrm>
            <a:off x="5683910" y="3703320"/>
            <a:ext cx="192024" cy="274320"/>
          </a:xfrm>
          <a:prstGeom prst="rect">
            <a:avLst/>
          </a:prstGeom>
          <a:solidFill>
            <a:srgbClr val="00B4D8"/>
          </a:solidFill>
          <a:ln w="12700">
            <a:solidFill>
              <a:srgbClr val="0A1A2E"/>
            </a:solidFill>
            <a:prstDash val="solid"/>
          </a:ln>
        </p:spPr>
      </p:sp>
      <p:sp>
        <p:nvSpPr>
          <p:cNvPr id="142" name="Text 140"/>
          <p:cNvSpPr/>
          <p:nvPr/>
        </p:nvSpPr>
        <p:spPr>
          <a:xfrm>
            <a:off x="5683910"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43" name="Shape 141"/>
          <p:cNvSpPr/>
          <p:nvPr/>
        </p:nvSpPr>
        <p:spPr>
          <a:xfrm>
            <a:off x="5883250" y="3703320"/>
            <a:ext cx="192024" cy="274320"/>
          </a:xfrm>
          <a:prstGeom prst="rect">
            <a:avLst/>
          </a:prstGeom>
          <a:solidFill>
            <a:srgbClr val="00B4D8"/>
          </a:solidFill>
          <a:ln w="12700">
            <a:solidFill>
              <a:srgbClr val="0A1A2E"/>
            </a:solidFill>
            <a:prstDash val="solid"/>
          </a:ln>
        </p:spPr>
      </p:sp>
      <p:sp>
        <p:nvSpPr>
          <p:cNvPr id="144" name="Text 142"/>
          <p:cNvSpPr/>
          <p:nvPr/>
        </p:nvSpPr>
        <p:spPr>
          <a:xfrm>
            <a:off x="5883250"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45" name="Shape 143"/>
          <p:cNvSpPr/>
          <p:nvPr/>
        </p:nvSpPr>
        <p:spPr>
          <a:xfrm>
            <a:off x="6082589" y="3703320"/>
            <a:ext cx="192024" cy="274320"/>
          </a:xfrm>
          <a:prstGeom prst="rect">
            <a:avLst/>
          </a:prstGeom>
          <a:solidFill>
            <a:srgbClr val="00B4D8"/>
          </a:solidFill>
          <a:ln w="12700">
            <a:solidFill>
              <a:srgbClr val="0A1A2E"/>
            </a:solidFill>
            <a:prstDash val="solid"/>
          </a:ln>
        </p:spPr>
      </p:sp>
      <p:sp>
        <p:nvSpPr>
          <p:cNvPr id="146" name="Text 144"/>
          <p:cNvSpPr/>
          <p:nvPr/>
        </p:nvSpPr>
        <p:spPr>
          <a:xfrm>
            <a:off x="6082589"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47" name="Shape 145"/>
          <p:cNvSpPr/>
          <p:nvPr/>
        </p:nvSpPr>
        <p:spPr>
          <a:xfrm>
            <a:off x="6281928" y="3703320"/>
            <a:ext cx="192024" cy="274320"/>
          </a:xfrm>
          <a:prstGeom prst="rect">
            <a:avLst/>
          </a:prstGeom>
          <a:solidFill>
            <a:srgbClr val="00B4D8"/>
          </a:solidFill>
          <a:ln w="12700">
            <a:solidFill>
              <a:srgbClr val="0A1A2E"/>
            </a:solidFill>
            <a:prstDash val="solid"/>
          </a:ln>
        </p:spPr>
      </p:sp>
      <p:sp>
        <p:nvSpPr>
          <p:cNvPr id="148" name="Text 146"/>
          <p:cNvSpPr/>
          <p:nvPr/>
        </p:nvSpPr>
        <p:spPr>
          <a:xfrm>
            <a:off x="6281928"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49" name="Shape 147"/>
          <p:cNvSpPr/>
          <p:nvPr/>
        </p:nvSpPr>
        <p:spPr>
          <a:xfrm>
            <a:off x="6481267" y="3703320"/>
            <a:ext cx="192024" cy="274320"/>
          </a:xfrm>
          <a:prstGeom prst="rect">
            <a:avLst/>
          </a:prstGeom>
          <a:solidFill>
            <a:srgbClr val="00B4D8"/>
          </a:solidFill>
          <a:ln w="12700">
            <a:solidFill>
              <a:srgbClr val="0A1A2E"/>
            </a:solidFill>
            <a:prstDash val="solid"/>
          </a:ln>
        </p:spPr>
      </p:sp>
      <p:sp>
        <p:nvSpPr>
          <p:cNvPr id="150" name="Text 148"/>
          <p:cNvSpPr/>
          <p:nvPr/>
        </p:nvSpPr>
        <p:spPr>
          <a:xfrm>
            <a:off x="6481267"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51" name="Shape 149"/>
          <p:cNvSpPr/>
          <p:nvPr/>
        </p:nvSpPr>
        <p:spPr>
          <a:xfrm>
            <a:off x="6680606" y="3703320"/>
            <a:ext cx="192024" cy="274320"/>
          </a:xfrm>
          <a:prstGeom prst="rect">
            <a:avLst/>
          </a:prstGeom>
          <a:solidFill>
            <a:srgbClr val="00B4D8"/>
          </a:solidFill>
          <a:ln w="12700">
            <a:solidFill>
              <a:srgbClr val="0A1A2E"/>
            </a:solidFill>
            <a:prstDash val="solid"/>
          </a:ln>
        </p:spPr>
      </p:sp>
      <p:sp>
        <p:nvSpPr>
          <p:cNvPr id="152" name="Text 150"/>
          <p:cNvSpPr/>
          <p:nvPr/>
        </p:nvSpPr>
        <p:spPr>
          <a:xfrm>
            <a:off x="6680606"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53" name="Shape 151"/>
          <p:cNvSpPr/>
          <p:nvPr/>
        </p:nvSpPr>
        <p:spPr>
          <a:xfrm>
            <a:off x="6879946" y="3703320"/>
            <a:ext cx="192024" cy="274320"/>
          </a:xfrm>
          <a:prstGeom prst="rect">
            <a:avLst/>
          </a:prstGeom>
          <a:solidFill>
            <a:srgbClr val="00B4D8"/>
          </a:solidFill>
          <a:ln w="12700">
            <a:solidFill>
              <a:srgbClr val="0A1A2E"/>
            </a:solidFill>
            <a:prstDash val="solid"/>
          </a:ln>
        </p:spPr>
      </p:sp>
      <p:sp>
        <p:nvSpPr>
          <p:cNvPr id="154" name="Text 152"/>
          <p:cNvSpPr/>
          <p:nvPr/>
        </p:nvSpPr>
        <p:spPr>
          <a:xfrm>
            <a:off x="6879946"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55" name="Shape 153"/>
          <p:cNvSpPr/>
          <p:nvPr/>
        </p:nvSpPr>
        <p:spPr>
          <a:xfrm>
            <a:off x="7079285" y="3703320"/>
            <a:ext cx="192024" cy="274320"/>
          </a:xfrm>
          <a:prstGeom prst="rect">
            <a:avLst/>
          </a:prstGeom>
          <a:solidFill>
            <a:srgbClr val="00B4D8"/>
          </a:solidFill>
          <a:ln w="12700">
            <a:solidFill>
              <a:srgbClr val="0A1A2E"/>
            </a:solidFill>
            <a:prstDash val="solid"/>
          </a:ln>
        </p:spPr>
      </p:sp>
      <p:sp>
        <p:nvSpPr>
          <p:cNvPr id="156" name="Text 154"/>
          <p:cNvSpPr/>
          <p:nvPr/>
        </p:nvSpPr>
        <p:spPr>
          <a:xfrm>
            <a:off x="7079285"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57" name="Shape 155"/>
          <p:cNvSpPr/>
          <p:nvPr/>
        </p:nvSpPr>
        <p:spPr>
          <a:xfrm>
            <a:off x="7278624" y="3703320"/>
            <a:ext cx="192024" cy="274320"/>
          </a:xfrm>
          <a:prstGeom prst="rect">
            <a:avLst/>
          </a:prstGeom>
          <a:solidFill>
            <a:srgbClr val="00B4D8"/>
          </a:solidFill>
          <a:ln w="12700">
            <a:solidFill>
              <a:srgbClr val="0A1A2E"/>
            </a:solidFill>
            <a:prstDash val="solid"/>
          </a:ln>
        </p:spPr>
      </p:sp>
      <p:sp>
        <p:nvSpPr>
          <p:cNvPr id="158" name="Text 156"/>
          <p:cNvSpPr/>
          <p:nvPr/>
        </p:nvSpPr>
        <p:spPr>
          <a:xfrm>
            <a:off x="7278624"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59" name="Shape 157"/>
          <p:cNvSpPr/>
          <p:nvPr/>
        </p:nvSpPr>
        <p:spPr>
          <a:xfrm>
            <a:off x="7477963" y="3703320"/>
            <a:ext cx="192024" cy="274320"/>
          </a:xfrm>
          <a:prstGeom prst="rect">
            <a:avLst/>
          </a:prstGeom>
          <a:solidFill>
            <a:srgbClr val="00B4D8"/>
          </a:solidFill>
          <a:ln w="12700">
            <a:solidFill>
              <a:srgbClr val="0A1A2E"/>
            </a:solidFill>
            <a:prstDash val="solid"/>
          </a:ln>
        </p:spPr>
      </p:sp>
      <p:sp>
        <p:nvSpPr>
          <p:cNvPr id="160" name="Text 158"/>
          <p:cNvSpPr/>
          <p:nvPr/>
        </p:nvSpPr>
        <p:spPr>
          <a:xfrm>
            <a:off x="7477963"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61" name="Shape 159"/>
          <p:cNvSpPr/>
          <p:nvPr/>
        </p:nvSpPr>
        <p:spPr>
          <a:xfrm>
            <a:off x="7677302" y="3703320"/>
            <a:ext cx="192024" cy="274320"/>
          </a:xfrm>
          <a:prstGeom prst="rect">
            <a:avLst/>
          </a:prstGeom>
          <a:solidFill>
            <a:srgbClr val="00B4D8"/>
          </a:solidFill>
          <a:ln w="12700">
            <a:solidFill>
              <a:srgbClr val="0A1A2E"/>
            </a:solidFill>
            <a:prstDash val="solid"/>
          </a:ln>
        </p:spPr>
      </p:sp>
      <p:sp>
        <p:nvSpPr>
          <p:cNvPr id="162" name="Text 160"/>
          <p:cNvSpPr/>
          <p:nvPr/>
        </p:nvSpPr>
        <p:spPr>
          <a:xfrm>
            <a:off x="7677302"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63" name="Shape 161"/>
          <p:cNvSpPr/>
          <p:nvPr/>
        </p:nvSpPr>
        <p:spPr>
          <a:xfrm>
            <a:off x="7876642" y="3703320"/>
            <a:ext cx="192024" cy="274320"/>
          </a:xfrm>
          <a:prstGeom prst="rect">
            <a:avLst/>
          </a:prstGeom>
          <a:solidFill>
            <a:srgbClr val="00B4D8"/>
          </a:solidFill>
          <a:ln w="12700">
            <a:solidFill>
              <a:srgbClr val="0A1A2E"/>
            </a:solidFill>
            <a:prstDash val="solid"/>
          </a:ln>
        </p:spPr>
      </p:sp>
      <p:sp>
        <p:nvSpPr>
          <p:cNvPr id="164" name="Text 162"/>
          <p:cNvSpPr/>
          <p:nvPr/>
        </p:nvSpPr>
        <p:spPr>
          <a:xfrm>
            <a:off x="7876642"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2</a:t>
            </a:r>
            <a:endParaRPr lang="en-US" sz="900" dirty="0"/>
          </a:p>
        </p:txBody>
      </p:sp>
      <p:sp>
        <p:nvSpPr>
          <p:cNvPr id="165" name="Shape 163"/>
          <p:cNvSpPr/>
          <p:nvPr/>
        </p:nvSpPr>
        <p:spPr>
          <a:xfrm>
            <a:off x="8075981" y="3703320"/>
            <a:ext cx="192024" cy="274320"/>
          </a:xfrm>
          <a:prstGeom prst="rect">
            <a:avLst/>
          </a:prstGeom>
          <a:solidFill>
            <a:srgbClr val="00B4D8"/>
          </a:solidFill>
          <a:ln w="12700">
            <a:solidFill>
              <a:srgbClr val="0A1A2E"/>
            </a:solidFill>
            <a:prstDash val="solid"/>
          </a:ln>
        </p:spPr>
      </p:sp>
      <p:sp>
        <p:nvSpPr>
          <p:cNvPr id="166" name="Text 164"/>
          <p:cNvSpPr/>
          <p:nvPr/>
        </p:nvSpPr>
        <p:spPr>
          <a:xfrm>
            <a:off x="8075981"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1</a:t>
            </a:r>
            <a:endParaRPr lang="en-US" sz="900" dirty="0"/>
          </a:p>
        </p:txBody>
      </p:sp>
      <p:sp>
        <p:nvSpPr>
          <p:cNvPr id="167" name="Shape 165"/>
          <p:cNvSpPr/>
          <p:nvPr/>
        </p:nvSpPr>
        <p:spPr>
          <a:xfrm>
            <a:off x="8275320" y="3703320"/>
            <a:ext cx="192024" cy="274320"/>
          </a:xfrm>
          <a:prstGeom prst="rect">
            <a:avLst/>
          </a:prstGeom>
          <a:solidFill>
            <a:srgbClr val="00B4D8"/>
          </a:solidFill>
          <a:ln w="12700">
            <a:solidFill>
              <a:srgbClr val="0A1A2E"/>
            </a:solidFill>
            <a:prstDash val="solid"/>
          </a:ln>
        </p:spPr>
      </p:sp>
      <p:sp>
        <p:nvSpPr>
          <p:cNvPr id="168" name="Text 166"/>
          <p:cNvSpPr/>
          <p:nvPr/>
        </p:nvSpPr>
        <p:spPr>
          <a:xfrm>
            <a:off x="8275320" y="3703320"/>
            <a:ext cx="192024" cy="274320"/>
          </a:xfrm>
          <a:prstGeom prst="rect">
            <a:avLst/>
          </a:prstGeom>
          <a:noFill/>
          <a:ln/>
        </p:spPr>
        <p:txBody>
          <a:bodyPr wrap="square" lIns="0" tIns="0" rIns="0" bIns="0" rtlCol="0" anchor="ctr"/>
          <a:lstStyle/>
          <a:p>
            <a:pPr marL="0" indent="0" algn="ctr">
              <a:buNone/>
            </a:pPr>
            <a:r>
              <a:rPr lang="en-US" sz="900" b="1" dirty="0">
                <a:solidFill>
                  <a:srgbClr val="060F1E"/>
                </a:solidFill>
                <a:latin typeface="Calibri" pitchFamily="34" charset="0"/>
                <a:ea typeface="Calibri" pitchFamily="34" charset="-122"/>
                <a:cs typeface="Calibri" pitchFamily="34" charset="-120"/>
              </a:rPr>
              <a:t>8</a:t>
            </a:r>
            <a:endParaRPr lang="en-US" sz="900" dirty="0"/>
          </a:p>
        </p:txBody>
      </p:sp>
      <p:sp>
        <p:nvSpPr>
          <p:cNvPr id="169" name="Text 167"/>
          <p:cNvSpPr/>
          <p:nvPr/>
        </p:nvSpPr>
        <p:spPr>
          <a:xfrm>
            <a:off x="4736592" y="4059936"/>
            <a:ext cx="3931920" cy="329184"/>
          </a:xfrm>
          <a:prstGeom prst="rect">
            <a:avLst/>
          </a:prstGeom>
          <a:noFill/>
          <a:ln/>
        </p:spPr>
        <p:txBody>
          <a:bodyPr wrap="square" lIns="0" tIns="0" rIns="0" bIns="0" rtlCol="0" anchor="ctr"/>
          <a:lstStyle/>
          <a:p>
            <a:pPr marL="0" indent="0">
              <a:buNone/>
            </a:pPr>
            <a:r>
              <a:rPr lang="en-US" sz="1250" b="1" dirty="0">
                <a:solidFill>
                  <a:srgbClr val="2DC653"/>
                </a:solidFill>
                <a:latin typeface="Calibri" pitchFamily="34" charset="0"/>
                <a:ea typeface="Calibri" pitchFamily="34" charset="-122"/>
                <a:cs typeface="Calibri" pitchFamily="34" charset="-120"/>
              </a:rPr>
              <a:t>Sum = 30   →   30 mod 10 = 0   →   ✅  VALID</a:t>
            </a:r>
            <a:endParaRPr lang="en-US" sz="1250" dirty="0"/>
          </a:p>
        </p:txBody>
      </p:sp>
      <p:sp>
        <p:nvSpPr>
          <p:cNvPr id="170" name="Text 168"/>
          <p:cNvSpPr/>
          <p:nvPr/>
        </p:nvSpPr>
        <p:spPr>
          <a:xfrm>
            <a:off x="365760" y="4919472"/>
            <a:ext cx="8412480" cy="182880"/>
          </a:xfrm>
          <a:prstGeom prst="rect">
            <a:avLst/>
          </a:prstGeom>
          <a:noFill/>
          <a:ln/>
        </p:spPr>
        <p:txBody>
          <a:bodyPr wrap="square" lIns="0" tIns="0" rIns="0" bIns="0" rtlCol="0" anchor="ctr"/>
          <a:lstStyle/>
          <a:p>
            <a:pPr marL="0" indent="0">
              <a:buNone/>
            </a:pPr>
            <a:r>
              <a:rPr lang="en-US" sz="950" i="1" dirty="0">
                <a:solidFill>
                  <a:srgbClr val="5A8FAA"/>
                </a:solidFill>
                <a:latin typeface="Calibri" pitchFamily="34" charset="0"/>
                <a:ea typeface="Calibri" pitchFamily="34" charset="-122"/>
                <a:cs typeface="Calibri" pitchFamily="34" charset="-120"/>
              </a:rPr>
              <a:t>Implementation: Python standard library only — no external packages.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07 · DLP ENGINE</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DLP Outgoing Scan — How It Works</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Text 6"/>
          <p:cNvSpPr/>
          <p:nvPr/>
        </p:nvSpPr>
        <p:spPr>
          <a:xfrm>
            <a:off x="365760" y="1234440"/>
            <a:ext cx="8412480" cy="256032"/>
          </a:xfrm>
          <a:prstGeom prst="rect">
            <a:avLst/>
          </a:prstGeom>
          <a:noFill/>
          <a:ln/>
        </p:spPr>
        <p:txBody>
          <a:bodyPr wrap="square" lIns="0" tIns="0" rIns="0" bIns="0" rtlCol="0" anchor="ctr"/>
          <a:lstStyle/>
          <a:p>
            <a:pPr marL="0" indent="0">
              <a:buNone/>
            </a:pPr>
            <a:r>
              <a:rPr lang="en-US" sz="1200" dirty="0">
                <a:solidFill>
                  <a:srgbClr val="5A8FAA"/>
                </a:solidFill>
                <a:latin typeface="Calibri" pitchFamily="34" charset="0"/>
                <a:ea typeface="Calibri" pitchFamily="34" charset="-122"/>
                <a:cs typeface="Calibri" pitchFamily="34" charset="-120"/>
              </a:rPr>
              <a:t>Every outgoing email draft passes through a five-stage pipeline before it is allowed to transmit.</a:t>
            </a:r>
            <a:endParaRPr lang="en-US" sz="1200" dirty="0"/>
          </a:p>
        </p:txBody>
      </p:sp>
      <p:sp>
        <p:nvSpPr>
          <p:cNvPr id="9" name="Shape 7"/>
          <p:cNvSpPr/>
          <p:nvPr/>
        </p:nvSpPr>
        <p:spPr>
          <a:xfrm>
            <a:off x="365760" y="1572768"/>
            <a:ext cx="5120640" cy="585216"/>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10" name="Shape 8"/>
          <p:cNvSpPr/>
          <p:nvPr/>
        </p:nvSpPr>
        <p:spPr>
          <a:xfrm>
            <a:off x="475488" y="1700784"/>
            <a:ext cx="329184" cy="329184"/>
          </a:xfrm>
          <a:prstGeom prst="ellipse">
            <a:avLst/>
          </a:prstGeom>
          <a:solidFill>
            <a:srgbClr val="00B4D8"/>
          </a:solidFill>
          <a:ln w="12700">
            <a:solidFill>
              <a:srgbClr val="00B4D8"/>
            </a:solidFill>
            <a:prstDash val="solid"/>
          </a:ln>
        </p:spPr>
      </p:sp>
      <p:sp>
        <p:nvSpPr>
          <p:cNvPr id="11" name="Text 9"/>
          <p:cNvSpPr/>
          <p:nvPr/>
        </p:nvSpPr>
        <p:spPr>
          <a:xfrm>
            <a:off x="475488" y="1709928"/>
            <a:ext cx="329184" cy="310896"/>
          </a:xfrm>
          <a:prstGeom prst="rect">
            <a:avLst/>
          </a:prstGeom>
          <a:noFill/>
          <a:ln/>
        </p:spPr>
        <p:txBody>
          <a:bodyPr wrap="square" lIns="0" tIns="0" rIns="0" bIns="0"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1</a:t>
            </a:r>
            <a:endParaRPr lang="en-US" sz="1200" dirty="0"/>
          </a:p>
        </p:txBody>
      </p:sp>
      <p:sp>
        <p:nvSpPr>
          <p:cNvPr id="12" name="Text 10"/>
          <p:cNvSpPr/>
          <p:nvPr/>
        </p:nvSpPr>
        <p:spPr>
          <a:xfrm>
            <a:off x="932688" y="1664208"/>
            <a:ext cx="4425696"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Parse Body &amp; Attachments</a:t>
            </a:r>
            <a:endParaRPr lang="en-US" sz="1200" dirty="0"/>
          </a:p>
        </p:txBody>
      </p:sp>
      <p:sp>
        <p:nvSpPr>
          <p:cNvPr id="13" name="Text 11"/>
          <p:cNvSpPr/>
          <p:nvPr/>
        </p:nvSpPr>
        <p:spPr>
          <a:xfrm>
            <a:off x="932688" y="1892808"/>
            <a:ext cx="4425696"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Extract plain text and HTML body. Collect attachment filenames and decode content for scanning.</a:t>
            </a:r>
            <a:endParaRPr lang="en-US" sz="1000" dirty="0"/>
          </a:p>
        </p:txBody>
      </p:sp>
      <p:sp>
        <p:nvSpPr>
          <p:cNvPr id="14" name="Shape 12"/>
          <p:cNvSpPr/>
          <p:nvPr/>
        </p:nvSpPr>
        <p:spPr>
          <a:xfrm>
            <a:off x="621792" y="2157984"/>
            <a:ext cx="36576" cy="73152"/>
          </a:xfrm>
          <a:prstGeom prst="rect">
            <a:avLst/>
          </a:prstGeom>
          <a:solidFill>
            <a:srgbClr val="00B4D8"/>
          </a:solidFill>
          <a:ln w="12700">
            <a:solidFill>
              <a:srgbClr val="00B4D8"/>
            </a:solidFill>
            <a:prstDash val="solid"/>
          </a:ln>
        </p:spPr>
      </p:sp>
      <p:sp>
        <p:nvSpPr>
          <p:cNvPr id="15" name="Shape 13"/>
          <p:cNvSpPr/>
          <p:nvPr/>
        </p:nvSpPr>
        <p:spPr>
          <a:xfrm>
            <a:off x="365760" y="2231136"/>
            <a:ext cx="5120640" cy="585216"/>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16" name="Shape 14"/>
          <p:cNvSpPr/>
          <p:nvPr/>
        </p:nvSpPr>
        <p:spPr>
          <a:xfrm>
            <a:off x="475488" y="2359152"/>
            <a:ext cx="329184" cy="329184"/>
          </a:xfrm>
          <a:prstGeom prst="ellipse">
            <a:avLst/>
          </a:prstGeom>
          <a:solidFill>
            <a:srgbClr val="F4A261"/>
          </a:solidFill>
          <a:ln w="12700">
            <a:solidFill>
              <a:srgbClr val="F4A261"/>
            </a:solidFill>
            <a:prstDash val="solid"/>
          </a:ln>
        </p:spPr>
      </p:sp>
      <p:sp>
        <p:nvSpPr>
          <p:cNvPr id="17" name="Text 15"/>
          <p:cNvSpPr/>
          <p:nvPr/>
        </p:nvSpPr>
        <p:spPr>
          <a:xfrm>
            <a:off x="475488" y="2368296"/>
            <a:ext cx="329184" cy="310896"/>
          </a:xfrm>
          <a:prstGeom prst="rect">
            <a:avLst/>
          </a:prstGeom>
          <a:noFill/>
          <a:ln/>
        </p:spPr>
        <p:txBody>
          <a:bodyPr wrap="square" lIns="0" tIns="0" rIns="0" bIns="0"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932688" y="2322576"/>
            <a:ext cx="4425696"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Regex Pattern Scan</a:t>
            </a:r>
            <a:endParaRPr lang="en-US" sz="1200" dirty="0"/>
          </a:p>
        </p:txBody>
      </p:sp>
      <p:sp>
        <p:nvSpPr>
          <p:cNvPr id="19" name="Text 17"/>
          <p:cNvSpPr/>
          <p:nvPr/>
        </p:nvSpPr>
        <p:spPr>
          <a:xfrm>
            <a:off x="932688" y="2551176"/>
            <a:ext cx="4425696"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Run all patterns (PAN, Aadhaar, Credit Card, Password, IFSC, Bank Account) against the full body text.</a:t>
            </a:r>
            <a:endParaRPr lang="en-US" sz="1000" dirty="0"/>
          </a:p>
        </p:txBody>
      </p:sp>
      <p:sp>
        <p:nvSpPr>
          <p:cNvPr id="20" name="Shape 18"/>
          <p:cNvSpPr/>
          <p:nvPr/>
        </p:nvSpPr>
        <p:spPr>
          <a:xfrm>
            <a:off x="621792" y="2816352"/>
            <a:ext cx="36576" cy="73152"/>
          </a:xfrm>
          <a:prstGeom prst="rect">
            <a:avLst/>
          </a:prstGeom>
          <a:solidFill>
            <a:srgbClr val="F4A261"/>
          </a:solidFill>
          <a:ln w="12700">
            <a:solidFill>
              <a:srgbClr val="F4A261"/>
            </a:solidFill>
            <a:prstDash val="solid"/>
          </a:ln>
        </p:spPr>
      </p:sp>
      <p:sp>
        <p:nvSpPr>
          <p:cNvPr id="21" name="Shape 19"/>
          <p:cNvSpPr/>
          <p:nvPr/>
        </p:nvSpPr>
        <p:spPr>
          <a:xfrm>
            <a:off x="365760" y="2889504"/>
            <a:ext cx="5120640" cy="585216"/>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22" name="Shape 20"/>
          <p:cNvSpPr/>
          <p:nvPr/>
        </p:nvSpPr>
        <p:spPr>
          <a:xfrm>
            <a:off x="475488" y="3017520"/>
            <a:ext cx="329184" cy="329184"/>
          </a:xfrm>
          <a:prstGeom prst="ellipse">
            <a:avLst/>
          </a:prstGeom>
          <a:solidFill>
            <a:srgbClr val="F4A261"/>
          </a:solidFill>
          <a:ln w="12700">
            <a:solidFill>
              <a:srgbClr val="F4A261"/>
            </a:solidFill>
            <a:prstDash val="solid"/>
          </a:ln>
        </p:spPr>
      </p:sp>
      <p:sp>
        <p:nvSpPr>
          <p:cNvPr id="23" name="Text 21"/>
          <p:cNvSpPr/>
          <p:nvPr/>
        </p:nvSpPr>
        <p:spPr>
          <a:xfrm>
            <a:off x="475488" y="3026664"/>
            <a:ext cx="329184" cy="310896"/>
          </a:xfrm>
          <a:prstGeom prst="rect">
            <a:avLst/>
          </a:prstGeom>
          <a:noFill/>
          <a:ln/>
        </p:spPr>
        <p:txBody>
          <a:bodyPr wrap="square" lIns="0" tIns="0" rIns="0" bIns="0"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932688" y="2980944"/>
            <a:ext cx="4425696"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Luhn Algorithm Validation</a:t>
            </a:r>
            <a:endParaRPr lang="en-US" sz="1200" dirty="0"/>
          </a:p>
        </p:txBody>
      </p:sp>
      <p:sp>
        <p:nvSpPr>
          <p:cNvPr id="25" name="Text 23"/>
          <p:cNvSpPr/>
          <p:nvPr/>
        </p:nvSpPr>
        <p:spPr>
          <a:xfrm>
            <a:off x="932688" y="3209544"/>
            <a:ext cx="4425696"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Filter all card number regex matches through the Luhn checksum — only valid card numbers are flagged as violations.</a:t>
            </a:r>
            <a:endParaRPr lang="en-US" sz="1000" dirty="0"/>
          </a:p>
        </p:txBody>
      </p:sp>
      <p:sp>
        <p:nvSpPr>
          <p:cNvPr id="26" name="Shape 24"/>
          <p:cNvSpPr/>
          <p:nvPr/>
        </p:nvSpPr>
        <p:spPr>
          <a:xfrm>
            <a:off x="621792" y="3474720"/>
            <a:ext cx="36576" cy="73152"/>
          </a:xfrm>
          <a:prstGeom prst="rect">
            <a:avLst/>
          </a:prstGeom>
          <a:solidFill>
            <a:srgbClr val="F4A261"/>
          </a:solidFill>
          <a:ln w="12700">
            <a:solidFill>
              <a:srgbClr val="F4A261"/>
            </a:solidFill>
            <a:prstDash val="solid"/>
          </a:ln>
        </p:spPr>
      </p:sp>
      <p:sp>
        <p:nvSpPr>
          <p:cNvPr id="27" name="Shape 25"/>
          <p:cNvSpPr/>
          <p:nvPr/>
        </p:nvSpPr>
        <p:spPr>
          <a:xfrm>
            <a:off x="365760" y="3547872"/>
            <a:ext cx="5120640" cy="585216"/>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28" name="Shape 26"/>
          <p:cNvSpPr/>
          <p:nvPr/>
        </p:nvSpPr>
        <p:spPr>
          <a:xfrm>
            <a:off x="475488" y="3675888"/>
            <a:ext cx="329184" cy="329184"/>
          </a:xfrm>
          <a:prstGeom prst="ellipse">
            <a:avLst/>
          </a:prstGeom>
          <a:solidFill>
            <a:srgbClr val="F4A261"/>
          </a:solidFill>
          <a:ln w="12700">
            <a:solidFill>
              <a:srgbClr val="F4A261"/>
            </a:solidFill>
            <a:prstDash val="solid"/>
          </a:ln>
        </p:spPr>
      </p:sp>
      <p:sp>
        <p:nvSpPr>
          <p:cNvPr id="29" name="Text 27"/>
          <p:cNvSpPr/>
          <p:nvPr/>
        </p:nvSpPr>
        <p:spPr>
          <a:xfrm>
            <a:off x="475488" y="3685032"/>
            <a:ext cx="329184" cy="310896"/>
          </a:xfrm>
          <a:prstGeom prst="rect">
            <a:avLst/>
          </a:prstGeom>
          <a:noFill/>
          <a:ln/>
        </p:spPr>
        <p:txBody>
          <a:bodyPr wrap="square" lIns="0" tIns="0" rIns="0" bIns="0"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4</a:t>
            </a:r>
            <a:endParaRPr lang="en-US" sz="1200" dirty="0"/>
          </a:p>
        </p:txBody>
      </p:sp>
      <p:sp>
        <p:nvSpPr>
          <p:cNvPr id="30" name="Text 28"/>
          <p:cNvSpPr/>
          <p:nvPr/>
        </p:nvSpPr>
        <p:spPr>
          <a:xfrm>
            <a:off x="932688" y="3639312"/>
            <a:ext cx="4425696"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Sensitive Filename Check</a:t>
            </a:r>
            <a:endParaRPr lang="en-US" sz="1200" dirty="0"/>
          </a:p>
        </p:txBody>
      </p:sp>
      <p:sp>
        <p:nvSpPr>
          <p:cNvPr id="31" name="Text 29"/>
          <p:cNvSpPr/>
          <p:nvPr/>
        </p:nvSpPr>
        <p:spPr>
          <a:xfrm>
            <a:off x="932688" y="3867912"/>
            <a:ext cx="4425696"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Match attachment names against patterns: HR_Data, Payroll, Employee, Confidential, PII, Aadhaar, Passport.</a:t>
            </a:r>
            <a:endParaRPr lang="en-US" sz="1000" dirty="0"/>
          </a:p>
        </p:txBody>
      </p:sp>
      <p:sp>
        <p:nvSpPr>
          <p:cNvPr id="32" name="Shape 30"/>
          <p:cNvSpPr/>
          <p:nvPr/>
        </p:nvSpPr>
        <p:spPr>
          <a:xfrm>
            <a:off x="621792" y="4133088"/>
            <a:ext cx="36576" cy="73152"/>
          </a:xfrm>
          <a:prstGeom prst="rect">
            <a:avLst/>
          </a:prstGeom>
          <a:solidFill>
            <a:srgbClr val="F4A261"/>
          </a:solidFill>
          <a:ln w="12700">
            <a:solidFill>
              <a:srgbClr val="F4A261"/>
            </a:solidFill>
            <a:prstDash val="solid"/>
          </a:ln>
        </p:spPr>
      </p:sp>
      <p:sp>
        <p:nvSpPr>
          <p:cNvPr id="33" name="Shape 31"/>
          <p:cNvSpPr/>
          <p:nvPr/>
        </p:nvSpPr>
        <p:spPr>
          <a:xfrm>
            <a:off x="365760" y="4206240"/>
            <a:ext cx="5120640" cy="585216"/>
          </a:xfrm>
          <a:prstGeom prst="rect">
            <a:avLst/>
          </a:prstGeom>
          <a:solidFill>
            <a:srgbClr val="0A1A2E"/>
          </a:solidFill>
          <a:ln w="12700">
            <a:solidFill>
              <a:srgbClr val="E63946"/>
            </a:solidFill>
            <a:prstDash val="solid"/>
          </a:ln>
          <a:effectLst>
            <a:outerShdw blurRad="127000" dist="50800" dir="8100000" algn="bl" rotWithShape="0">
              <a:srgbClr val="000000">
                <a:alpha val="30000"/>
              </a:srgbClr>
            </a:outerShdw>
          </a:effectLst>
        </p:spPr>
      </p:sp>
      <p:sp>
        <p:nvSpPr>
          <p:cNvPr id="34" name="Shape 32"/>
          <p:cNvSpPr/>
          <p:nvPr/>
        </p:nvSpPr>
        <p:spPr>
          <a:xfrm>
            <a:off x="475488" y="4334256"/>
            <a:ext cx="329184" cy="329184"/>
          </a:xfrm>
          <a:prstGeom prst="ellipse">
            <a:avLst/>
          </a:prstGeom>
          <a:solidFill>
            <a:srgbClr val="E63946"/>
          </a:solidFill>
          <a:ln w="12700">
            <a:solidFill>
              <a:srgbClr val="E63946"/>
            </a:solidFill>
            <a:prstDash val="solid"/>
          </a:ln>
        </p:spPr>
      </p:sp>
      <p:sp>
        <p:nvSpPr>
          <p:cNvPr id="35" name="Text 33"/>
          <p:cNvSpPr/>
          <p:nvPr/>
        </p:nvSpPr>
        <p:spPr>
          <a:xfrm>
            <a:off x="475488" y="4343400"/>
            <a:ext cx="329184" cy="310896"/>
          </a:xfrm>
          <a:prstGeom prst="rect">
            <a:avLst/>
          </a:prstGeom>
          <a:noFill/>
          <a:ln/>
        </p:spPr>
        <p:txBody>
          <a:bodyPr wrap="square" lIns="0" tIns="0" rIns="0" bIns="0"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5</a:t>
            </a:r>
            <a:endParaRPr lang="en-US" sz="1200" dirty="0"/>
          </a:p>
        </p:txBody>
      </p:sp>
      <p:sp>
        <p:nvSpPr>
          <p:cNvPr id="36" name="Text 34"/>
          <p:cNvSpPr/>
          <p:nvPr/>
        </p:nvSpPr>
        <p:spPr>
          <a:xfrm>
            <a:off x="932688" y="4297680"/>
            <a:ext cx="4425696"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Classify &amp; Block</a:t>
            </a:r>
            <a:endParaRPr lang="en-US" sz="1200" dirty="0"/>
          </a:p>
        </p:txBody>
      </p:sp>
      <p:sp>
        <p:nvSpPr>
          <p:cNvPr id="37" name="Text 35"/>
          <p:cNvSpPr/>
          <p:nvPr/>
        </p:nvSpPr>
        <p:spPr>
          <a:xfrm>
            <a:off x="932688" y="4526280"/>
            <a:ext cx="4425696" cy="219456"/>
          </a:xfrm>
          <a:prstGeom prst="rect">
            <a:avLst/>
          </a:prstGeom>
          <a:noFill/>
          <a:ln/>
        </p:spPr>
        <p:txBody>
          <a:bodyPr wrap="square" lIns="0" tIns="0" rIns="0" bIns="0" rtlCol="0" anchor="ctr"/>
          <a:lstStyle/>
          <a:p>
            <a:pPr marL="0" indent="0">
              <a:buNone/>
            </a:pPr>
            <a:r>
              <a:rPr lang="en-US" sz="1000" dirty="0">
                <a:solidFill>
                  <a:srgbClr val="5A8FAA"/>
                </a:solidFill>
                <a:latin typeface="Calibri" pitchFamily="34" charset="0"/>
                <a:ea typeface="Calibri" pitchFamily="34" charset="-122"/>
                <a:cs typeface="Calibri" pitchFamily="34" charset="-120"/>
              </a:rPr>
              <a:t>Any CRITICAL match → email BLOCKED. HIGH match → WARNING for analyst review. No violation → CLEARED.</a:t>
            </a:r>
            <a:endParaRPr lang="en-US" sz="1000" dirty="0"/>
          </a:p>
        </p:txBody>
      </p:sp>
      <p:sp>
        <p:nvSpPr>
          <p:cNvPr id="38" name="Shape 36"/>
          <p:cNvSpPr/>
          <p:nvPr/>
        </p:nvSpPr>
        <p:spPr>
          <a:xfrm>
            <a:off x="5669280" y="1572768"/>
            <a:ext cx="3108960" cy="3255264"/>
          </a:xfrm>
          <a:prstGeom prst="rect">
            <a:avLst/>
          </a:prstGeom>
          <a:solidFill>
            <a:srgbClr val="0A1A2E"/>
          </a:solidFill>
          <a:ln w="12700">
            <a:solidFill>
              <a:srgbClr val="112B47"/>
            </a:solidFill>
            <a:prstDash val="solid"/>
          </a:ln>
          <a:effectLst>
            <a:outerShdw blurRad="127000" dist="50800" dir="8100000" algn="bl" rotWithShape="0">
              <a:srgbClr val="000000">
                <a:alpha val="30000"/>
              </a:srgbClr>
            </a:outerShdw>
          </a:effectLst>
        </p:spPr>
      </p:sp>
      <p:sp>
        <p:nvSpPr>
          <p:cNvPr id="39" name="Text 37"/>
          <p:cNvSpPr/>
          <p:nvPr/>
        </p:nvSpPr>
        <p:spPr>
          <a:xfrm>
            <a:off x="5815584" y="1664208"/>
            <a:ext cx="2816352" cy="201168"/>
          </a:xfrm>
          <a:prstGeom prst="rect">
            <a:avLst/>
          </a:prstGeom>
          <a:noFill/>
          <a:ln/>
        </p:spPr>
        <p:txBody>
          <a:bodyPr wrap="square" lIns="0" tIns="0" rIns="0" bIns="0" rtlCol="0" anchor="ctr"/>
          <a:lstStyle/>
          <a:p>
            <a:pPr marL="0" indent="0">
              <a:buNone/>
            </a:pPr>
            <a:r>
              <a:rPr lang="en-US" sz="800" b="1" kern="0" spc="200" dirty="0">
                <a:solidFill>
                  <a:srgbClr val="5A8FAA"/>
                </a:solidFill>
                <a:latin typeface="Calibri" pitchFamily="34" charset="0"/>
                <a:ea typeface="Calibri" pitchFamily="34" charset="-122"/>
                <a:cs typeface="Calibri" pitchFamily="34" charset="-120"/>
              </a:rPr>
              <a:t>SCAN OUTPUT EXAMPLES</a:t>
            </a:r>
            <a:endParaRPr lang="en-US" sz="800" dirty="0"/>
          </a:p>
        </p:txBody>
      </p:sp>
      <p:sp>
        <p:nvSpPr>
          <p:cNvPr id="40" name="Shape 38"/>
          <p:cNvSpPr/>
          <p:nvPr/>
        </p:nvSpPr>
        <p:spPr>
          <a:xfrm>
            <a:off x="5742432" y="1920240"/>
            <a:ext cx="2962656" cy="914400"/>
          </a:xfrm>
          <a:prstGeom prst="rect">
            <a:avLst/>
          </a:prstGeom>
          <a:solidFill>
            <a:srgbClr val="080F1C"/>
          </a:solidFill>
          <a:ln w="12700">
            <a:solidFill>
              <a:srgbClr val="112B47"/>
            </a:solidFill>
            <a:prstDash val="solid"/>
          </a:ln>
        </p:spPr>
      </p:sp>
      <p:sp>
        <p:nvSpPr>
          <p:cNvPr id="41" name="Text 39"/>
          <p:cNvSpPr/>
          <p:nvPr/>
        </p:nvSpPr>
        <p:spPr>
          <a:xfrm>
            <a:off x="5833872" y="1975104"/>
            <a:ext cx="2779776" cy="182880"/>
          </a:xfrm>
          <a:prstGeom prst="rect">
            <a:avLst/>
          </a:prstGeom>
          <a:noFill/>
          <a:ln/>
        </p:spPr>
        <p:txBody>
          <a:bodyPr wrap="square" lIns="0" tIns="0" rIns="0" bIns="0" rtlCol="0" anchor="ctr"/>
          <a:lstStyle/>
          <a:p>
            <a:pPr marL="0" indent="0">
              <a:buNone/>
            </a:pPr>
            <a:r>
              <a:rPr lang="en-US" sz="950" b="1" dirty="0">
                <a:solidFill>
                  <a:srgbClr val="D0E4F5"/>
                </a:solidFill>
                <a:latin typeface="Calibri" pitchFamily="34" charset="0"/>
                <a:ea typeface="Calibri" pitchFamily="34" charset="-122"/>
                <a:cs typeface="Calibri" pitchFamily="34" charset="-120"/>
              </a:rPr>
              <a:t>pan_aadhaar_leak.eml</a:t>
            </a:r>
            <a:endParaRPr lang="en-US" sz="950" dirty="0"/>
          </a:p>
        </p:txBody>
      </p:sp>
      <p:sp>
        <p:nvSpPr>
          <p:cNvPr id="42" name="Text 40"/>
          <p:cNvSpPr/>
          <p:nvPr/>
        </p:nvSpPr>
        <p:spPr>
          <a:xfrm>
            <a:off x="5833872" y="2194560"/>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4× PAN: ABCDE1234F</a:t>
            </a:r>
            <a:endParaRPr lang="en-US" sz="900" dirty="0"/>
          </a:p>
        </p:txBody>
      </p:sp>
      <p:sp>
        <p:nvSpPr>
          <p:cNvPr id="43" name="Text 41"/>
          <p:cNvSpPr/>
          <p:nvPr/>
        </p:nvSpPr>
        <p:spPr>
          <a:xfrm>
            <a:off x="5833872" y="2395728"/>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4× Aadhaar: 2345 6789 0123</a:t>
            </a:r>
            <a:endParaRPr lang="en-US" sz="900" dirty="0"/>
          </a:p>
        </p:txBody>
      </p:sp>
      <p:sp>
        <p:nvSpPr>
          <p:cNvPr id="44" name="Shape 42"/>
          <p:cNvSpPr/>
          <p:nvPr/>
        </p:nvSpPr>
        <p:spPr>
          <a:xfrm>
            <a:off x="8083296" y="2231136"/>
            <a:ext cx="548640" cy="329184"/>
          </a:xfrm>
          <a:prstGeom prst="rect">
            <a:avLst/>
          </a:prstGeom>
          <a:solidFill>
            <a:srgbClr val="E63946"/>
          </a:solidFill>
          <a:ln w="12700">
            <a:solidFill>
              <a:srgbClr val="E63946"/>
            </a:solidFill>
            <a:prstDash val="solid"/>
          </a:ln>
        </p:spPr>
      </p:sp>
      <p:sp>
        <p:nvSpPr>
          <p:cNvPr id="45" name="Text 43"/>
          <p:cNvSpPr/>
          <p:nvPr/>
        </p:nvSpPr>
        <p:spPr>
          <a:xfrm>
            <a:off x="8083296" y="2231136"/>
            <a:ext cx="548640"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BLOCKED</a:t>
            </a:r>
            <a:endParaRPr lang="en-US" sz="750" dirty="0"/>
          </a:p>
        </p:txBody>
      </p:sp>
      <p:sp>
        <p:nvSpPr>
          <p:cNvPr id="46" name="Shape 44"/>
          <p:cNvSpPr/>
          <p:nvPr/>
        </p:nvSpPr>
        <p:spPr>
          <a:xfrm>
            <a:off x="5742432" y="2926080"/>
            <a:ext cx="2962656" cy="914400"/>
          </a:xfrm>
          <a:prstGeom prst="rect">
            <a:avLst/>
          </a:prstGeom>
          <a:solidFill>
            <a:srgbClr val="0A1A2E"/>
          </a:solidFill>
          <a:ln w="12700">
            <a:solidFill>
              <a:srgbClr val="112B47"/>
            </a:solidFill>
            <a:prstDash val="solid"/>
          </a:ln>
        </p:spPr>
      </p:sp>
      <p:sp>
        <p:nvSpPr>
          <p:cNvPr id="47" name="Text 45"/>
          <p:cNvSpPr/>
          <p:nvPr/>
        </p:nvSpPr>
        <p:spPr>
          <a:xfrm>
            <a:off x="5833872" y="2980944"/>
            <a:ext cx="2779776" cy="182880"/>
          </a:xfrm>
          <a:prstGeom prst="rect">
            <a:avLst/>
          </a:prstGeom>
          <a:noFill/>
          <a:ln/>
        </p:spPr>
        <p:txBody>
          <a:bodyPr wrap="square" lIns="0" tIns="0" rIns="0" bIns="0" rtlCol="0" anchor="ctr"/>
          <a:lstStyle/>
          <a:p>
            <a:pPr marL="0" indent="0">
              <a:buNone/>
            </a:pPr>
            <a:r>
              <a:rPr lang="en-US" sz="950" b="1" dirty="0">
                <a:solidFill>
                  <a:srgbClr val="D0E4F5"/>
                </a:solidFill>
                <a:latin typeface="Calibri" pitchFamily="34" charset="0"/>
                <a:ea typeface="Calibri" pitchFamily="34" charset="-122"/>
                <a:cs typeface="Calibri" pitchFamily="34" charset="-120"/>
              </a:rPr>
              <a:t>credit_card_leak.eml</a:t>
            </a:r>
            <a:endParaRPr lang="en-US" sz="950" dirty="0"/>
          </a:p>
        </p:txBody>
      </p:sp>
      <p:sp>
        <p:nvSpPr>
          <p:cNvPr id="48" name="Text 46"/>
          <p:cNvSpPr/>
          <p:nvPr/>
        </p:nvSpPr>
        <p:spPr>
          <a:xfrm>
            <a:off x="5833872" y="3200400"/>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3× Card (Luhn valid)</a:t>
            </a:r>
            <a:endParaRPr lang="en-US" sz="900" dirty="0"/>
          </a:p>
        </p:txBody>
      </p:sp>
      <p:sp>
        <p:nvSpPr>
          <p:cNvPr id="49" name="Text 47"/>
          <p:cNvSpPr/>
          <p:nvPr/>
        </p:nvSpPr>
        <p:spPr>
          <a:xfrm>
            <a:off x="5833872" y="3401568"/>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1× password=MyPass123</a:t>
            </a:r>
            <a:endParaRPr lang="en-US" sz="900" dirty="0"/>
          </a:p>
        </p:txBody>
      </p:sp>
      <p:sp>
        <p:nvSpPr>
          <p:cNvPr id="50" name="Shape 48"/>
          <p:cNvSpPr/>
          <p:nvPr/>
        </p:nvSpPr>
        <p:spPr>
          <a:xfrm>
            <a:off x="8083296" y="3236976"/>
            <a:ext cx="548640" cy="329184"/>
          </a:xfrm>
          <a:prstGeom prst="rect">
            <a:avLst/>
          </a:prstGeom>
          <a:solidFill>
            <a:srgbClr val="E63946"/>
          </a:solidFill>
          <a:ln w="12700">
            <a:solidFill>
              <a:srgbClr val="E63946"/>
            </a:solidFill>
            <a:prstDash val="solid"/>
          </a:ln>
        </p:spPr>
      </p:sp>
      <p:sp>
        <p:nvSpPr>
          <p:cNvPr id="51" name="Text 49"/>
          <p:cNvSpPr/>
          <p:nvPr/>
        </p:nvSpPr>
        <p:spPr>
          <a:xfrm>
            <a:off x="8083296" y="3236976"/>
            <a:ext cx="548640"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BLOCKED</a:t>
            </a:r>
            <a:endParaRPr lang="en-US" sz="750" dirty="0"/>
          </a:p>
        </p:txBody>
      </p:sp>
      <p:sp>
        <p:nvSpPr>
          <p:cNvPr id="52" name="Shape 50"/>
          <p:cNvSpPr/>
          <p:nvPr/>
        </p:nvSpPr>
        <p:spPr>
          <a:xfrm>
            <a:off x="5742432" y="3931920"/>
            <a:ext cx="2962656" cy="914400"/>
          </a:xfrm>
          <a:prstGeom prst="rect">
            <a:avLst/>
          </a:prstGeom>
          <a:solidFill>
            <a:srgbClr val="080F1C"/>
          </a:solidFill>
          <a:ln w="12700">
            <a:solidFill>
              <a:srgbClr val="112B47"/>
            </a:solidFill>
            <a:prstDash val="solid"/>
          </a:ln>
        </p:spPr>
      </p:sp>
      <p:sp>
        <p:nvSpPr>
          <p:cNvPr id="53" name="Text 51"/>
          <p:cNvSpPr/>
          <p:nvPr/>
        </p:nvSpPr>
        <p:spPr>
          <a:xfrm>
            <a:off x="5833872" y="3986784"/>
            <a:ext cx="2779776" cy="182880"/>
          </a:xfrm>
          <a:prstGeom prst="rect">
            <a:avLst/>
          </a:prstGeom>
          <a:noFill/>
          <a:ln/>
        </p:spPr>
        <p:txBody>
          <a:bodyPr wrap="square" lIns="0" tIns="0" rIns="0" bIns="0" rtlCol="0" anchor="ctr"/>
          <a:lstStyle/>
          <a:p>
            <a:pPr marL="0" indent="0">
              <a:buNone/>
            </a:pPr>
            <a:r>
              <a:rPr lang="en-US" sz="950" b="1" dirty="0">
                <a:solidFill>
                  <a:srgbClr val="D0E4F5"/>
                </a:solidFill>
                <a:latin typeface="Calibri" pitchFamily="34" charset="0"/>
                <a:ea typeface="Calibri" pitchFamily="34" charset="-122"/>
                <a:cs typeface="Calibri" pitchFamily="34" charset="-120"/>
              </a:rPr>
              <a:t>safe_meeting.eml</a:t>
            </a:r>
            <a:endParaRPr lang="en-US" sz="950" dirty="0"/>
          </a:p>
        </p:txBody>
      </p:sp>
      <p:sp>
        <p:nvSpPr>
          <p:cNvPr id="54" name="Text 52"/>
          <p:cNvSpPr/>
          <p:nvPr/>
        </p:nvSpPr>
        <p:spPr>
          <a:xfrm>
            <a:off x="5833872" y="4206240"/>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No patterns matched</a:t>
            </a:r>
            <a:endParaRPr lang="en-US" sz="900" dirty="0"/>
          </a:p>
        </p:txBody>
      </p:sp>
      <p:sp>
        <p:nvSpPr>
          <p:cNvPr id="55" name="Text 53"/>
          <p:cNvSpPr/>
          <p:nvPr/>
        </p:nvSpPr>
        <p:spPr>
          <a:xfrm>
            <a:off x="5833872" y="4407408"/>
            <a:ext cx="2231136" cy="182880"/>
          </a:xfrm>
          <a:prstGeom prst="rect">
            <a:avLst/>
          </a:prstGeom>
          <a:noFill/>
          <a:ln/>
        </p:spPr>
        <p:txBody>
          <a:bodyPr wrap="square" lIns="0" tIns="0" rIns="0" bIns="0" rtlCol="0" anchor="ctr"/>
          <a:lstStyle/>
          <a:p>
            <a:pPr marL="0" indent="0">
              <a:buNone/>
            </a:pPr>
            <a:r>
              <a:rPr lang="en-US" sz="900" dirty="0">
                <a:solidFill>
                  <a:srgbClr val="5A8FAA"/>
                </a:solidFill>
                <a:latin typeface="Calibri" pitchFamily="34" charset="0"/>
                <a:ea typeface="Calibri" pitchFamily="34" charset="-122"/>
                <a:cs typeface="Calibri" pitchFamily="34" charset="-120"/>
              </a:rPr>
              <a:t>→ No sensitive filenames</a:t>
            </a:r>
            <a:endParaRPr lang="en-US" sz="900" dirty="0"/>
          </a:p>
        </p:txBody>
      </p:sp>
      <p:sp>
        <p:nvSpPr>
          <p:cNvPr id="56" name="Shape 54"/>
          <p:cNvSpPr/>
          <p:nvPr/>
        </p:nvSpPr>
        <p:spPr>
          <a:xfrm>
            <a:off x="8083296" y="4242816"/>
            <a:ext cx="548640" cy="329184"/>
          </a:xfrm>
          <a:prstGeom prst="rect">
            <a:avLst/>
          </a:prstGeom>
          <a:solidFill>
            <a:srgbClr val="2DC653"/>
          </a:solidFill>
          <a:ln w="12700">
            <a:solidFill>
              <a:srgbClr val="2DC653"/>
            </a:solidFill>
            <a:prstDash val="solid"/>
          </a:ln>
        </p:spPr>
      </p:sp>
      <p:sp>
        <p:nvSpPr>
          <p:cNvPr id="57" name="Text 55"/>
          <p:cNvSpPr/>
          <p:nvPr/>
        </p:nvSpPr>
        <p:spPr>
          <a:xfrm>
            <a:off x="8083296" y="4242816"/>
            <a:ext cx="548640"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CLEARED</a:t>
            </a:r>
            <a:endParaRPr lang="en-US" sz="750" dirty="0"/>
          </a:p>
        </p:txBody>
      </p:sp>
      <p:sp>
        <p:nvSpPr>
          <p:cNvPr id="58" name="Text 56"/>
          <p:cNvSpPr/>
          <p:nvPr/>
        </p:nvSpPr>
        <p:spPr>
          <a:xfrm>
            <a:off x="365760" y="4919472"/>
            <a:ext cx="8412480" cy="182880"/>
          </a:xfrm>
          <a:prstGeom prst="rect">
            <a:avLst/>
          </a:prstGeom>
          <a:noFill/>
          <a:ln/>
        </p:spPr>
        <p:txBody>
          <a:bodyPr wrap="square" lIns="0" tIns="0" rIns="0" bIns="0" rtlCol="0" anchor="ctr"/>
          <a:lstStyle/>
          <a:p>
            <a:pPr marL="0" indent="0">
              <a:buNone/>
            </a:pPr>
            <a:r>
              <a:rPr lang="en-US" sz="950" i="1" dirty="0">
                <a:solidFill>
                  <a:srgbClr val="5A8FAA"/>
                </a:solidFill>
                <a:latin typeface="Calibri" pitchFamily="34" charset="0"/>
                <a:ea typeface="Calibri" pitchFamily="34" charset="-122"/>
                <a:cs typeface="Calibri" pitchFamily="34" charset="-120"/>
              </a:rPr>
              <a:t>Implementation: Python re module only. Zero external libraries required.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08 · DLP ARCHITECTURE</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Data Classification &amp; Containment Model</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Text 6"/>
          <p:cNvSpPr/>
          <p:nvPr/>
        </p:nvSpPr>
        <p:spPr>
          <a:xfrm>
            <a:off x="365760" y="1243584"/>
            <a:ext cx="8412480" cy="256032"/>
          </a:xfrm>
          <a:prstGeom prst="rect">
            <a:avLst/>
          </a:prstGeom>
          <a:noFill/>
          <a:ln/>
        </p:spPr>
        <p:txBody>
          <a:bodyPr wrap="square" lIns="0" tIns="0" rIns="0" bIns="0" rtlCol="0" anchor="ctr"/>
          <a:lstStyle/>
          <a:p>
            <a:pPr marL="0" indent="0">
              <a:buNone/>
            </a:pPr>
            <a:r>
              <a:rPr lang="en-US" sz="1200" dirty="0">
                <a:solidFill>
                  <a:srgbClr val="5A8FAA"/>
                </a:solidFill>
                <a:latin typeface="Calibri" pitchFamily="34" charset="0"/>
                <a:ea typeface="Calibri" pitchFamily="34" charset="-122"/>
                <a:cs typeface="Calibri" pitchFamily="34" charset="-120"/>
              </a:rPr>
              <a:t>A two-tier severity model mirrors real-world data classification frameworks (ISO 27001 · DPDP Act 2023 · PCI-DSS).</a:t>
            </a:r>
            <a:endParaRPr lang="en-US" sz="1200" dirty="0"/>
          </a:p>
        </p:txBody>
      </p:sp>
      <p:sp>
        <p:nvSpPr>
          <p:cNvPr id="9" name="Shape 7"/>
          <p:cNvSpPr/>
          <p:nvPr/>
        </p:nvSpPr>
        <p:spPr>
          <a:xfrm>
            <a:off x="365760" y="1591056"/>
            <a:ext cx="8412480" cy="1444752"/>
          </a:xfrm>
          <a:prstGeom prst="rect">
            <a:avLst/>
          </a:prstGeom>
          <a:solidFill>
            <a:srgbClr val="0A1A2E"/>
          </a:solidFill>
          <a:ln w="12700">
            <a:solidFill>
              <a:srgbClr val="E63946"/>
            </a:solidFill>
            <a:prstDash val="solid"/>
          </a:ln>
          <a:effectLst>
            <a:outerShdw blurRad="127000" dist="50800" dir="8100000" algn="bl" rotWithShape="0">
              <a:srgbClr val="000000">
                <a:alpha val="30000"/>
              </a:srgbClr>
            </a:outerShdw>
          </a:effectLst>
        </p:spPr>
      </p:sp>
      <p:sp>
        <p:nvSpPr>
          <p:cNvPr id="10" name="Shape 8"/>
          <p:cNvSpPr/>
          <p:nvPr/>
        </p:nvSpPr>
        <p:spPr>
          <a:xfrm>
            <a:off x="365760" y="1591056"/>
            <a:ext cx="1280160" cy="1444752"/>
          </a:xfrm>
          <a:prstGeom prst="rect">
            <a:avLst/>
          </a:prstGeom>
          <a:solidFill>
            <a:srgbClr val="E63946"/>
          </a:solidFill>
          <a:ln w="12700">
            <a:solidFill>
              <a:srgbClr val="E63946"/>
            </a:solidFill>
            <a:prstDash val="solid"/>
          </a:ln>
        </p:spPr>
      </p:sp>
      <p:sp>
        <p:nvSpPr>
          <p:cNvPr id="11" name="Text 9"/>
          <p:cNvSpPr/>
          <p:nvPr/>
        </p:nvSpPr>
        <p:spPr>
          <a:xfrm>
            <a:off x="365760" y="1591056"/>
            <a:ext cx="1280160" cy="14447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BLOCKED</a:t>
            </a:r>
            <a:endParaRPr lang="en-US" sz="1200" dirty="0"/>
          </a:p>
        </p:txBody>
      </p:sp>
      <p:sp>
        <p:nvSpPr>
          <p:cNvPr id="12" name="Text 10"/>
          <p:cNvSpPr/>
          <p:nvPr/>
        </p:nvSpPr>
        <p:spPr>
          <a:xfrm>
            <a:off x="1783080" y="1682496"/>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PAN Card</a:t>
            </a:r>
            <a:endParaRPr lang="en-US" sz="1100" dirty="0"/>
          </a:p>
        </p:txBody>
      </p:sp>
      <p:sp>
        <p:nvSpPr>
          <p:cNvPr id="13" name="Text 11"/>
          <p:cNvSpPr/>
          <p:nvPr/>
        </p:nvSpPr>
        <p:spPr>
          <a:xfrm>
            <a:off x="3474720" y="1682496"/>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[A-Z]{5}[0-9]{4}[A-Z]</a:t>
            </a:r>
            <a:endParaRPr lang="en-US" sz="950" dirty="0"/>
          </a:p>
        </p:txBody>
      </p:sp>
      <p:sp>
        <p:nvSpPr>
          <p:cNvPr id="14" name="Text 12"/>
          <p:cNvSpPr/>
          <p:nvPr/>
        </p:nvSpPr>
        <p:spPr>
          <a:xfrm>
            <a:off x="6172200" y="1682496"/>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Income Tax Act · ITR filing</a:t>
            </a:r>
            <a:endParaRPr lang="en-US" sz="950" dirty="0"/>
          </a:p>
        </p:txBody>
      </p:sp>
      <p:sp>
        <p:nvSpPr>
          <p:cNvPr id="15" name="Text 13"/>
          <p:cNvSpPr/>
          <p:nvPr/>
        </p:nvSpPr>
        <p:spPr>
          <a:xfrm>
            <a:off x="1783080" y="2002536"/>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Aadhaar Number</a:t>
            </a:r>
            <a:endParaRPr lang="en-US" sz="1100" dirty="0"/>
          </a:p>
        </p:txBody>
      </p:sp>
      <p:sp>
        <p:nvSpPr>
          <p:cNvPr id="16" name="Text 14"/>
          <p:cNvSpPr/>
          <p:nvPr/>
        </p:nvSpPr>
        <p:spPr>
          <a:xfrm>
            <a:off x="3474720" y="2002536"/>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[2-9]\d{3}[\s]?\d{4}[\s]?\d{4}</a:t>
            </a:r>
            <a:endParaRPr lang="en-US" sz="950" dirty="0"/>
          </a:p>
        </p:txBody>
      </p:sp>
      <p:sp>
        <p:nvSpPr>
          <p:cNvPr id="17" name="Text 15"/>
          <p:cNvSpPr/>
          <p:nvPr/>
        </p:nvSpPr>
        <p:spPr>
          <a:xfrm>
            <a:off x="6172200" y="2002536"/>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UIDAI Act · DPDP Act 2023</a:t>
            </a:r>
            <a:endParaRPr lang="en-US" sz="950" dirty="0"/>
          </a:p>
        </p:txBody>
      </p:sp>
      <p:sp>
        <p:nvSpPr>
          <p:cNvPr id="18" name="Text 16"/>
          <p:cNvSpPr/>
          <p:nvPr/>
        </p:nvSpPr>
        <p:spPr>
          <a:xfrm>
            <a:off x="1783080" y="2322576"/>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Credit/Debit Card</a:t>
            </a:r>
            <a:endParaRPr lang="en-US" sz="1100" dirty="0"/>
          </a:p>
        </p:txBody>
      </p:sp>
      <p:sp>
        <p:nvSpPr>
          <p:cNvPr id="19" name="Text 17"/>
          <p:cNvSpPr/>
          <p:nvPr/>
        </p:nvSpPr>
        <p:spPr>
          <a:xfrm>
            <a:off x="3474720" y="2322576"/>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13–19 digits + Luhn check</a:t>
            </a:r>
            <a:endParaRPr lang="en-US" sz="950" dirty="0"/>
          </a:p>
        </p:txBody>
      </p:sp>
      <p:sp>
        <p:nvSpPr>
          <p:cNvPr id="20" name="Text 18"/>
          <p:cNvSpPr/>
          <p:nvPr/>
        </p:nvSpPr>
        <p:spPr>
          <a:xfrm>
            <a:off x="6172200" y="2322576"/>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PCI-DSS Level 1</a:t>
            </a:r>
            <a:endParaRPr lang="en-US" sz="950" dirty="0"/>
          </a:p>
        </p:txBody>
      </p:sp>
      <p:sp>
        <p:nvSpPr>
          <p:cNvPr id="21" name="Text 19"/>
          <p:cNvSpPr/>
          <p:nvPr/>
        </p:nvSpPr>
        <p:spPr>
          <a:xfrm>
            <a:off x="1783080" y="2642616"/>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Password / Secret</a:t>
            </a:r>
            <a:endParaRPr lang="en-US" sz="1100" dirty="0"/>
          </a:p>
        </p:txBody>
      </p:sp>
      <p:sp>
        <p:nvSpPr>
          <p:cNvPr id="22" name="Text 20"/>
          <p:cNvSpPr/>
          <p:nvPr/>
        </p:nvSpPr>
        <p:spPr>
          <a:xfrm>
            <a:off x="3474720" y="2642616"/>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(password|api_key)=\S{6,}</a:t>
            </a:r>
            <a:endParaRPr lang="en-US" sz="950" dirty="0"/>
          </a:p>
        </p:txBody>
      </p:sp>
      <p:sp>
        <p:nvSpPr>
          <p:cNvPr id="23" name="Text 21"/>
          <p:cNvSpPr/>
          <p:nvPr/>
        </p:nvSpPr>
        <p:spPr>
          <a:xfrm>
            <a:off x="6172200" y="2642616"/>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OWASP · ISO 27001</a:t>
            </a:r>
            <a:endParaRPr lang="en-US" sz="950" dirty="0"/>
          </a:p>
        </p:txBody>
      </p:sp>
      <p:sp>
        <p:nvSpPr>
          <p:cNvPr id="24" name="Text 22"/>
          <p:cNvSpPr/>
          <p:nvPr/>
        </p:nvSpPr>
        <p:spPr>
          <a:xfrm>
            <a:off x="1783080" y="1609344"/>
            <a:ext cx="1645920" cy="182880"/>
          </a:xfrm>
          <a:prstGeom prst="rect">
            <a:avLst/>
          </a:prstGeom>
          <a:noFill/>
          <a:ln/>
        </p:spPr>
        <p:txBody>
          <a:bodyPr wrap="square" lIns="0" tIns="0" rIns="0" bIns="0" rtlCol="0" anchor="ctr"/>
          <a:lstStyle/>
          <a:p>
            <a:pPr marL="0" indent="0">
              <a:buNone/>
            </a:pPr>
            <a:r>
              <a:rPr lang="en-US" sz="750" b="1" kern="0" spc="200" dirty="0">
                <a:solidFill>
                  <a:srgbClr val="E63946"/>
                </a:solidFill>
                <a:latin typeface="Calibri" pitchFamily="34" charset="0"/>
                <a:ea typeface="Calibri" pitchFamily="34" charset="-122"/>
                <a:cs typeface="Calibri" pitchFamily="34" charset="-120"/>
              </a:rPr>
              <a:t>Data Type</a:t>
            </a:r>
            <a:endParaRPr lang="en-US" sz="750" dirty="0"/>
          </a:p>
        </p:txBody>
      </p:sp>
      <p:sp>
        <p:nvSpPr>
          <p:cNvPr id="25" name="Text 23"/>
          <p:cNvSpPr/>
          <p:nvPr/>
        </p:nvSpPr>
        <p:spPr>
          <a:xfrm>
            <a:off x="3474720" y="1609344"/>
            <a:ext cx="2651760" cy="182880"/>
          </a:xfrm>
          <a:prstGeom prst="rect">
            <a:avLst/>
          </a:prstGeom>
          <a:noFill/>
          <a:ln/>
        </p:spPr>
        <p:txBody>
          <a:bodyPr wrap="square" lIns="0" tIns="0" rIns="0" bIns="0" rtlCol="0" anchor="ctr"/>
          <a:lstStyle/>
          <a:p>
            <a:pPr marL="0" indent="0">
              <a:buNone/>
            </a:pPr>
            <a:r>
              <a:rPr lang="en-US" sz="750" b="1" kern="0" spc="200" dirty="0">
                <a:solidFill>
                  <a:srgbClr val="E63946"/>
                </a:solidFill>
                <a:latin typeface="Calibri" pitchFamily="34" charset="0"/>
                <a:ea typeface="Calibri" pitchFamily="34" charset="-122"/>
                <a:cs typeface="Calibri" pitchFamily="34" charset="-120"/>
              </a:rPr>
              <a:t>Pattern / Method</a:t>
            </a:r>
            <a:endParaRPr lang="en-US" sz="750" dirty="0"/>
          </a:p>
        </p:txBody>
      </p:sp>
      <p:sp>
        <p:nvSpPr>
          <p:cNvPr id="26" name="Text 24"/>
          <p:cNvSpPr/>
          <p:nvPr/>
        </p:nvSpPr>
        <p:spPr>
          <a:xfrm>
            <a:off x="6172200" y="1609344"/>
            <a:ext cx="2468880" cy="182880"/>
          </a:xfrm>
          <a:prstGeom prst="rect">
            <a:avLst/>
          </a:prstGeom>
          <a:noFill/>
          <a:ln/>
        </p:spPr>
        <p:txBody>
          <a:bodyPr wrap="square" lIns="0" tIns="0" rIns="0" bIns="0" rtlCol="0" anchor="ctr"/>
          <a:lstStyle/>
          <a:p>
            <a:pPr marL="0" indent="0">
              <a:buNone/>
            </a:pPr>
            <a:r>
              <a:rPr lang="en-US" sz="750" b="1" kern="0" spc="200" dirty="0">
                <a:solidFill>
                  <a:srgbClr val="E63946"/>
                </a:solidFill>
                <a:latin typeface="Calibri" pitchFamily="34" charset="0"/>
                <a:ea typeface="Calibri" pitchFamily="34" charset="-122"/>
                <a:cs typeface="Calibri" pitchFamily="34" charset="-120"/>
              </a:rPr>
              <a:t>Regulatory Framework</a:t>
            </a:r>
            <a:endParaRPr lang="en-US" sz="750" dirty="0"/>
          </a:p>
        </p:txBody>
      </p:sp>
      <p:sp>
        <p:nvSpPr>
          <p:cNvPr id="27" name="Shape 25"/>
          <p:cNvSpPr/>
          <p:nvPr/>
        </p:nvSpPr>
        <p:spPr>
          <a:xfrm>
            <a:off x="365760" y="3145536"/>
            <a:ext cx="8412480" cy="1261872"/>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28" name="Shape 26"/>
          <p:cNvSpPr/>
          <p:nvPr/>
        </p:nvSpPr>
        <p:spPr>
          <a:xfrm>
            <a:off x="365760" y="3145536"/>
            <a:ext cx="1280160" cy="1261872"/>
          </a:xfrm>
          <a:prstGeom prst="rect">
            <a:avLst/>
          </a:prstGeom>
          <a:solidFill>
            <a:srgbClr val="F4A261"/>
          </a:solidFill>
          <a:ln w="12700">
            <a:solidFill>
              <a:srgbClr val="F4A261"/>
            </a:solidFill>
            <a:prstDash val="solid"/>
          </a:ln>
        </p:spPr>
      </p:sp>
      <p:sp>
        <p:nvSpPr>
          <p:cNvPr id="29" name="Text 27"/>
          <p:cNvSpPr/>
          <p:nvPr/>
        </p:nvSpPr>
        <p:spPr>
          <a:xfrm>
            <a:off x="365760" y="3145536"/>
            <a:ext cx="1280160" cy="1261872"/>
          </a:xfrm>
          <a:prstGeom prst="rect">
            <a:avLst/>
          </a:prstGeom>
          <a:noFill/>
          <a:ln/>
        </p:spPr>
        <p:txBody>
          <a:bodyPr wrap="square" rtlCol="0" anchor="ctr"/>
          <a:lstStyle/>
          <a:p>
            <a:pPr marL="0" indent="0" algn="ctr">
              <a:buNone/>
            </a:pPr>
            <a:r>
              <a:rPr lang="en-US" sz="1200" b="1" dirty="0">
                <a:solidFill>
                  <a:srgbClr val="060F1E"/>
                </a:solidFill>
                <a:latin typeface="Calibri" pitchFamily="34" charset="0"/>
                <a:ea typeface="Calibri" pitchFamily="34" charset="-122"/>
                <a:cs typeface="Calibri" pitchFamily="34" charset="-120"/>
              </a:rPr>
              <a:t>HIGH</a:t>
            </a:r>
            <a:endParaRPr lang="en-US" sz="1200" dirty="0"/>
          </a:p>
          <a:p>
            <a:pPr marL="0" indent="0" algn="ctr">
              <a:buNone/>
            </a:pPr>
            <a:r>
              <a:rPr lang="en-US" sz="1200" b="1" dirty="0">
                <a:solidFill>
                  <a:srgbClr val="060F1E"/>
                </a:solidFill>
                <a:latin typeface="Calibri" pitchFamily="34" charset="0"/>
                <a:ea typeface="Calibri" pitchFamily="34" charset="-122"/>
                <a:cs typeface="Calibri" pitchFamily="34" charset="-120"/>
              </a:rPr>
              <a:t>WARNING</a:t>
            </a:r>
            <a:endParaRPr lang="en-US" sz="1200" dirty="0"/>
          </a:p>
        </p:txBody>
      </p:sp>
      <p:sp>
        <p:nvSpPr>
          <p:cNvPr id="30" name="Text 28"/>
          <p:cNvSpPr/>
          <p:nvPr/>
        </p:nvSpPr>
        <p:spPr>
          <a:xfrm>
            <a:off x="1783080" y="3273552"/>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IFSC Code</a:t>
            </a:r>
            <a:endParaRPr lang="en-US" sz="1100" dirty="0"/>
          </a:p>
        </p:txBody>
      </p:sp>
      <p:sp>
        <p:nvSpPr>
          <p:cNvPr id="31" name="Text 29"/>
          <p:cNvSpPr/>
          <p:nvPr/>
        </p:nvSpPr>
        <p:spPr>
          <a:xfrm>
            <a:off x="3474720" y="3273552"/>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[A-Z]{4}0[A-Z0-9]{6}</a:t>
            </a:r>
            <a:endParaRPr lang="en-US" sz="950" dirty="0"/>
          </a:p>
        </p:txBody>
      </p:sp>
      <p:sp>
        <p:nvSpPr>
          <p:cNvPr id="32" name="Text 30"/>
          <p:cNvSpPr/>
          <p:nvPr/>
        </p:nvSpPr>
        <p:spPr>
          <a:xfrm>
            <a:off x="6172200" y="3273552"/>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RBI · Banking Regulation Act</a:t>
            </a:r>
            <a:endParaRPr lang="en-US" sz="950" dirty="0"/>
          </a:p>
        </p:txBody>
      </p:sp>
      <p:sp>
        <p:nvSpPr>
          <p:cNvPr id="33" name="Text 31"/>
          <p:cNvSpPr/>
          <p:nvPr/>
        </p:nvSpPr>
        <p:spPr>
          <a:xfrm>
            <a:off x="1783080" y="3621024"/>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Sensitive Filename</a:t>
            </a:r>
            <a:endParaRPr lang="en-US" sz="1100" dirty="0"/>
          </a:p>
        </p:txBody>
      </p:sp>
      <p:sp>
        <p:nvSpPr>
          <p:cNvPr id="34" name="Text 32"/>
          <p:cNvSpPr/>
          <p:nvPr/>
        </p:nvSpPr>
        <p:spPr>
          <a:xfrm>
            <a:off x="3474720" y="3621024"/>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HR_Data / Payroll / PII</a:t>
            </a:r>
            <a:endParaRPr lang="en-US" sz="950" dirty="0"/>
          </a:p>
        </p:txBody>
      </p:sp>
      <p:sp>
        <p:nvSpPr>
          <p:cNvPr id="35" name="Text 33"/>
          <p:cNvSpPr/>
          <p:nvPr/>
        </p:nvSpPr>
        <p:spPr>
          <a:xfrm>
            <a:off x="6172200" y="3621024"/>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IT Act 2000 · DPDP 2023</a:t>
            </a:r>
            <a:endParaRPr lang="en-US" sz="950" dirty="0"/>
          </a:p>
        </p:txBody>
      </p:sp>
      <p:sp>
        <p:nvSpPr>
          <p:cNvPr id="36" name="Text 34"/>
          <p:cNvSpPr/>
          <p:nvPr/>
        </p:nvSpPr>
        <p:spPr>
          <a:xfrm>
            <a:off x="1783080" y="3968496"/>
            <a:ext cx="1645920" cy="274320"/>
          </a:xfrm>
          <a:prstGeom prst="rect">
            <a:avLst/>
          </a:prstGeom>
          <a:noFill/>
          <a:ln/>
        </p:spPr>
        <p:txBody>
          <a:bodyPr wrap="square" lIns="0" tIns="0" rIns="0" bIns="0" rtlCol="0" anchor="ctr"/>
          <a:lstStyle/>
          <a:p>
            <a:pPr marL="0" indent="0">
              <a:buNone/>
            </a:pPr>
            <a:r>
              <a:rPr lang="en-US" sz="1100" b="1" dirty="0">
                <a:solidFill>
                  <a:srgbClr val="D0E4F5"/>
                </a:solidFill>
                <a:latin typeface="Calibri" pitchFamily="34" charset="0"/>
                <a:ea typeface="Calibri" pitchFamily="34" charset="-122"/>
                <a:cs typeface="Calibri" pitchFamily="34" charset="-120"/>
              </a:rPr>
              <a:t>Bulk Data Attachment</a:t>
            </a:r>
            <a:endParaRPr lang="en-US" sz="1100" dirty="0"/>
          </a:p>
        </p:txBody>
      </p:sp>
      <p:sp>
        <p:nvSpPr>
          <p:cNvPr id="37" name="Text 35"/>
          <p:cNvSpPr/>
          <p:nvPr/>
        </p:nvSpPr>
        <p:spPr>
          <a:xfrm>
            <a:off x="3474720" y="3968496"/>
            <a:ext cx="2651760" cy="274320"/>
          </a:xfrm>
          <a:prstGeom prst="rect">
            <a:avLst/>
          </a:prstGeom>
          <a:noFill/>
          <a:ln/>
        </p:spPr>
        <p:txBody>
          <a:bodyPr wrap="square" lIns="0" tIns="0" rIns="0" bIns="0" rtlCol="0" anchor="ctr"/>
          <a:lstStyle/>
          <a:p>
            <a:pPr marL="0" indent="0">
              <a:buNone/>
            </a:pPr>
            <a:r>
              <a:rPr lang="en-US" sz="950" dirty="0">
                <a:solidFill>
                  <a:srgbClr val="A9E34B"/>
                </a:solidFill>
                <a:latin typeface="Consolas" pitchFamily="34" charset="0"/>
                <a:ea typeface="Consolas" pitchFamily="34" charset="-122"/>
                <a:cs typeface="Consolas" pitchFamily="34" charset="-120"/>
              </a:rPr>
              <a:t>CSV/XLSX with &gt;10 data rows</a:t>
            </a:r>
            <a:endParaRPr lang="en-US" sz="950" dirty="0"/>
          </a:p>
        </p:txBody>
      </p:sp>
      <p:sp>
        <p:nvSpPr>
          <p:cNvPr id="38" name="Text 36"/>
          <p:cNvSpPr/>
          <p:nvPr/>
        </p:nvSpPr>
        <p:spPr>
          <a:xfrm>
            <a:off x="6172200" y="3968496"/>
            <a:ext cx="2468880" cy="274320"/>
          </a:xfrm>
          <a:prstGeom prst="rect">
            <a:avLst/>
          </a:prstGeom>
          <a:noFill/>
          <a:ln/>
        </p:spPr>
        <p:txBody>
          <a:bodyPr wrap="square" lIns="0" tIns="0" rIns="0" bIns="0" rtlCol="0" anchor="ctr"/>
          <a:lstStyle/>
          <a:p>
            <a:pPr marL="0" indent="0">
              <a:buNone/>
            </a:pPr>
            <a:r>
              <a:rPr lang="en-US" sz="950" dirty="0">
                <a:solidFill>
                  <a:srgbClr val="5A8FAA"/>
                </a:solidFill>
                <a:latin typeface="Calibri" pitchFamily="34" charset="0"/>
                <a:ea typeface="Calibri" pitchFamily="34" charset="-122"/>
                <a:cs typeface="Calibri" pitchFamily="34" charset="-120"/>
              </a:rPr>
              <a:t>GDPR equivalent · ISO 27001</a:t>
            </a:r>
            <a:endParaRPr lang="en-US" sz="950" dirty="0"/>
          </a:p>
        </p:txBody>
      </p:sp>
      <p:sp>
        <p:nvSpPr>
          <p:cNvPr id="39" name="Text 37"/>
          <p:cNvSpPr/>
          <p:nvPr/>
        </p:nvSpPr>
        <p:spPr>
          <a:xfrm>
            <a:off x="365760" y="4517136"/>
            <a:ext cx="84124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 violations → email automatically BLOCKED.  HIGH violations → WARNING flagged for analyst review.</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09 · CAMPAIGN DETECTION</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r>
              <a:rPr lang="en-GB" sz="2800" dirty="0">
                <a:solidFill>
                  <a:schemeClr val="bg1"/>
                </a:solidFill>
              </a:rPr>
              <a:t>THREAT INTELLIGENCE &amp; PATTERN ANALYSIS</a:t>
            </a:r>
            <a:endParaRPr lang="en-US" sz="2800" dirty="0">
              <a:solidFill>
                <a:schemeClr val="bg1"/>
              </a:solidFill>
            </a:endParaRPr>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36" name="Shape 34"/>
          <p:cNvSpPr/>
          <p:nvPr/>
        </p:nvSpPr>
        <p:spPr>
          <a:xfrm>
            <a:off x="365760" y="4443984"/>
            <a:ext cx="8412480" cy="658368"/>
          </a:xfrm>
          <a:prstGeom prst="rect">
            <a:avLst/>
          </a:prstGeom>
          <a:solidFill>
            <a:srgbClr val="0A1A2E"/>
          </a:solidFill>
          <a:ln w="12700">
            <a:solidFill>
              <a:srgbClr val="112B47"/>
            </a:solidFill>
            <a:prstDash val="solid"/>
          </a:ln>
          <a:effectLst>
            <a:outerShdw blurRad="127000" dist="50800" dir="8100000" algn="bl" rotWithShape="0">
              <a:srgbClr val="000000">
                <a:alpha val="30000"/>
              </a:srgbClr>
            </a:outerShdw>
          </a:effectLst>
        </p:spPr>
      </p:sp>
      <p:sp>
        <p:nvSpPr>
          <p:cNvPr id="40" name="TextBox 39">
            <a:extLst>
              <a:ext uri="{FF2B5EF4-FFF2-40B4-BE49-F238E27FC236}">
                <a16:creationId xmlns:a16="http://schemas.microsoft.com/office/drawing/2014/main" id="{173FB4D9-F27F-F120-639E-F1B602F63691}"/>
              </a:ext>
            </a:extLst>
          </p:cNvPr>
          <p:cNvSpPr txBox="1"/>
          <p:nvPr/>
        </p:nvSpPr>
        <p:spPr>
          <a:xfrm>
            <a:off x="277836" y="1298363"/>
            <a:ext cx="8577775" cy="646331"/>
          </a:xfrm>
          <a:prstGeom prst="rect">
            <a:avLst/>
          </a:prstGeom>
          <a:noFill/>
        </p:spPr>
        <p:txBody>
          <a:bodyPr wrap="square">
            <a:spAutoFit/>
          </a:bodyPr>
          <a:lstStyle/>
          <a:p>
            <a:pPr>
              <a:buNone/>
            </a:pPr>
            <a:r>
              <a:rPr lang="en-GB" sz="1200" b="1" dirty="0">
                <a:solidFill>
                  <a:schemeClr val="bg1"/>
                </a:solidFill>
              </a:rPr>
              <a:t>Detecting Coordinated Phishing Campaigns</a:t>
            </a:r>
            <a:endParaRPr lang="en-GB" sz="1200" dirty="0">
              <a:solidFill>
                <a:schemeClr val="bg1"/>
              </a:solidFill>
            </a:endParaRPr>
          </a:p>
          <a:p>
            <a:pPr>
              <a:buNone/>
            </a:pPr>
            <a:r>
              <a:rPr lang="en-GB" sz="1200" dirty="0">
                <a:solidFill>
                  <a:schemeClr val="bg1"/>
                </a:solidFill>
              </a:rPr>
              <a:t>Beyond </a:t>
            </a:r>
            <a:r>
              <a:rPr lang="en-GB" sz="1200" dirty="0" err="1">
                <a:solidFill>
                  <a:schemeClr val="bg1"/>
                </a:solidFill>
              </a:rPr>
              <a:t>analyzing</a:t>
            </a:r>
            <a:r>
              <a:rPr lang="en-GB" sz="1200" dirty="0">
                <a:solidFill>
                  <a:schemeClr val="bg1"/>
                </a:solidFill>
              </a:rPr>
              <a:t> individual emails, </a:t>
            </a:r>
            <a:r>
              <a:rPr lang="en-GB" sz="1200" dirty="0" err="1">
                <a:solidFill>
                  <a:schemeClr val="bg1"/>
                </a:solidFill>
              </a:rPr>
              <a:t>PhishGuard</a:t>
            </a:r>
            <a:r>
              <a:rPr lang="en-GB" sz="1200" dirty="0">
                <a:solidFill>
                  <a:schemeClr val="bg1"/>
                </a:solidFill>
              </a:rPr>
              <a:t> identifies large-scale phishing campaigns by recognizing recurring patterns across multiple messages.</a:t>
            </a:r>
          </a:p>
        </p:txBody>
      </p:sp>
      <p:sp>
        <p:nvSpPr>
          <p:cNvPr id="42" name="TextBox 41">
            <a:extLst>
              <a:ext uri="{FF2B5EF4-FFF2-40B4-BE49-F238E27FC236}">
                <a16:creationId xmlns:a16="http://schemas.microsoft.com/office/drawing/2014/main" id="{E2ABA30F-C0F9-09B9-41DB-C956C339377C}"/>
              </a:ext>
            </a:extLst>
          </p:cNvPr>
          <p:cNvSpPr txBox="1"/>
          <p:nvPr/>
        </p:nvSpPr>
        <p:spPr>
          <a:xfrm>
            <a:off x="277836" y="1969378"/>
            <a:ext cx="3506373" cy="3108543"/>
          </a:xfrm>
          <a:prstGeom prst="rect">
            <a:avLst/>
          </a:prstGeom>
          <a:noFill/>
        </p:spPr>
        <p:txBody>
          <a:bodyPr wrap="square">
            <a:spAutoFit/>
          </a:bodyPr>
          <a:lstStyle/>
          <a:p>
            <a:pPr>
              <a:buNone/>
            </a:pPr>
            <a:r>
              <a:rPr lang="en-GB" sz="1400" b="1" dirty="0">
                <a:solidFill>
                  <a:schemeClr val="bg1"/>
                </a:solidFill>
              </a:rPr>
              <a:t>1. Repeated Subject Line Analysis</a:t>
            </a:r>
          </a:p>
          <a:p>
            <a:pPr>
              <a:buFont typeface="Arial" panose="020B0604020202020204" pitchFamily="34" charset="0"/>
              <a:buChar char="•"/>
            </a:pPr>
            <a:r>
              <a:rPr lang="en-GB" sz="1400" dirty="0">
                <a:solidFill>
                  <a:schemeClr val="bg1"/>
                </a:solidFill>
              </a:rPr>
              <a:t>Detects identical or similar subject lines across multiple emails. </a:t>
            </a:r>
          </a:p>
          <a:p>
            <a:pPr>
              <a:buFont typeface="Arial" panose="020B0604020202020204" pitchFamily="34" charset="0"/>
              <a:buChar char="•"/>
            </a:pPr>
            <a:r>
              <a:rPr lang="en-GB" sz="1400" dirty="0">
                <a:solidFill>
                  <a:schemeClr val="bg1"/>
                </a:solidFill>
              </a:rPr>
              <a:t>Indicates mass phishing attempts. </a:t>
            </a:r>
          </a:p>
          <a:p>
            <a:pPr>
              <a:buNone/>
            </a:pPr>
            <a:r>
              <a:rPr lang="en-GB" sz="1400" b="1" dirty="0">
                <a:solidFill>
                  <a:schemeClr val="bg1"/>
                </a:solidFill>
              </a:rPr>
              <a:t>Example: </a:t>
            </a:r>
            <a:r>
              <a:rPr lang="en-GB" sz="1400" dirty="0">
                <a:solidFill>
                  <a:schemeClr val="bg1"/>
                </a:solidFill>
                <a:latin typeface="Courier New" panose="02070309020205020404" pitchFamily="49" charset="0"/>
              </a:rPr>
              <a:t>"Action Required: Verify Your Account"</a:t>
            </a:r>
            <a:r>
              <a:rPr lang="en-GB" sz="1400" dirty="0">
                <a:solidFill>
                  <a:schemeClr val="bg1"/>
                </a:solidFill>
              </a:rPr>
              <a:t> appearing multiple times.</a:t>
            </a:r>
          </a:p>
          <a:p>
            <a:pPr>
              <a:buNone/>
            </a:pPr>
            <a:endParaRPr lang="en-GB" sz="1400" dirty="0">
              <a:solidFill>
                <a:schemeClr val="bg1"/>
              </a:solidFill>
            </a:endParaRPr>
          </a:p>
          <a:p>
            <a:r>
              <a:rPr lang="en-GB" sz="1400" b="1" dirty="0">
                <a:solidFill>
                  <a:schemeClr val="bg1"/>
                </a:solidFill>
              </a:rPr>
              <a:t>2. Malicious URL Correlation</a:t>
            </a:r>
          </a:p>
          <a:p>
            <a:r>
              <a:rPr lang="en-GB" sz="1400" dirty="0">
                <a:solidFill>
                  <a:schemeClr val="bg1"/>
                </a:solidFill>
              </a:rPr>
              <a:t>Identifies reused phishing links and attacker-controlled domains. </a:t>
            </a:r>
          </a:p>
          <a:p>
            <a:r>
              <a:rPr lang="en-GB" sz="1400" dirty="0">
                <a:solidFill>
                  <a:schemeClr val="bg1"/>
                </a:solidFill>
              </a:rPr>
              <a:t>Highlights coordinated infrastructure. </a:t>
            </a:r>
          </a:p>
          <a:p>
            <a:r>
              <a:rPr lang="en-GB" sz="1400" b="1" dirty="0" err="1">
                <a:solidFill>
                  <a:schemeClr val="bg1"/>
                </a:solidFill>
              </a:rPr>
              <a:t>Example:</a:t>
            </a:r>
            <a:r>
              <a:rPr lang="en-GB" sz="1400" dirty="0" err="1">
                <a:solidFill>
                  <a:schemeClr val="bg1"/>
                </a:solidFill>
              </a:rPr>
              <a:t>http</a:t>
            </a:r>
            <a:r>
              <a:rPr lang="en-GB" sz="1400" dirty="0">
                <a:solidFill>
                  <a:schemeClr val="bg1"/>
                </a:solidFill>
              </a:rPr>
              <a:t>://secure-login-alert.com reused across several emails.</a:t>
            </a:r>
          </a:p>
          <a:p>
            <a:pPr>
              <a:buNone/>
            </a:pPr>
            <a:endParaRPr lang="en-GB" sz="1400" dirty="0">
              <a:solidFill>
                <a:schemeClr val="bg1"/>
              </a:solidFill>
            </a:endParaRPr>
          </a:p>
        </p:txBody>
      </p:sp>
      <p:sp>
        <p:nvSpPr>
          <p:cNvPr id="44" name="TextBox 43">
            <a:extLst>
              <a:ext uri="{FF2B5EF4-FFF2-40B4-BE49-F238E27FC236}">
                <a16:creationId xmlns:a16="http://schemas.microsoft.com/office/drawing/2014/main" id="{6486D59D-4777-2B22-6FF9-33C958FC8ACC}"/>
              </a:ext>
            </a:extLst>
          </p:cNvPr>
          <p:cNvSpPr txBox="1"/>
          <p:nvPr/>
        </p:nvSpPr>
        <p:spPr>
          <a:xfrm>
            <a:off x="4276577" y="2011595"/>
            <a:ext cx="4579034" cy="1600438"/>
          </a:xfrm>
          <a:prstGeom prst="rect">
            <a:avLst/>
          </a:prstGeom>
          <a:noFill/>
        </p:spPr>
        <p:txBody>
          <a:bodyPr wrap="square">
            <a:spAutoFit/>
          </a:bodyPr>
          <a:lstStyle/>
          <a:p>
            <a:pPr>
              <a:buNone/>
            </a:pPr>
            <a:r>
              <a:rPr lang="en-GB" sz="1400" b="1" dirty="0">
                <a:solidFill>
                  <a:schemeClr val="bg1"/>
                </a:solidFill>
              </a:rPr>
              <a:t>3. Sender Infrastructure Analysis</a:t>
            </a:r>
          </a:p>
          <a:p>
            <a:pPr>
              <a:buFont typeface="Arial" panose="020B0604020202020204" pitchFamily="34" charset="0"/>
              <a:buChar char="•"/>
            </a:pPr>
            <a:r>
              <a:rPr lang="en-GB" sz="1400" dirty="0">
                <a:solidFill>
                  <a:schemeClr val="bg1"/>
                </a:solidFill>
              </a:rPr>
              <a:t>Detects repeated use of suspicious sender addresses or domains. </a:t>
            </a:r>
          </a:p>
          <a:p>
            <a:pPr>
              <a:buFont typeface="Arial" panose="020B0604020202020204" pitchFamily="34" charset="0"/>
              <a:buChar char="•"/>
            </a:pPr>
            <a:r>
              <a:rPr lang="en-GB" sz="1400" dirty="0">
                <a:solidFill>
                  <a:schemeClr val="bg1"/>
                </a:solidFill>
              </a:rPr>
              <a:t>Uncovers spoofed or compromised accounts. </a:t>
            </a:r>
          </a:p>
          <a:p>
            <a:pPr>
              <a:buNone/>
            </a:pPr>
            <a:r>
              <a:rPr lang="en-GB" sz="1400" b="1" dirty="0">
                <a:solidFill>
                  <a:schemeClr val="bg1"/>
                </a:solidFill>
              </a:rPr>
              <a:t>Example:</a:t>
            </a:r>
            <a:br>
              <a:rPr lang="en-GB" sz="1400" dirty="0">
                <a:solidFill>
                  <a:schemeClr val="bg1"/>
                </a:solidFill>
              </a:rPr>
            </a:br>
            <a:r>
              <a:rPr lang="en-GB" sz="1400" dirty="0">
                <a:solidFill>
                  <a:schemeClr val="bg1"/>
                </a:solidFill>
                <a:latin typeface="Courier New" panose="02070309020205020404" pitchFamily="49" charset="0"/>
              </a:rPr>
              <a:t>security-alert@gmail.com</a:t>
            </a:r>
            <a:r>
              <a:rPr lang="en-GB" sz="1400" dirty="0">
                <a:solidFill>
                  <a:schemeClr val="bg1"/>
                </a:solidFill>
              </a:rPr>
              <a:t> appearing in multiple messages.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F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365760" y="164592"/>
            <a:ext cx="2011680" cy="219456"/>
          </a:xfrm>
          <a:prstGeom prst="rect">
            <a:avLst/>
          </a:prstGeom>
          <a:solidFill>
            <a:srgbClr val="112B47"/>
          </a:solidFill>
          <a:ln w="12700">
            <a:solidFill>
              <a:srgbClr val="00B4D8"/>
            </a:solidFill>
            <a:prstDash val="solid"/>
          </a:ln>
        </p:spPr>
      </p:sp>
      <p:sp>
        <p:nvSpPr>
          <p:cNvPr id="4" name="Text 2"/>
          <p:cNvSpPr/>
          <p:nvPr/>
        </p:nvSpPr>
        <p:spPr>
          <a:xfrm>
            <a:off x="365760" y="164592"/>
            <a:ext cx="2011680" cy="219456"/>
          </a:xfrm>
          <a:prstGeom prst="rect">
            <a:avLst/>
          </a:prstGeom>
          <a:noFill/>
          <a:ln/>
        </p:spPr>
        <p:txBody>
          <a:bodyPr wrap="square" lIns="0" tIns="0" rIns="0" bIns="0" rtlCol="0" anchor="ctr"/>
          <a:lstStyle/>
          <a:p>
            <a:pPr marL="0" indent="0" algn="ctr">
              <a:buNone/>
            </a:pPr>
            <a:r>
              <a:rPr lang="en-US" sz="800" b="1" kern="0" spc="200" dirty="0">
                <a:solidFill>
                  <a:srgbClr val="00B4D8"/>
                </a:solidFill>
                <a:latin typeface="Calibri" pitchFamily="34" charset="0"/>
                <a:ea typeface="Calibri" pitchFamily="34" charset="-122"/>
                <a:cs typeface="Calibri" pitchFamily="34" charset="-120"/>
              </a:rPr>
              <a:t>10 · CONCLUSIONS</a:t>
            </a:r>
            <a:endParaRPr lang="en-US" sz="800" dirty="0"/>
          </a:p>
        </p:txBody>
      </p:sp>
      <p:sp>
        <p:nvSpPr>
          <p:cNvPr id="5" name="Text 3"/>
          <p:cNvSpPr/>
          <p:nvPr/>
        </p:nvSpPr>
        <p:spPr>
          <a:xfrm>
            <a:off x="365760" y="502920"/>
            <a:ext cx="84124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Key Takeaways for Security Practitioners</a:t>
            </a:r>
            <a:endParaRPr lang="en-US" sz="2800" dirty="0"/>
          </a:p>
        </p:txBody>
      </p:sp>
      <p:sp>
        <p:nvSpPr>
          <p:cNvPr id="6" name="Shape 4"/>
          <p:cNvSpPr/>
          <p:nvPr/>
        </p:nvSpPr>
        <p:spPr>
          <a:xfrm>
            <a:off x="365760" y="1152144"/>
            <a:ext cx="8412480" cy="22860"/>
          </a:xfrm>
          <a:prstGeom prst="rect">
            <a:avLst/>
          </a:prstGeom>
          <a:solidFill>
            <a:srgbClr val="112B47"/>
          </a:solidFill>
          <a:ln w="12700">
            <a:solidFill>
              <a:srgbClr val="112B47"/>
            </a:solidFill>
            <a:prstDash val="solid"/>
          </a:ln>
        </p:spPr>
      </p:sp>
      <p:sp>
        <p:nvSpPr>
          <p:cNvPr id="7" name="Shape 5"/>
          <p:cNvSpPr/>
          <p:nvPr/>
        </p:nvSpPr>
        <p:spPr>
          <a:xfrm>
            <a:off x="365760" y="1152144"/>
            <a:ext cx="1463040" cy="22860"/>
          </a:xfrm>
          <a:prstGeom prst="rect">
            <a:avLst/>
          </a:prstGeom>
          <a:solidFill>
            <a:srgbClr val="00B4D8"/>
          </a:solidFill>
          <a:ln w="12700">
            <a:solidFill>
              <a:srgbClr val="00B4D8"/>
            </a:solidFill>
            <a:prstDash val="solid"/>
          </a:ln>
        </p:spPr>
      </p:sp>
      <p:sp>
        <p:nvSpPr>
          <p:cNvPr id="8" name="Shape 6"/>
          <p:cNvSpPr/>
          <p:nvPr/>
        </p:nvSpPr>
        <p:spPr>
          <a:xfrm>
            <a:off x="365760" y="1389888"/>
            <a:ext cx="4114800" cy="1682496"/>
          </a:xfrm>
          <a:prstGeom prst="rect">
            <a:avLst/>
          </a:prstGeom>
          <a:solidFill>
            <a:srgbClr val="0A1A2E"/>
          </a:solidFill>
          <a:ln w="12700">
            <a:solidFill>
              <a:srgbClr val="00B4D8"/>
            </a:solidFill>
            <a:prstDash val="solid"/>
          </a:ln>
          <a:effectLst>
            <a:outerShdw blurRad="127000" dist="50800" dir="8100000" algn="bl" rotWithShape="0">
              <a:srgbClr val="000000">
                <a:alpha val="30000"/>
              </a:srgbClr>
            </a:outerShdw>
          </a:effectLst>
        </p:spPr>
      </p:sp>
      <p:sp>
        <p:nvSpPr>
          <p:cNvPr id="9" name="Shape 7"/>
          <p:cNvSpPr/>
          <p:nvPr/>
        </p:nvSpPr>
        <p:spPr>
          <a:xfrm>
            <a:off x="365760" y="1389888"/>
            <a:ext cx="54864" cy="1682496"/>
          </a:xfrm>
          <a:prstGeom prst="rect">
            <a:avLst/>
          </a:prstGeom>
          <a:solidFill>
            <a:srgbClr val="00B4D8"/>
          </a:solidFill>
          <a:ln w="12700">
            <a:solidFill>
              <a:srgbClr val="00B4D8"/>
            </a:solidFill>
            <a:prstDash val="solid"/>
          </a:ln>
        </p:spPr>
      </p:sp>
      <p:sp>
        <p:nvSpPr>
          <p:cNvPr id="10" name="Shape 8"/>
          <p:cNvSpPr/>
          <p:nvPr/>
        </p:nvSpPr>
        <p:spPr>
          <a:xfrm>
            <a:off x="530352" y="1536192"/>
            <a:ext cx="347472" cy="237744"/>
          </a:xfrm>
          <a:prstGeom prst="rect">
            <a:avLst/>
          </a:prstGeom>
          <a:solidFill>
            <a:srgbClr val="00B4D8">
              <a:alpha val="20000"/>
            </a:srgbClr>
          </a:solidFill>
          <a:ln w="12700">
            <a:solidFill>
              <a:srgbClr val="00B4D8"/>
            </a:solidFill>
            <a:prstDash val="solid"/>
          </a:ln>
        </p:spPr>
      </p:sp>
      <p:sp>
        <p:nvSpPr>
          <p:cNvPr id="11" name="Text 9"/>
          <p:cNvSpPr/>
          <p:nvPr/>
        </p:nvSpPr>
        <p:spPr>
          <a:xfrm>
            <a:off x="530352" y="1536192"/>
            <a:ext cx="347472" cy="237744"/>
          </a:xfrm>
          <a:prstGeom prst="rect">
            <a:avLst/>
          </a:prstGeom>
          <a:noFill/>
          <a:ln/>
        </p:spPr>
        <p:txBody>
          <a:bodyPr wrap="square" lIns="0" tIns="0" rIns="0" bIns="0"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530352" y="1865376"/>
            <a:ext cx="3822192"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Rules Beat Black Boxes for Explainability</a:t>
            </a:r>
            <a:endParaRPr lang="en-US" sz="1250" dirty="0"/>
          </a:p>
        </p:txBody>
      </p:sp>
      <p:sp>
        <p:nvSpPr>
          <p:cNvPr id="13" name="Text 11"/>
          <p:cNvSpPr/>
          <p:nvPr/>
        </p:nvSpPr>
        <p:spPr>
          <a:xfrm>
            <a:off x="530352" y="2249424"/>
            <a:ext cx="3822192" cy="749808"/>
          </a:xfrm>
          <a:prstGeom prst="rect">
            <a:avLst/>
          </a:prstGeom>
          <a:noFill/>
          <a:ln/>
        </p:spPr>
        <p:txBody>
          <a:bodyPr wrap="square" rtlCol="0" anchor="t"/>
          <a:lstStyle/>
          <a:p>
            <a:pPr marL="0" indent="0">
              <a:buNone/>
            </a:pPr>
            <a:r>
              <a:rPr lang="en-US" sz="1050" dirty="0">
                <a:solidFill>
                  <a:srgbClr val="D0E4F5"/>
                </a:solidFill>
                <a:latin typeface="Calibri" pitchFamily="34" charset="0"/>
                <a:ea typeface="Calibri" pitchFamily="34" charset="-122"/>
                <a:cs typeface="Calibri" pitchFamily="34" charset="-120"/>
              </a:rPr>
              <a:t>Every PhishGuard decision maps to a named rule with a documented weight. Incident responders reconstruct exactly why an email was flagged — critical for forensic investigation and compliance reporting.</a:t>
            </a:r>
            <a:endParaRPr lang="en-US" sz="1050" dirty="0"/>
          </a:p>
        </p:txBody>
      </p:sp>
      <p:sp>
        <p:nvSpPr>
          <p:cNvPr id="14" name="Shape 12"/>
          <p:cNvSpPr/>
          <p:nvPr/>
        </p:nvSpPr>
        <p:spPr>
          <a:xfrm>
            <a:off x="365760" y="3200400"/>
            <a:ext cx="4114800" cy="1682496"/>
          </a:xfrm>
          <a:prstGeom prst="rect">
            <a:avLst/>
          </a:prstGeom>
          <a:solidFill>
            <a:srgbClr val="0A1A2E"/>
          </a:solidFill>
          <a:ln w="12700">
            <a:solidFill>
              <a:srgbClr val="F4A261"/>
            </a:solidFill>
            <a:prstDash val="solid"/>
          </a:ln>
          <a:effectLst>
            <a:outerShdw blurRad="127000" dist="50800" dir="8100000" algn="bl" rotWithShape="0">
              <a:srgbClr val="000000">
                <a:alpha val="30000"/>
              </a:srgbClr>
            </a:outerShdw>
          </a:effectLst>
        </p:spPr>
      </p:sp>
      <p:sp>
        <p:nvSpPr>
          <p:cNvPr id="15" name="Shape 13"/>
          <p:cNvSpPr/>
          <p:nvPr/>
        </p:nvSpPr>
        <p:spPr>
          <a:xfrm>
            <a:off x="365760" y="3200400"/>
            <a:ext cx="54864" cy="1682496"/>
          </a:xfrm>
          <a:prstGeom prst="rect">
            <a:avLst/>
          </a:prstGeom>
          <a:solidFill>
            <a:srgbClr val="F4A261"/>
          </a:solidFill>
          <a:ln w="12700">
            <a:solidFill>
              <a:srgbClr val="F4A261"/>
            </a:solidFill>
            <a:prstDash val="solid"/>
          </a:ln>
        </p:spPr>
      </p:sp>
      <p:sp>
        <p:nvSpPr>
          <p:cNvPr id="16" name="Shape 14"/>
          <p:cNvSpPr/>
          <p:nvPr/>
        </p:nvSpPr>
        <p:spPr>
          <a:xfrm>
            <a:off x="530352" y="3346704"/>
            <a:ext cx="347472" cy="237744"/>
          </a:xfrm>
          <a:prstGeom prst="rect">
            <a:avLst/>
          </a:prstGeom>
          <a:solidFill>
            <a:srgbClr val="F4A261">
              <a:alpha val="20000"/>
            </a:srgbClr>
          </a:solidFill>
          <a:ln w="12700">
            <a:solidFill>
              <a:srgbClr val="F4A261"/>
            </a:solidFill>
            <a:prstDash val="solid"/>
          </a:ln>
        </p:spPr>
      </p:sp>
      <p:sp>
        <p:nvSpPr>
          <p:cNvPr id="17" name="Text 15"/>
          <p:cNvSpPr/>
          <p:nvPr/>
        </p:nvSpPr>
        <p:spPr>
          <a:xfrm>
            <a:off x="530352" y="3346704"/>
            <a:ext cx="347472" cy="237744"/>
          </a:xfrm>
          <a:prstGeom prst="rect">
            <a:avLst/>
          </a:prstGeom>
          <a:noFill/>
          <a:ln/>
        </p:spPr>
        <p:txBody>
          <a:bodyPr wrap="square" lIns="0" tIns="0" rIns="0" bIns="0"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02</a:t>
            </a:r>
            <a:endParaRPr lang="en-US" sz="1000" dirty="0"/>
          </a:p>
        </p:txBody>
      </p:sp>
      <p:sp>
        <p:nvSpPr>
          <p:cNvPr id="18" name="Text 16"/>
          <p:cNvSpPr/>
          <p:nvPr/>
        </p:nvSpPr>
        <p:spPr>
          <a:xfrm>
            <a:off x="530352" y="3675888"/>
            <a:ext cx="3822192"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Authentication Is the Fastest First Filter</a:t>
            </a:r>
            <a:endParaRPr lang="en-US" sz="1250" dirty="0"/>
          </a:p>
        </p:txBody>
      </p:sp>
      <p:sp>
        <p:nvSpPr>
          <p:cNvPr id="19" name="Text 17"/>
          <p:cNvSpPr/>
          <p:nvPr/>
        </p:nvSpPr>
        <p:spPr>
          <a:xfrm>
            <a:off x="530352" y="4059936"/>
            <a:ext cx="3822192" cy="749808"/>
          </a:xfrm>
          <a:prstGeom prst="rect">
            <a:avLst/>
          </a:prstGeom>
          <a:noFill/>
          <a:ln/>
        </p:spPr>
        <p:txBody>
          <a:bodyPr wrap="square" rtlCol="0" anchor="t"/>
          <a:lstStyle/>
          <a:p>
            <a:pPr marL="0" indent="0">
              <a:buNone/>
            </a:pPr>
            <a:r>
              <a:rPr lang="en-US" sz="1050" dirty="0">
                <a:solidFill>
                  <a:srgbClr val="D0E4F5"/>
                </a:solidFill>
                <a:latin typeface="Calibri" pitchFamily="34" charset="0"/>
                <a:ea typeface="Calibri" pitchFamily="34" charset="-122"/>
                <a:cs typeface="Calibri" pitchFamily="34" charset="-120"/>
              </a:rPr>
              <a:t>94% of phishing emails fail SPF or DKIM. Checking the Authentication-Results header costs zero compute and immediately eliminates most spoofed senders before any content analysis runs.</a:t>
            </a:r>
            <a:endParaRPr lang="en-US" sz="1050" dirty="0"/>
          </a:p>
        </p:txBody>
      </p:sp>
      <p:sp>
        <p:nvSpPr>
          <p:cNvPr id="20" name="Shape 18"/>
          <p:cNvSpPr/>
          <p:nvPr/>
        </p:nvSpPr>
        <p:spPr>
          <a:xfrm>
            <a:off x="4663440" y="1389888"/>
            <a:ext cx="4114800" cy="1682496"/>
          </a:xfrm>
          <a:prstGeom prst="rect">
            <a:avLst/>
          </a:prstGeom>
          <a:solidFill>
            <a:srgbClr val="0A1A2E"/>
          </a:solidFill>
          <a:ln w="12700">
            <a:solidFill>
              <a:srgbClr val="2DC653"/>
            </a:solidFill>
            <a:prstDash val="solid"/>
          </a:ln>
          <a:effectLst>
            <a:outerShdw blurRad="127000" dist="50800" dir="8100000" algn="bl" rotWithShape="0">
              <a:srgbClr val="000000">
                <a:alpha val="30000"/>
              </a:srgbClr>
            </a:outerShdw>
          </a:effectLst>
        </p:spPr>
      </p:sp>
      <p:sp>
        <p:nvSpPr>
          <p:cNvPr id="21" name="Shape 19"/>
          <p:cNvSpPr/>
          <p:nvPr/>
        </p:nvSpPr>
        <p:spPr>
          <a:xfrm>
            <a:off x="4663440" y="1389888"/>
            <a:ext cx="54864" cy="1682496"/>
          </a:xfrm>
          <a:prstGeom prst="rect">
            <a:avLst/>
          </a:prstGeom>
          <a:solidFill>
            <a:srgbClr val="2DC653"/>
          </a:solidFill>
          <a:ln w="12700">
            <a:solidFill>
              <a:srgbClr val="2DC653"/>
            </a:solidFill>
            <a:prstDash val="solid"/>
          </a:ln>
        </p:spPr>
      </p:sp>
      <p:sp>
        <p:nvSpPr>
          <p:cNvPr id="22" name="Shape 20"/>
          <p:cNvSpPr/>
          <p:nvPr/>
        </p:nvSpPr>
        <p:spPr>
          <a:xfrm>
            <a:off x="4828032" y="1536192"/>
            <a:ext cx="347472" cy="237744"/>
          </a:xfrm>
          <a:prstGeom prst="rect">
            <a:avLst/>
          </a:prstGeom>
          <a:solidFill>
            <a:srgbClr val="2DC653">
              <a:alpha val="20000"/>
            </a:srgbClr>
          </a:solidFill>
          <a:ln w="12700">
            <a:solidFill>
              <a:srgbClr val="2DC653"/>
            </a:solidFill>
            <a:prstDash val="solid"/>
          </a:ln>
        </p:spPr>
      </p:sp>
      <p:sp>
        <p:nvSpPr>
          <p:cNvPr id="23" name="Text 21"/>
          <p:cNvSpPr/>
          <p:nvPr/>
        </p:nvSpPr>
        <p:spPr>
          <a:xfrm>
            <a:off x="4828032" y="1536192"/>
            <a:ext cx="347472" cy="237744"/>
          </a:xfrm>
          <a:prstGeom prst="rect">
            <a:avLst/>
          </a:prstGeom>
          <a:noFill/>
          <a:ln/>
        </p:spPr>
        <p:txBody>
          <a:bodyPr wrap="square" lIns="0" tIns="0" rIns="0" bIns="0" rtlCol="0" anchor="ctr"/>
          <a:lstStyle/>
          <a:p>
            <a:pPr marL="0" indent="0" algn="ctr">
              <a:buNone/>
            </a:pPr>
            <a:r>
              <a:rPr lang="en-US" sz="1000" b="1" dirty="0">
                <a:solidFill>
                  <a:srgbClr val="2DC653"/>
                </a:solidFill>
                <a:latin typeface="Calibri" pitchFamily="34" charset="0"/>
                <a:ea typeface="Calibri" pitchFamily="34" charset="-122"/>
                <a:cs typeface="Calibri" pitchFamily="34" charset="-120"/>
              </a:rPr>
              <a:t>03</a:t>
            </a:r>
            <a:endParaRPr lang="en-US" sz="1000" dirty="0"/>
          </a:p>
        </p:txBody>
      </p:sp>
      <p:sp>
        <p:nvSpPr>
          <p:cNvPr id="24" name="Text 22"/>
          <p:cNvSpPr/>
          <p:nvPr/>
        </p:nvSpPr>
        <p:spPr>
          <a:xfrm>
            <a:off x="4828032" y="1865376"/>
            <a:ext cx="3822192"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DLP Must Be Pre-Transmission, Not Post</a:t>
            </a:r>
            <a:endParaRPr lang="en-US" sz="1250" dirty="0"/>
          </a:p>
        </p:txBody>
      </p:sp>
      <p:sp>
        <p:nvSpPr>
          <p:cNvPr id="25" name="Text 23"/>
          <p:cNvSpPr/>
          <p:nvPr/>
        </p:nvSpPr>
        <p:spPr>
          <a:xfrm>
            <a:off x="4828032" y="2249424"/>
            <a:ext cx="3822192" cy="749808"/>
          </a:xfrm>
          <a:prstGeom prst="rect">
            <a:avLst/>
          </a:prstGeom>
          <a:noFill/>
          <a:ln/>
        </p:spPr>
        <p:txBody>
          <a:bodyPr wrap="square" rtlCol="0" anchor="t"/>
          <a:lstStyle/>
          <a:p>
            <a:pPr marL="0" indent="0">
              <a:buNone/>
            </a:pPr>
            <a:r>
              <a:rPr lang="en-US" sz="1050" dirty="0">
                <a:solidFill>
                  <a:srgbClr val="D0E4F5"/>
                </a:solidFill>
                <a:latin typeface="Calibri" pitchFamily="34" charset="0"/>
                <a:ea typeface="Calibri" pitchFamily="34" charset="-122"/>
                <a:cs typeface="Calibri" pitchFamily="34" charset="-120"/>
              </a:rPr>
              <a:t>Post-transmission DLP is reactive — the data has already left. PhishGuard intercepts outgoing drafts before sending, enforcing PCI-DSS, DPDP Act 2023, and UIDAI obligations at the perimeter.</a:t>
            </a:r>
            <a:endParaRPr lang="en-US" sz="1050" dirty="0"/>
          </a:p>
        </p:txBody>
      </p:sp>
      <p:sp>
        <p:nvSpPr>
          <p:cNvPr id="26" name="Shape 24"/>
          <p:cNvSpPr/>
          <p:nvPr/>
        </p:nvSpPr>
        <p:spPr>
          <a:xfrm>
            <a:off x="4663440" y="3200400"/>
            <a:ext cx="4114800" cy="1682496"/>
          </a:xfrm>
          <a:prstGeom prst="rect">
            <a:avLst/>
          </a:prstGeom>
          <a:solidFill>
            <a:srgbClr val="0A1A2E"/>
          </a:solidFill>
          <a:ln w="12700">
            <a:solidFill>
              <a:srgbClr val="E63946"/>
            </a:solidFill>
            <a:prstDash val="solid"/>
          </a:ln>
          <a:effectLst>
            <a:outerShdw blurRad="127000" dist="50800" dir="8100000" algn="bl" rotWithShape="0">
              <a:srgbClr val="000000">
                <a:alpha val="30000"/>
              </a:srgbClr>
            </a:outerShdw>
          </a:effectLst>
        </p:spPr>
      </p:sp>
      <p:sp>
        <p:nvSpPr>
          <p:cNvPr id="27" name="Shape 25"/>
          <p:cNvSpPr/>
          <p:nvPr/>
        </p:nvSpPr>
        <p:spPr>
          <a:xfrm>
            <a:off x="4663440" y="3200400"/>
            <a:ext cx="54864" cy="1682496"/>
          </a:xfrm>
          <a:prstGeom prst="rect">
            <a:avLst/>
          </a:prstGeom>
          <a:solidFill>
            <a:srgbClr val="E63946"/>
          </a:solidFill>
          <a:ln w="12700">
            <a:solidFill>
              <a:srgbClr val="E63946"/>
            </a:solidFill>
            <a:prstDash val="solid"/>
          </a:ln>
        </p:spPr>
      </p:sp>
      <p:sp>
        <p:nvSpPr>
          <p:cNvPr id="28" name="Shape 26"/>
          <p:cNvSpPr/>
          <p:nvPr/>
        </p:nvSpPr>
        <p:spPr>
          <a:xfrm>
            <a:off x="4828032" y="3346704"/>
            <a:ext cx="347472" cy="237744"/>
          </a:xfrm>
          <a:prstGeom prst="rect">
            <a:avLst/>
          </a:prstGeom>
          <a:solidFill>
            <a:srgbClr val="E63946">
              <a:alpha val="20000"/>
            </a:srgbClr>
          </a:solidFill>
          <a:ln w="12700">
            <a:solidFill>
              <a:srgbClr val="E63946"/>
            </a:solidFill>
            <a:prstDash val="solid"/>
          </a:ln>
        </p:spPr>
      </p:sp>
      <p:sp>
        <p:nvSpPr>
          <p:cNvPr id="29" name="Text 27"/>
          <p:cNvSpPr/>
          <p:nvPr/>
        </p:nvSpPr>
        <p:spPr>
          <a:xfrm>
            <a:off x="4828032" y="3346704"/>
            <a:ext cx="347472" cy="237744"/>
          </a:xfrm>
          <a:prstGeom prst="rect">
            <a:avLst/>
          </a:prstGeom>
          <a:noFill/>
          <a:ln/>
        </p:spPr>
        <p:txBody>
          <a:bodyPr wrap="square" lIns="0" tIns="0" rIns="0" bIns="0" rtlCol="0" anchor="ctr"/>
          <a:lstStyle/>
          <a:p>
            <a:pPr marL="0" indent="0" algn="ctr">
              <a:buNone/>
            </a:pPr>
            <a:r>
              <a:rPr lang="en-US" sz="1000" b="1" dirty="0">
                <a:solidFill>
                  <a:srgbClr val="E63946"/>
                </a:solidFill>
                <a:latin typeface="Calibri" pitchFamily="34" charset="0"/>
                <a:ea typeface="Calibri" pitchFamily="34" charset="-122"/>
                <a:cs typeface="Calibri" pitchFamily="34" charset="-120"/>
              </a:rPr>
              <a:t>04</a:t>
            </a:r>
            <a:endParaRPr lang="en-US" sz="1000" dirty="0"/>
          </a:p>
        </p:txBody>
      </p:sp>
      <p:sp>
        <p:nvSpPr>
          <p:cNvPr id="30" name="Text 28"/>
          <p:cNvSpPr/>
          <p:nvPr/>
        </p:nvSpPr>
        <p:spPr>
          <a:xfrm>
            <a:off x="4828032" y="3675888"/>
            <a:ext cx="3822192"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Campaign Thinking Beats Per-Email Thinking</a:t>
            </a:r>
            <a:endParaRPr lang="en-US" sz="1250" dirty="0"/>
          </a:p>
        </p:txBody>
      </p:sp>
      <p:sp>
        <p:nvSpPr>
          <p:cNvPr id="31" name="Text 29"/>
          <p:cNvSpPr/>
          <p:nvPr/>
        </p:nvSpPr>
        <p:spPr>
          <a:xfrm>
            <a:off x="4828032" y="4059936"/>
            <a:ext cx="3822192" cy="749808"/>
          </a:xfrm>
          <a:prstGeom prst="rect">
            <a:avLst/>
          </a:prstGeom>
          <a:noFill/>
          <a:ln/>
        </p:spPr>
        <p:txBody>
          <a:bodyPr wrap="square" rtlCol="0" anchor="t"/>
          <a:lstStyle/>
          <a:p>
            <a:pPr marL="0" indent="0">
              <a:buNone/>
            </a:pPr>
            <a:r>
              <a:rPr lang="en-US" sz="1050" dirty="0">
                <a:solidFill>
                  <a:srgbClr val="D0E4F5"/>
                </a:solidFill>
                <a:latin typeface="Calibri" pitchFamily="34" charset="0"/>
                <a:ea typeface="Calibri" pitchFamily="34" charset="-122"/>
                <a:cs typeface="Calibri" pitchFamily="34" charset="-120"/>
              </a:rPr>
              <a:t>A single email scoring MEDIUM may pass. The same phishing URL in 50 emails within one hour is an unambiguous campaign. Batch Counter analysis turns individual noise into a high-confidence signal.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1738</Words>
  <Application>Microsoft Office PowerPoint</Application>
  <PresentationFormat>On-screen Show (16:9)</PresentationFormat>
  <Paragraphs>362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dc:title>
  <dc:subject>PptxGenJS Presentation</dc:subject>
  <dc:creator>PptxGenJS</dc:creator>
  <cp:lastModifiedBy>Preet Amin</cp:lastModifiedBy>
  <cp:revision>8</cp:revision>
  <dcterms:created xsi:type="dcterms:W3CDTF">2026-04-11T03:56:15Z</dcterms:created>
  <dcterms:modified xsi:type="dcterms:W3CDTF">2026-04-12T05:32:28Z</dcterms:modified>
</cp:coreProperties>
</file>